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Roboto Bold" charset="1" panose="02000000000000000000"/>
      <p:regular r:id="rId32"/>
    </p:embeddedFont>
    <p:embeddedFont>
      <p:font typeface="Garet Bold" charset="1" panose="00000000000000000000"/>
      <p:regular r:id="rId33"/>
    </p:embeddedFont>
    <p:embeddedFont>
      <p:font typeface="Garet" charset="1" panose="00000000000000000000"/>
      <p:regular r:id="rId34"/>
    </p:embeddedFont>
    <p:embeddedFont>
      <p:font typeface="Arimo Bold" charset="1" panose="020B0704020202020204"/>
      <p:regular r:id="rId35"/>
    </p:embeddedFont>
    <p:embeddedFont>
      <p:font typeface="Arimo" charset="1" panose="020B0604020202020204"/>
      <p:regular r:id="rId36"/>
    </p:embeddedFont>
    <p:embeddedFont>
      <p:font typeface="Open Sans" charset="1" panose="00000000000000000000"/>
      <p:regular r:id="rId37"/>
    </p:embeddedFont>
    <p:embeddedFont>
      <p:font typeface="Open Sans Bold" charset="1" panose="00000000000000000000"/>
      <p:regular r:id="rId38"/>
    </p:embeddedFont>
    <p:embeddedFont>
      <p:font typeface="Open Sans Ultra-Bold" charset="1" panose="00000000000000000000"/>
      <p:regular r:id="rId39"/>
    </p:embeddedFont>
    <p:embeddedFont>
      <p:font typeface="TT Hoves Bold" charset="1" panose="02000003020000060003"/>
      <p:regular r:id="rId40"/>
    </p:embeddedFont>
    <p:embeddedFont>
      <p:font typeface="Neue Machina" charset="1" panose="0000050000000000000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 Id="rId9" Target="../media/image1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2" Target="../media/image9.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 Id="rId8" Target="../media/image30.png" Type="http://schemas.openxmlformats.org/officeDocument/2006/relationships/image"/><Relationship Id="rId9" Target="../media/image3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4.png" Type="http://schemas.openxmlformats.org/officeDocument/2006/relationships/image"/><Relationship Id="rId4" Target="../media/image3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39.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4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3.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6.png" Type="http://schemas.openxmlformats.org/officeDocument/2006/relationships/image"/><Relationship Id="rId4" Target="../media/image4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48.png" Type="http://schemas.openxmlformats.org/officeDocument/2006/relationships/image"/><Relationship Id="rId4" Target="../media/image4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0.png" Type="http://schemas.openxmlformats.org/officeDocument/2006/relationships/image"/><Relationship Id="rId4" Target="../media/image51.png" Type="http://schemas.openxmlformats.org/officeDocument/2006/relationships/image"/><Relationship Id="rId5" Target="../media/image52.png" Type="http://schemas.openxmlformats.org/officeDocument/2006/relationships/image"/><Relationship Id="rId6" Target="../media/image5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5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12" Target="../media/image63.png" Type="http://schemas.openxmlformats.org/officeDocument/2006/relationships/image"/><Relationship Id="rId13" Target="../media/image64.svg" Type="http://schemas.openxmlformats.org/officeDocument/2006/relationships/image"/><Relationship Id="rId14" Target="../media/image65.png" Type="http://schemas.openxmlformats.org/officeDocument/2006/relationships/image"/><Relationship Id="rId2" Target="../media/image9.png" Type="http://schemas.openxmlformats.org/officeDocument/2006/relationships/image"/><Relationship Id="rId3" Target="../media/image25.pn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57.png" Type="http://schemas.openxmlformats.org/officeDocument/2006/relationships/image"/><Relationship Id="rId7" Target="../media/image58.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3.png" Type="http://schemas.openxmlformats.org/officeDocument/2006/relationships/image"/><Relationship Id="rId11" Target="../media/image74.svg" Type="http://schemas.openxmlformats.org/officeDocument/2006/relationships/image"/><Relationship Id="rId12" Target="../media/image75.png" Type="http://schemas.openxmlformats.org/officeDocument/2006/relationships/image"/><Relationship Id="rId13" Target="../media/image76.svg" Type="http://schemas.openxmlformats.org/officeDocument/2006/relationships/image"/><Relationship Id="rId14" Target="../media/image77.png" Type="http://schemas.openxmlformats.org/officeDocument/2006/relationships/image"/><Relationship Id="rId15" Target="../media/image78.svg" Type="http://schemas.openxmlformats.org/officeDocument/2006/relationships/image"/><Relationship Id="rId16" Target="../media/image79.png" Type="http://schemas.openxmlformats.org/officeDocument/2006/relationships/image"/><Relationship Id="rId17" Target="../media/image80.svg" Type="http://schemas.openxmlformats.org/officeDocument/2006/relationships/image"/><Relationship Id="rId18" Target="../media/image81.png" Type="http://schemas.openxmlformats.org/officeDocument/2006/relationships/image"/><Relationship Id="rId19" Target="../media/image82.svg" Type="http://schemas.openxmlformats.org/officeDocument/2006/relationships/image"/><Relationship Id="rId2" Target="../media/image9.png" Type="http://schemas.openxmlformats.org/officeDocument/2006/relationships/image"/><Relationship Id="rId20" Target="../media/image83.png" Type="http://schemas.openxmlformats.org/officeDocument/2006/relationships/image"/><Relationship Id="rId21" Target="../media/image84.svg" Type="http://schemas.openxmlformats.org/officeDocument/2006/relationships/image"/><Relationship Id="rId22" Target="../media/image85.png" Type="http://schemas.openxmlformats.org/officeDocument/2006/relationships/image"/><Relationship Id="rId23" Target="../media/image86.svg" Type="http://schemas.openxmlformats.org/officeDocument/2006/relationships/image"/><Relationship Id="rId3" Target="../media/image66.png" Type="http://schemas.openxmlformats.org/officeDocument/2006/relationships/image"/><Relationship Id="rId4" Target="../media/image67.png" Type="http://schemas.openxmlformats.org/officeDocument/2006/relationships/image"/><Relationship Id="rId5" Target="../media/image68.svg" Type="http://schemas.openxmlformats.org/officeDocument/2006/relationships/image"/><Relationship Id="rId6" Target="../media/image69.png" Type="http://schemas.openxmlformats.org/officeDocument/2006/relationships/image"/><Relationship Id="rId7" Target="../media/image70.svg" Type="http://schemas.openxmlformats.org/officeDocument/2006/relationships/image"/><Relationship Id="rId8" Target="../media/image71.png" Type="http://schemas.openxmlformats.org/officeDocument/2006/relationships/image"/><Relationship Id="rId9" Target="../media/image72.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7.png" Type="http://schemas.openxmlformats.org/officeDocument/2006/relationships/image"/><Relationship Id="rId4" Target="../media/image88.svg" Type="http://schemas.openxmlformats.org/officeDocument/2006/relationships/image"/><Relationship Id="rId5" Target="../media/image8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1161699"/>
            <a:ext cx="10414797" cy="5658706"/>
          </a:xfrm>
          <a:custGeom>
            <a:avLst/>
            <a:gdLst/>
            <a:ahLst/>
            <a:cxnLst/>
            <a:rect r="r" b="b" t="t" l="l"/>
            <a:pathLst>
              <a:path h="5658706" w="10414797">
                <a:moveTo>
                  <a:pt x="0" y="0"/>
                </a:moveTo>
                <a:lnTo>
                  <a:pt x="10414797" y="0"/>
                </a:lnTo>
                <a:lnTo>
                  <a:pt x="10414797" y="5658707"/>
                </a:lnTo>
                <a:lnTo>
                  <a:pt x="0" y="5658707"/>
                </a:lnTo>
                <a:lnTo>
                  <a:pt x="0" y="0"/>
                </a:lnTo>
                <a:close/>
              </a:path>
            </a:pathLst>
          </a:custGeom>
          <a:blipFill>
            <a:blip r:embed="rId2"/>
            <a:stretch>
              <a:fillRect l="0" t="0" r="0" b="0"/>
            </a:stretch>
          </a:blipFill>
        </p:spPr>
      </p:sp>
      <p:sp>
        <p:nvSpPr>
          <p:cNvPr name="Freeform 3" id="3"/>
          <p:cNvSpPr/>
          <p:nvPr/>
        </p:nvSpPr>
        <p:spPr>
          <a:xfrm flipH="false" flipV="false" rot="0">
            <a:off x="5924684" y="1165717"/>
            <a:ext cx="7995338" cy="1279561"/>
          </a:xfrm>
          <a:custGeom>
            <a:avLst/>
            <a:gdLst/>
            <a:ahLst/>
            <a:cxnLst/>
            <a:rect r="r" b="b" t="t" l="l"/>
            <a:pathLst>
              <a:path h="1279561" w="7995338">
                <a:moveTo>
                  <a:pt x="0" y="0"/>
                </a:moveTo>
                <a:lnTo>
                  <a:pt x="7995338" y="0"/>
                </a:lnTo>
                <a:lnTo>
                  <a:pt x="7995338" y="1279561"/>
                </a:lnTo>
                <a:lnTo>
                  <a:pt x="0" y="1279561"/>
                </a:lnTo>
                <a:lnTo>
                  <a:pt x="0" y="0"/>
                </a:lnTo>
                <a:close/>
              </a:path>
            </a:pathLst>
          </a:custGeom>
          <a:blipFill>
            <a:blip r:embed="rId3"/>
            <a:stretch>
              <a:fillRect l="-27313" t="-10443" r="-23310" b="-49162"/>
            </a:stretch>
          </a:blipFill>
        </p:spPr>
      </p:sp>
      <p:sp>
        <p:nvSpPr>
          <p:cNvPr name="Freeform 4" id="4"/>
          <p:cNvSpPr/>
          <p:nvPr/>
        </p:nvSpPr>
        <p:spPr>
          <a:xfrm flipH="false" flipV="false" rot="0">
            <a:off x="4164250" y="982928"/>
            <a:ext cx="1760434" cy="1679598"/>
          </a:xfrm>
          <a:custGeom>
            <a:avLst/>
            <a:gdLst/>
            <a:ahLst/>
            <a:cxnLst/>
            <a:rect r="r" b="b" t="t" l="l"/>
            <a:pathLst>
              <a:path h="1679598" w="1760434">
                <a:moveTo>
                  <a:pt x="0" y="0"/>
                </a:moveTo>
                <a:lnTo>
                  <a:pt x="1760434" y="0"/>
                </a:lnTo>
                <a:lnTo>
                  <a:pt x="1760434" y="1679599"/>
                </a:lnTo>
                <a:lnTo>
                  <a:pt x="0" y="1679599"/>
                </a:lnTo>
                <a:lnTo>
                  <a:pt x="0" y="0"/>
                </a:lnTo>
                <a:close/>
              </a:path>
            </a:pathLst>
          </a:custGeom>
          <a:blipFill>
            <a:blip r:embed="rId3"/>
            <a:stretch>
              <a:fillRect l="0" t="0" r="-462603" b="0"/>
            </a:stretch>
          </a:blipFill>
        </p:spPr>
      </p:sp>
      <p:sp>
        <p:nvSpPr>
          <p:cNvPr name="TextBox 5" id="5"/>
          <p:cNvSpPr txBox="true"/>
          <p:nvPr/>
        </p:nvSpPr>
        <p:spPr>
          <a:xfrm rot="0">
            <a:off x="0" y="4335083"/>
            <a:ext cx="18288000" cy="3073047"/>
          </a:xfrm>
          <a:prstGeom prst="rect">
            <a:avLst/>
          </a:prstGeom>
        </p:spPr>
        <p:txBody>
          <a:bodyPr anchor="t" rtlCol="false" tIns="0" lIns="0" bIns="0" rIns="0">
            <a:spAutoFit/>
          </a:bodyPr>
          <a:lstStyle/>
          <a:p>
            <a:pPr algn="ctr">
              <a:lnSpc>
                <a:spcPts val="8234"/>
              </a:lnSpc>
            </a:pPr>
            <a:r>
              <a:rPr lang="en-US" b="true" sz="5526" spc="-38">
                <a:solidFill>
                  <a:srgbClr val="0345E4"/>
                </a:solidFill>
                <a:latin typeface="Roboto Bold"/>
                <a:ea typeface="Roboto Bold"/>
                <a:cs typeface="Roboto Bold"/>
                <a:sym typeface="Roboto Bold"/>
              </a:rPr>
              <a:t>XÂY DỰNG WEBSITE HỖ TRỢ TƯ VẤN</a:t>
            </a:r>
          </a:p>
          <a:p>
            <a:pPr algn="ctr">
              <a:lnSpc>
                <a:spcPts val="8234"/>
              </a:lnSpc>
            </a:pPr>
            <a:r>
              <a:rPr lang="en-US" b="true" sz="5526">
                <a:solidFill>
                  <a:srgbClr val="0345E4"/>
                </a:solidFill>
                <a:latin typeface="Roboto Bold"/>
                <a:ea typeface="Roboto Bold"/>
                <a:cs typeface="Roboto Bold"/>
                <a:sym typeface="Roboto Bold"/>
              </a:rPr>
              <a:t> PHONG THỦY KIẾN TRÚC AN TRẠCH KẾT HỢP </a:t>
            </a:r>
          </a:p>
          <a:p>
            <a:pPr algn="ctr">
              <a:lnSpc>
                <a:spcPts val="8234"/>
              </a:lnSpc>
            </a:pPr>
            <a:r>
              <a:rPr lang="en-US" b="true" sz="5526" spc="740">
                <a:solidFill>
                  <a:srgbClr val="0345E4"/>
                </a:solidFill>
                <a:latin typeface="Roboto Bold"/>
                <a:ea typeface="Roboto Bold"/>
                <a:cs typeface="Roboto Bold"/>
                <a:sym typeface="Roboto Bold"/>
              </a:rPr>
              <a:t> </a:t>
            </a:r>
            <a:r>
              <a:rPr lang="en-US" b="true" sz="5526" spc="740">
                <a:solidFill>
                  <a:srgbClr val="0345E4"/>
                </a:solidFill>
                <a:latin typeface="Roboto Bold"/>
                <a:ea typeface="Roboto Bold"/>
                <a:cs typeface="Roboto Bold"/>
                <a:sym typeface="Roboto Bold"/>
              </a:rPr>
              <a:t>KINH DOANH PHÁP PHẨM KIM CANG THỪA </a:t>
            </a:r>
          </a:p>
        </p:txBody>
      </p:sp>
      <p:sp>
        <p:nvSpPr>
          <p:cNvPr name="Freeform 6" id="6"/>
          <p:cNvSpPr/>
          <p:nvPr/>
        </p:nvSpPr>
        <p:spPr>
          <a:xfrm flipH="false" flipV="false" rot="0">
            <a:off x="8569869" y="5586185"/>
            <a:ext cx="10286777" cy="5589149"/>
          </a:xfrm>
          <a:custGeom>
            <a:avLst/>
            <a:gdLst/>
            <a:ahLst/>
            <a:cxnLst/>
            <a:rect r="r" b="b" t="t" l="l"/>
            <a:pathLst>
              <a:path h="5589149" w="10286777">
                <a:moveTo>
                  <a:pt x="0" y="0"/>
                </a:moveTo>
                <a:lnTo>
                  <a:pt x="10286777" y="0"/>
                </a:lnTo>
                <a:lnTo>
                  <a:pt x="10286777" y="5589148"/>
                </a:lnTo>
                <a:lnTo>
                  <a:pt x="0" y="5589148"/>
                </a:lnTo>
                <a:lnTo>
                  <a:pt x="0" y="0"/>
                </a:lnTo>
                <a:close/>
              </a:path>
            </a:pathLst>
          </a:custGeom>
          <a:blipFill>
            <a:blip r:embed="rId2"/>
            <a:stretch>
              <a:fillRect l="0" t="0" r="0" b="0"/>
            </a:stretch>
          </a:blipFill>
        </p:spPr>
      </p:sp>
      <p:grpSp>
        <p:nvGrpSpPr>
          <p:cNvPr name="Group 7" id="7"/>
          <p:cNvGrpSpPr/>
          <p:nvPr/>
        </p:nvGrpSpPr>
        <p:grpSpPr>
          <a:xfrm rot="0">
            <a:off x="647156" y="9171334"/>
            <a:ext cx="636415" cy="63641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647156" y="8380759"/>
            <a:ext cx="636415" cy="63641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742821" y="9230449"/>
            <a:ext cx="445084" cy="445084"/>
          </a:xfrm>
          <a:custGeom>
            <a:avLst/>
            <a:gdLst/>
            <a:ahLst/>
            <a:cxnLst/>
            <a:rect r="r" b="b" t="t" l="l"/>
            <a:pathLst>
              <a:path h="445084" w="445084">
                <a:moveTo>
                  <a:pt x="0" y="0"/>
                </a:moveTo>
                <a:lnTo>
                  <a:pt x="445084" y="0"/>
                </a:lnTo>
                <a:lnTo>
                  <a:pt x="445084" y="445084"/>
                </a:lnTo>
                <a:lnTo>
                  <a:pt x="0" y="445084"/>
                </a:lnTo>
                <a:lnTo>
                  <a:pt x="0" y="0"/>
                </a:lnTo>
                <a:close/>
              </a:path>
            </a:pathLst>
          </a:custGeom>
          <a:blipFill>
            <a:blip r:embed="rId4"/>
            <a:stretch>
              <a:fillRect l="0" t="0" r="0" b="0"/>
            </a:stretch>
          </a:blipFill>
        </p:spPr>
      </p:sp>
      <p:sp>
        <p:nvSpPr>
          <p:cNvPr name="Freeform 14" id="14"/>
          <p:cNvSpPr/>
          <p:nvPr/>
        </p:nvSpPr>
        <p:spPr>
          <a:xfrm flipH="false" flipV="false" rot="0">
            <a:off x="667899" y="8453643"/>
            <a:ext cx="520006" cy="490646"/>
          </a:xfrm>
          <a:custGeom>
            <a:avLst/>
            <a:gdLst/>
            <a:ahLst/>
            <a:cxnLst/>
            <a:rect r="r" b="b" t="t" l="l"/>
            <a:pathLst>
              <a:path h="490646" w="520006">
                <a:moveTo>
                  <a:pt x="0" y="0"/>
                </a:moveTo>
                <a:lnTo>
                  <a:pt x="520006" y="0"/>
                </a:lnTo>
                <a:lnTo>
                  <a:pt x="520006" y="490647"/>
                </a:lnTo>
                <a:lnTo>
                  <a:pt x="0" y="490647"/>
                </a:lnTo>
                <a:lnTo>
                  <a:pt x="0" y="0"/>
                </a:lnTo>
                <a:close/>
              </a:path>
            </a:pathLst>
          </a:custGeom>
          <a:blipFill>
            <a:blip r:embed="rId5"/>
            <a:stretch>
              <a:fillRect l="-13692" t="-16952" r="-13172" b="-17504"/>
            </a:stretch>
          </a:blipFill>
        </p:spPr>
      </p:sp>
      <p:sp>
        <p:nvSpPr>
          <p:cNvPr name="TextBox 15" id="15"/>
          <p:cNvSpPr txBox="true"/>
          <p:nvPr/>
        </p:nvSpPr>
        <p:spPr>
          <a:xfrm rot="0">
            <a:off x="1908435" y="3101910"/>
            <a:ext cx="14471130" cy="1052197"/>
          </a:xfrm>
          <a:prstGeom prst="rect">
            <a:avLst/>
          </a:prstGeom>
        </p:spPr>
        <p:txBody>
          <a:bodyPr anchor="t" rtlCol="false" tIns="0" lIns="0" bIns="0" rIns="0">
            <a:spAutoFit/>
          </a:bodyPr>
          <a:lstStyle/>
          <a:p>
            <a:pPr algn="l">
              <a:lnSpc>
                <a:spcPts val="8679"/>
              </a:lnSpc>
            </a:pPr>
            <a:r>
              <a:rPr lang="en-US" b="true" sz="6199" spc="216">
                <a:solidFill>
                  <a:srgbClr val="FF0000"/>
                </a:solidFill>
                <a:latin typeface="Garet Bold"/>
                <a:ea typeface="Garet Bold"/>
                <a:cs typeface="Garet Bold"/>
                <a:sym typeface="Garet Bold"/>
              </a:rPr>
              <a:t>BÁO CÁO ĐỒ ÁN CHUYÊN NGÀNH</a:t>
            </a:r>
          </a:p>
        </p:txBody>
      </p:sp>
      <p:sp>
        <p:nvSpPr>
          <p:cNvPr name="TextBox 16" id="16"/>
          <p:cNvSpPr txBox="true"/>
          <p:nvPr/>
        </p:nvSpPr>
        <p:spPr>
          <a:xfrm rot="0">
            <a:off x="1519014" y="9219374"/>
            <a:ext cx="8267371" cy="492709"/>
          </a:xfrm>
          <a:prstGeom prst="rect">
            <a:avLst/>
          </a:prstGeom>
        </p:spPr>
        <p:txBody>
          <a:bodyPr anchor="t" rtlCol="false" tIns="0" lIns="0" bIns="0" rIns="0">
            <a:spAutoFit/>
          </a:bodyPr>
          <a:lstStyle/>
          <a:p>
            <a:pPr algn="l">
              <a:lnSpc>
                <a:spcPts val="4195"/>
              </a:lnSpc>
            </a:pPr>
            <a:r>
              <a:rPr lang="en-US" sz="2996">
                <a:solidFill>
                  <a:srgbClr val="000000"/>
                </a:solidFill>
                <a:latin typeface="Garet"/>
                <a:ea typeface="Garet"/>
                <a:cs typeface="Garet"/>
                <a:sym typeface="Garet"/>
              </a:rPr>
              <a:t>Sinh viên thực hiện: Trần Trung Phúc</a:t>
            </a:r>
          </a:p>
        </p:txBody>
      </p:sp>
      <p:sp>
        <p:nvSpPr>
          <p:cNvPr name="TextBox 17" id="17"/>
          <p:cNvSpPr txBox="true"/>
          <p:nvPr/>
        </p:nvSpPr>
        <p:spPr>
          <a:xfrm rot="0">
            <a:off x="1519014" y="8428799"/>
            <a:ext cx="10696849" cy="492709"/>
          </a:xfrm>
          <a:prstGeom prst="rect">
            <a:avLst/>
          </a:prstGeom>
        </p:spPr>
        <p:txBody>
          <a:bodyPr anchor="t" rtlCol="false" tIns="0" lIns="0" bIns="0" rIns="0">
            <a:spAutoFit/>
          </a:bodyPr>
          <a:lstStyle/>
          <a:p>
            <a:pPr algn="l">
              <a:lnSpc>
                <a:spcPts val="4195"/>
              </a:lnSpc>
            </a:pPr>
            <a:r>
              <a:rPr lang="en-US" sz="2996">
                <a:solidFill>
                  <a:srgbClr val="000000"/>
                </a:solidFill>
                <a:latin typeface="Garet"/>
                <a:ea typeface="Garet"/>
                <a:cs typeface="Garet"/>
                <a:sym typeface="Garet"/>
              </a:rPr>
              <a:t>Giảng viên hướng dẫn: Th.S Nguyễn Hoàng Duy Thiện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96649" y="9248775"/>
            <a:ext cx="16891302" cy="19050"/>
            <a:chOff x="0" y="0"/>
            <a:chExt cx="22521736" cy="25400"/>
          </a:xfrm>
        </p:grpSpPr>
        <p:sp>
          <p:nvSpPr>
            <p:cNvPr name="Freeform 3" id="3"/>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4" id="4"/>
          <p:cNvGrpSpPr/>
          <p:nvPr/>
        </p:nvGrpSpPr>
        <p:grpSpPr>
          <a:xfrm rot="0">
            <a:off x="0" y="342304"/>
            <a:ext cx="3963019" cy="977204"/>
            <a:chOff x="0" y="0"/>
            <a:chExt cx="3296284" cy="812800"/>
          </a:xfrm>
        </p:grpSpPr>
        <p:sp>
          <p:nvSpPr>
            <p:cNvPr name="Freeform 5" id="5"/>
            <p:cNvSpPr/>
            <p:nvPr/>
          </p:nvSpPr>
          <p:spPr>
            <a:xfrm flipH="false" flipV="false" rot="0">
              <a:off x="0" y="0"/>
              <a:ext cx="3296284" cy="812800"/>
            </a:xfrm>
            <a:custGeom>
              <a:avLst/>
              <a:gdLst/>
              <a:ahLst/>
              <a:cxnLst/>
              <a:rect r="r" b="b" t="t" l="l"/>
              <a:pathLst>
                <a:path h="812800" w="3296284">
                  <a:moveTo>
                    <a:pt x="0" y="0"/>
                  </a:moveTo>
                  <a:lnTo>
                    <a:pt x="3296284" y="0"/>
                  </a:lnTo>
                  <a:lnTo>
                    <a:pt x="3296284" y="812800"/>
                  </a:lnTo>
                  <a:lnTo>
                    <a:pt x="0" y="812800"/>
                  </a:lnTo>
                  <a:close/>
                </a:path>
              </a:pathLst>
            </a:custGeom>
            <a:solidFill>
              <a:srgbClr val="0345E4"/>
            </a:solidFill>
          </p:spPr>
        </p:sp>
        <p:sp>
          <p:nvSpPr>
            <p:cNvPr name="TextBox 6" id="6"/>
            <p:cNvSpPr txBox="true"/>
            <p:nvPr/>
          </p:nvSpPr>
          <p:spPr>
            <a:xfrm>
              <a:off x="0" y="-38100"/>
              <a:ext cx="3296284" cy="850900"/>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445937"/>
            <a:ext cx="4933253" cy="1483870"/>
            <a:chOff x="0" y="0"/>
            <a:chExt cx="4103287" cy="1234225"/>
          </a:xfrm>
        </p:grpSpPr>
        <p:sp>
          <p:nvSpPr>
            <p:cNvPr name="Freeform 8" id="8"/>
            <p:cNvSpPr/>
            <p:nvPr/>
          </p:nvSpPr>
          <p:spPr>
            <a:xfrm flipH="false" flipV="false" rot="0">
              <a:off x="0" y="0"/>
              <a:ext cx="4103287" cy="1234225"/>
            </a:xfrm>
            <a:custGeom>
              <a:avLst/>
              <a:gdLst/>
              <a:ahLst/>
              <a:cxnLst/>
              <a:rect r="r" b="b" t="t" l="l"/>
              <a:pathLst>
                <a:path h="1234225" w="4103287">
                  <a:moveTo>
                    <a:pt x="0" y="0"/>
                  </a:moveTo>
                  <a:lnTo>
                    <a:pt x="4103287" y="0"/>
                  </a:lnTo>
                  <a:lnTo>
                    <a:pt x="4103287" y="1234225"/>
                  </a:lnTo>
                  <a:lnTo>
                    <a:pt x="0" y="1234225"/>
                  </a:lnTo>
                  <a:close/>
                </a:path>
              </a:pathLst>
            </a:custGeom>
            <a:solidFill>
              <a:srgbClr val="0345E4"/>
            </a:solidFill>
          </p:spPr>
        </p:sp>
        <p:sp>
          <p:nvSpPr>
            <p:cNvPr name="TextBox 9" id="9"/>
            <p:cNvSpPr txBox="true"/>
            <p:nvPr/>
          </p:nvSpPr>
          <p:spPr>
            <a:xfrm>
              <a:off x="0" y="-38100"/>
              <a:ext cx="4103287" cy="12723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707643" y="0"/>
            <a:ext cx="1284683" cy="8978996"/>
            <a:chOff x="0" y="0"/>
            <a:chExt cx="337672" cy="2360078"/>
          </a:xfrm>
        </p:grpSpPr>
        <p:sp>
          <p:nvSpPr>
            <p:cNvPr name="Freeform 11" id="11"/>
            <p:cNvSpPr/>
            <p:nvPr/>
          </p:nvSpPr>
          <p:spPr>
            <a:xfrm flipH="false" flipV="false" rot="0">
              <a:off x="0" y="0"/>
              <a:ext cx="337672" cy="2360078"/>
            </a:xfrm>
            <a:custGeom>
              <a:avLst/>
              <a:gdLst/>
              <a:ahLst/>
              <a:cxnLst/>
              <a:rect r="r" b="b" t="t" l="l"/>
              <a:pathLst>
                <a:path h="2360078" w="337672">
                  <a:moveTo>
                    <a:pt x="168836" y="0"/>
                  </a:moveTo>
                  <a:lnTo>
                    <a:pt x="168836" y="0"/>
                  </a:lnTo>
                  <a:cubicBezTo>
                    <a:pt x="213614" y="0"/>
                    <a:pt x="256558" y="17788"/>
                    <a:pt x="288221" y="49451"/>
                  </a:cubicBezTo>
                  <a:cubicBezTo>
                    <a:pt x="319884" y="81114"/>
                    <a:pt x="337672" y="124058"/>
                    <a:pt x="337672" y="168836"/>
                  </a:cubicBezTo>
                  <a:lnTo>
                    <a:pt x="337672" y="2191242"/>
                  </a:lnTo>
                  <a:cubicBezTo>
                    <a:pt x="337672" y="2236020"/>
                    <a:pt x="319884" y="2278964"/>
                    <a:pt x="288221" y="2310627"/>
                  </a:cubicBezTo>
                  <a:cubicBezTo>
                    <a:pt x="256558" y="2342290"/>
                    <a:pt x="213614" y="2360078"/>
                    <a:pt x="168836" y="2360078"/>
                  </a:cubicBezTo>
                  <a:lnTo>
                    <a:pt x="168836" y="2360078"/>
                  </a:lnTo>
                  <a:cubicBezTo>
                    <a:pt x="124058" y="2360078"/>
                    <a:pt x="81114" y="2342290"/>
                    <a:pt x="49451" y="2310627"/>
                  </a:cubicBezTo>
                  <a:cubicBezTo>
                    <a:pt x="17788" y="2278964"/>
                    <a:pt x="0" y="2236020"/>
                    <a:pt x="0" y="2191242"/>
                  </a:cubicBezTo>
                  <a:lnTo>
                    <a:pt x="0" y="168836"/>
                  </a:lnTo>
                  <a:cubicBezTo>
                    <a:pt x="0" y="124058"/>
                    <a:pt x="17788" y="81114"/>
                    <a:pt x="49451" y="49451"/>
                  </a:cubicBezTo>
                  <a:cubicBezTo>
                    <a:pt x="81114" y="17788"/>
                    <a:pt x="124058" y="0"/>
                    <a:pt x="168836" y="0"/>
                  </a:cubicBezTo>
                  <a:close/>
                </a:path>
              </a:pathLst>
            </a:custGeom>
            <a:solidFill>
              <a:srgbClr val="0345E4"/>
            </a:solidFill>
          </p:spPr>
        </p:sp>
        <p:sp>
          <p:nvSpPr>
            <p:cNvPr name="TextBox 12" id="12"/>
            <p:cNvSpPr txBox="true"/>
            <p:nvPr/>
          </p:nvSpPr>
          <p:spPr>
            <a:xfrm>
              <a:off x="0" y="-38100"/>
              <a:ext cx="337672" cy="2398178"/>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673959" y="1724093"/>
            <a:ext cx="971364" cy="971364"/>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5" id="15"/>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01</a:t>
              </a:r>
            </a:p>
          </p:txBody>
        </p:sp>
      </p:grpSp>
      <p:grpSp>
        <p:nvGrpSpPr>
          <p:cNvPr name="Group 16" id="16"/>
          <p:cNvGrpSpPr/>
          <p:nvPr/>
        </p:nvGrpSpPr>
        <p:grpSpPr>
          <a:xfrm rot="0">
            <a:off x="6673959" y="2907421"/>
            <a:ext cx="971364" cy="97136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8" id="18"/>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02</a:t>
              </a:r>
            </a:p>
          </p:txBody>
        </p:sp>
      </p:grpSp>
      <p:grpSp>
        <p:nvGrpSpPr>
          <p:cNvPr name="Group 19" id="19"/>
          <p:cNvGrpSpPr/>
          <p:nvPr/>
        </p:nvGrpSpPr>
        <p:grpSpPr>
          <a:xfrm rot="0">
            <a:off x="6673959" y="4090749"/>
            <a:ext cx="971364" cy="9713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1" id="21"/>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03</a:t>
              </a:r>
            </a:p>
          </p:txBody>
        </p:sp>
      </p:grpSp>
      <p:grpSp>
        <p:nvGrpSpPr>
          <p:cNvPr name="Group 22" id="22"/>
          <p:cNvGrpSpPr/>
          <p:nvPr/>
        </p:nvGrpSpPr>
        <p:grpSpPr>
          <a:xfrm rot="0">
            <a:off x="6673959" y="5274077"/>
            <a:ext cx="971364" cy="97136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4" id="24"/>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04</a:t>
              </a:r>
            </a:p>
          </p:txBody>
        </p:sp>
      </p:grpSp>
      <p:grpSp>
        <p:nvGrpSpPr>
          <p:cNvPr name="Group 25" id="25"/>
          <p:cNvGrpSpPr/>
          <p:nvPr/>
        </p:nvGrpSpPr>
        <p:grpSpPr>
          <a:xfrm rot="0">
            <a:off x="6673959" y="6457405"/>
            <a:ext cx="971364" cy="971364"/>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27" id="27"/>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05</a:t>
              </a:r>
            </a:p>
          </p:txBody>
        </p:sp>
      </p:grpSp>
      <p:grpSp>
        <p:nvGrpSpPr>
          <p:cNvPr name="Group 28" id="28"/>
          <p:cNvGrpSpPr/>
          <p:nvPr/>
        </p:nvGrpSpPr>
        <p:grpSpPr>
          <a:xfrm rot="0">
            <a:off x="6673959" y="7640733"/>
            <a:ext cx="971364" cy="971364"/>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30" id="30"/>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06</a:t>
              </a:r>
            </a:p>
          </p:txBody>
        </p:sp>
      </p:grpSp>
      <p:sp>
        <p:nvSpPr>
          <p:cNvPr name="TextBox 31" id="31"/>
          <p:cNvSpPr txBox="true"/>
          <p:nvPr/>
        </p:nvSpPr>
        <p:spPr>
          <a:xfrm rot="0">
            <a:off x="17259300" y="9445470"/>
            <a:ext cx="222430"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a:t>
            </a:r>
          </a:p>
        </p:txBody>
      </p:sp>
      <p:sp>
        <p:nvSpPr>
          <p:cNvPr name="TextBox 32" id="32"/>
          <p:cNvSpPr txBox="true"/>
          <p:nvPr/>
        </p:nvSpPr>
        <p:spPr>
          <a:xfrm rot="0">
            <a:off x="696649" y="9364508"/>
            <a:ext cx="16229192" cy="619125"/>
          </a:xfrm>
          <a:prstGeom prst="rect">
            <a:avLst/>
          </a:prstGeom>
        </p:spPr>
        <p:txBody>
          <a:bodyPr anchor="t" rtlCol="false" tIns="0" lIns="0" bIns="0" rIns="0">
            <a:spAutoFit/>
          </a:bodyPr>
          <a:lstStyle/>
          <a:p>
            <a:pPr algn="l">
              <a:lnSpc>
                <a:spcPts val="2400"/>
              </a:lnSpc>
            </a:pPr>
            <a:r>
              <a:rPr lang="en-US" b="true" sz="2000" spc="54">
                <a:solidFill>
                  <a:srgbClr val="0345E4"/>
                </a:solidFill>
                <a:latin typeface="Arimo Bold"/>
                <a:ea typeface="Arimo Bold"/>
                <a:cs typeface="Arimo Bold"/>
                <a:sym typeface="Arimo Bold"/>
              </a:rPr>
              <a:t>WEBSITE HỖ TRỢ TƯ VẤN PHONG THỦY KIẾN TRÚC AN TRẠCH KẾT HỢP KINH DOANH PHÁP PHẨM KIM CANG THỪA </a:t>
            </a:r>
          </a:p>
          <a:p>
            <a:pPr algn="l">
              <a:lnSpc>
                <a:spcPts val="2400"/>
              </a:lnSpc>
            </a:pPr>
          </a:p>
        </p:txBody>
      </p:sp>
      <p:sp>
        <p:nvSpPr>
          <p:cNvPr name="TextBox 33" id="33"/>
          <p:cNvSpPr txBox="true"/>
          <p:nvPr/>
        </p:nvSpPr>
        <p:spPr>
          <a:xfrm rot="0">
            <a:off x="6673959" y="252599"/>
            <a:ext cx="8862307" cy="1036279"/>
          </a:xfrm>
          <a:prstGeom prst="rect">
            <a:avLst/>
          </a:prstGeom>
        </p:spPr>
        <p:txBody>
          <a:bodyPr anchor="t" rtlCol="false" tIns="0" lIns="0" bIns="0" rIns="0">
            <a:spAutoFit/>
          </a:bodyPr>
          <a:lstStyle/>
          <a:p>
            <a:pPr algn="ctr">
              <a:lnSpc>
                <a:spcPts val="8507"/>
              </a:lnSpc>
            </a:pPr>
            <a:r>
              <a:rPr lang="en-US" b="true" sz="6076">
                <a:solidFill>
                  <a:srgbClr val="000000"/>
                </a:solidFill>
                <a:latin typeface="Garet Bold"/>
                <a:ea typeface="Garet Bold"/>
                <a:cs typeface="Garet Bold"/>
                <a:sym typeface="Garet Bold"/>
              </a:rPr>
              <a:t>TÓM TẮT NỘI DUNG</a:t>
            </a:r>
          </a:p>
        </p:txBody>
      </p:sp>
      <p:sp>
        <p:nvSpPr>
          <p:cNvPr name="TextBox 34" id="34"/>
          <p:cNvSpPr txBox="true"/>
          <p:nvPr/>
        </p:nvSpPr>
        <p:spPr>
          <a:xfrm rot="0">
            <a:off x="7865067" y="1904987"/>
            <a:ext cx="3361531"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TỔNG QUAN</a:t>
            </a:r>
          </a:p>
        </p:txBody>
      </p:sp>
      <p:sp>
        <p:nvSpPr>
          <p:cNvPr name="TextBox 35" id="35"/>
          <p:cNvSpPr txBox="true"/>
          <p:nvPr/>
        </p:nvSpPr>
        <p:spPr>
          <a:xfrm rot="0">
            <a:off x="7865067" y="3054979"/>
            <a:ext cx="5105559"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CƠ SỞ LÝ THUYẾT</a:t>
            </a:r>
          </a:p>
        </p:txBody>
      </p:sp>
      <p:sp>
        <p:nvSpPr>
          <p:cNvPr name="TextBox 36" id="36"/>
          <p:cNvSpPr txBox="true"/>
          <p:nvPr/>
        </p:nvSpPr>
        <p:spPr>
          <a:xfrm rot="0">
            <a:off x="7865067" y="4238307"/>
            <a:ext cx="8388986"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HIỆN THỰC HÓA NGHIÊN CỨU </a:t>
            </a:r>
          </a:p>
        </p:txBody>
      </p:sp>
      <p:sp>
        <p:nvSpPr>
          <p:cNvPr name="TextBox 37" id="37"/>
          <p:cNvSpPr txBox="true"/>
          <p:nvPr/>
        </p:nvSpPr>
        <p:spPr>
          <a:xfrm rot="0">
            <a:off x="7865067" y="5419379"/>
            <a:ext cx="6038374"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KẾT QUẢ THỰC HIỆN  </a:t>
            </a:r>
          </a:p>
        </p:txBody>
      </p:sp>
      <p:sp>
        <p:nvSpPr>
          <p:cNvPr name="TextBox 38" id="38"/>
          <p:cNvSpPr txBox="true"/>
          <p:nvPr/>
        </p:nvSpPr>
        <p:spPr>
          <a:xfrm rot="0">
            <a:off x="7865067" y="6604963"/>
            <a:ext cx="9030335" cy="657197"/>
          </a:xfrm>
          <a:prstGeom prst="rect">
            <a:avLst/>
          </a:prstGeom>
        </p:spPr>
        <p:txBody>
          <a:bodyPr anchor="t" rtlCol="false" tIns="0" lIns="0" bIns="0" rIns="0">
            <a:spAutoFit/>
          </a:bodyPr>
          <a:lstStyle/>
          <a:p>
            <a:pPr algn="l">
              <a:lnSpc>
                <a:spcPts val="5039"/>
              </a:lnSpc>
            </a:pPr>
            <a:r>
              <a:rPr lang="en-US" sz="4198">
                <a:solidFill>
                  <a:srgbClr val="000000">
                    <a:alpha val="81961"/>
                  </a:srgbClr>
                </a:solidFill>
                <a:latin typeface="Arimo"/>
                <a:ea typeface="Arimo"/>
                <a:cs typeface="Arimo"/>
                <a:sym typeface="Arimo"/>
              </a:rPr>
              <a:t>KẾT LUẬN VÀ HƯỚNG PHÁT TRIỂN</a:t>
            </a:r>
          </a:p>
        </p:txBody>
      </p:sp>
      <p:sp>
        <p:nvSpPr>
          <p:cNvPr name="TextBox 39" id="39"/>
          <p:cNvSpPr txBox="true"/>
          <p:nvPr/>
        </p:nvSpPr>
        <p:spPr>
          <a:xfrm rot="0">
            <a:off x="7865067" y="7788292"/>
            <a:ext cx="6190456" cy="657197"/>
          </a:xfrm>
          <a:prstGeom prst="rect">
            <a:avLst/>
          </a:prstGeom>
        </p:spPr>
        <p:txBody>
          <a:bodyPr anchor="t" rtlCol="false" tIns="0" lIns="0" bIns="0" rIns="0">
            <a:spAutoFit/>
          </a:bodyPr>
          <a:lstStyle/>
          <a:p>
            <a:pPr algn="l">
              <a:lnSpc>
                <a:spcPts val="5039"/>
              </a:lnSpc>
            </a:pPr>
            <a:r>
              <a:rPr lang="en-US" sz="4198" spc="116">
                <a:solidFill>
                  <a:srgbClr val="000000">
                    <a:alpha val="81961"/>
                  </a:srgbClr>
                </a:solidFill>
                <a:latin typeface="Arimo"/>
                <a:ea typeface="Arimo"/>
                <a:cs typeface="Arimo"/>
                <a:sym typeface="Arimo"/>
              </a:rPr>
              <a:t>DEMO KẾT QUẢ ĐỒ ÁN</a:t>
            </a:r>
          </a:p>
        </p:txBody>
      </p:sp>
      <p:grpSp>
        <p:nvGrpSpPr>
          <p:cNvPr name="Group 40" id="40"/>
          <p:cNvGrpSpPr/>
          <p:nvPr/>
        </p:nvGrpSpPr>
        <p:grpSpPr>
          <a:xfrm rot="0">
            <a:off x="977204" y="342304"/>
            <a:ext cx="4975878" cy="8636692"/>
            <a:chOff x="0" y="0"/>
            <a:chExt cx="1310519" cy="2274684"/>
          </a:xfrm>
        </p:grpSpPr>
        <p:sp>
          <p:nvSpPr>
            <p:cNvPr name="Freeform 41" id="41"/>
            <p:cNvSpPr/>
            <p:nvPr/>
          </p:nvSpPr>
          <p:spPr>
            <a:xfrm flipH="false" flipV="false" rot="0">
              <a:off x="0" y="0"/>
              <a:ext cx="1310519" cy="2274684"/>
            </a:xfrm>
            <a:custGeom>
              <a:avLst/>
              <a:gdLst/>
              <a:ahLst/>
              <a:cxnLst/>
              <a:rect r="r" b="b" t="t" l="l"/>
              <a:pathLst>
                <a:path h="2274684" w="1310519">
                  <a:moveTo>
                    <a:pt x="155589" y="0"/>
                  </a:moveTo>
                  <a:lnTo>
                    <a:pt x="1154930" y="0"/>
                  </a:lnTo>
                  <a:cubicBezTo>
                    <a:pt x="1240860" y="0"/>
                    <a:pt x="1310519" y="69660"/>
                    <a:pt x="1310519" y="155589"/>
                  </a:cubicBezTo>
                  <a:lnTo>
                    <a:pt x="1310519" y="2119095"/>
                  </a:lnTo>
                  <a:cubicBezTo>
                    <a:pt x="1310519" y="2205025"/>
                    <a:pt x="1240860" y="2274684"/>
                    <a:pt x="1154930" y="2274684"/>
                  </a:cubicBezTo>
                  <a:lnTo>
                    <a:pt x="155589" y="2274684"/>
                  </a:lnTo>
                  <a:cubicBezTo>
                    <a:pt x="69660" y="2274684"/>
                    <a:pt x="0" y="2205025"/>
                    <a:pt x="0" y="2119095"/>
                  </a:cubicBezTo>
                  <a:lnTo>
                    <a:pt x="0" y="155589"/>
                  </a:lnTo>
                  <a:cubicBezTo>
                    <a:pt x="0" y="69660"/>
                    <a:pt x="69660" y="0"/>
                    <a:pt x="155589" y="0"/>
                  </a:cubicBezTo>
                  <a:close/>
                </a:path>
              </a:pathLst>
            </a:custGeom>
            <a:solidFill>
              <a:srgbClr val="FFFFFF"/>
            </a:solidFill>
            <a:ln w="66675" cap="rnd">
              <a:solidFill>
                <a:srgbClr val="0345E4"/>
              </a:solidFill>
              <a:prstDash val="solid"/>
              <a:round/>
            </a:ln>
          </p:spPr>
        </p:sp>
        <p:sp>
          <p:nvSpPr>
            <p:cNvPr name="TextBox 42" id="42"/>
            <p:cNvSpPr txBox="true"/>
            <p:nvPr/>
          </p:nvSpPr>
          <p:spPr>
            <a:xfrm>
              <a:off x="0" y="-38100"/>
              <a:ext cx="1310519" cy="2312784"/>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0">
            <a:off x="1778569" y="1063139"/>
            <a:ext cx="3438065" cy="7195023"/>
          </a:xfrm>
          <a:custGeom>
            <a:avLst/>
            <a:gdLst/>
            <a:ahLst/>
            <a:cxnLst/>
            <a:rect r="r" b="b" t="t" l="l"/>
            <a:pathLst>
              <a:path h="7195023" w="3438065">
                <a:moveTo>
                  <a:pt x="0" y="0"/>
                </a:moveTo>
                <a:lnTo>
                  <a:pt x="3438065" y="0"/>
                </a:lnTo>
                <a:lnTo>
                  <a:pt x="3438065" y="7195023"/>
                </a:lnTo>
                <a:lnTo>
                  <a:pt x="0" y="7195023"/>
                </a:lnTo>
                <a:lnTo>
                  <a:pt x="0" y="0"/>
                </a:lnTo>
                <a:close/>
              </a:path>
            </a:pathLst>
          </a:custGeom>
          <a:blipFill>
            <a:blip r:embed="rId2"/>
            <a:stretch>
              <a:fillRect l="0" t="-154" r="0" b="-154"/>
            </a:stretch>
          </a:blipFill>
        </p:spPr>
      </p:sp>
      <p:sp>
        <p:nvSpPr>
          <p:cNvPr name="Freeform 44" id="44"/>
          <p:cNvSpPr/>
          <p:nvPr/>
        </p:nvSpPr>
        <p:spPr>
          <a:xfrm flipH="false" flipV="false" rot="-5400000">
            <a:off x="2715445" y="2040260"/>
            <a:ext cx="1564312" cy="4642168"/>
          </a:xfrm>
          <a:custGeom>
            <a:avLst/>
            <a:gdLst/>
            <a:ahLst/>
            <a:cxnLst/>
            <a:rect r="r" b="b" t="t" l="l"/>
            <a:pathLst>
              <a:path h="4642168" w="1564312">
                <a:moveTo>
                  <a:pt x="0" y="0"/>
                </a:moveTo>
                <a:lnTo>
                  <a:pt x="1564312" y="0"/>
                </a:lnTo>
                <a:lnTo>
                  <a:pt x="1564312" y="4642168"/>
                </a:lnTo>
                <a:lnTo>
                  <a:pt x="0" y="4642168"/>
                </a:lnTo>
                <a:lnTo>
                  <a:pt x="0" y="0"/>
                </a:lnTo>
                <a:close/>
              </a:path>
            </a:pathLst>
          </a:custGeom>
          <a:blipFill>
            <a:blip r:embed="rId3"/>
            <a:stretch>
              <a:fillRect l="-153510" t="0" r="-15351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515"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a:t>
            </a:r>
          </a:p>
        </p:txBody>
      </p:sp>
      <p:sp>
        <p:nvSpPr>
          <p:cNvPr name="TextBox 9" id="9"/>
          <p:cNvSpPr txBox="true"/>
          <p:nvPr/>
        </p:nvSpPr>
        <p:spPr>
          <a:xfrm rot="0">
            <a:off x="4425016" y="3960666"/>
            <a:ext cx="9434568" cy="1556385"/>
          </a:xfrm>
          <a:prstGeom prst="rect">
            <a:avLst/>
          </a:prstGeom>
        </p:spPr>
        <p:txBody>
          <a:bodyPr anchor="t" rtlCol="false" tIns="0" lIns="0" bIns="0" rIns="0">
            <a:spAutoFit/>
          </a:bodyPr>
          <a:lstStyle/>
          <a:p>
            <a:pPr algn="l">
              <a:lnSpc>
                <a:spcPts val="12869"/>
              </a:lnSpc>
            </a:pPr>
            <a:r>
              <a:rPr lang="en-US" b="true" sz="9000" spc="719">
                <a:solidFill>
                  <a:srgbClr val="0345E4"/>
                </a:solidFill>
                <a:latin typeface="Garet Bold"/>
                <a:ea typeface="Garet Bold"/>
                <a:cs typeface="Garet Bold"/>
                <a:sym typeface="Garet Bold"/>
              </a:rPr>
              <a:t>1. TỔNG QUAN</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TextBox 7" id="7"/>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515"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3</a:t>
            </a:r>
          </a:p>
        </p:txBody>
      </p:sp>
      <p:sp>
        <p:nvSpPr>
          <p:cNvPr name="TextBox 9" id="9"/>
          <p:cNvSpPr txBox="true"/>
          <p:nvPr/>
        </p:nvSpPr>
        <p:spPr>
          <a:xfrm rot="0">
            <a:off x="1028700" y="615069"/>
            <a:ext cx="6827948"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1. TỔNG QUAN</a:t>
            </a:r>
          </a:p>
        </p:txBody>
      </p:sp>
      <p:grpSp>
        <p:nvGrpSpPr>
          <p:cNvPr name="Group 10" id="10"/>
          <p:cNvGrpSpPr/>
          <p:nvPr/>
        </p:nvGrpSpPr>
        <p:grpSpPr>
          <a:xfrm rot="0">
            <a:off x="1702782" y="6675961"/>
            <a:ext cx="6802906" cy="2087972"/>
            <a:chOff x="0" y="0"/>
            <a:chExt cx="1252454" cy="384407"/>
          </a:xfrm>
        </p:grpSpPr>
        <p:sp>
          <p:nvSpPr>
            <p:cNvPr name="Freeform 11" id="11"/>
            <p:cNvSpPr/>
            <p:nvPr/>
          </p:nvSpPr>
          <p:spPr>
            <a:xfrm flipH="false" flipV="false" rot="0">
              <a:off x="0" y="0"/>
              <a:ext cx="1252453" cy="384407"/>
            </a:xfrm>
            <a:custGeom>
              <a:avLst/>
              <a:gdLst/>
              <a:ahLst/>
              <a:cxnLst/>
              <a:rect r="r" b="b" t="t" l="l"/>
              <a:pathLst>
                <a:path h="384407" w="1252453">
                  <a:moveTo>
                    <a:pt x="26175" y="0"/>
                  </a:moveTo>
                  <a:lnTo>
                    <a:pt x="1226279" y="0"/>
                  </a:lnTo>
                  <a:cubicBezTo>
                    <a:pt x="1240735" y="0"/>
                    <a:pt x="1252453" y="11719"/>
                    <a:pt x="1252453" y="26175"/>
                  </a:cubicBezTo>
                  <a:lnTo>
                    <a:pt x="1252453" y="358233"/>
                  </a:lnTo>
                  <a:cubicBezTo>
                    <a:pt x="1252453" y="365175"/>
                    <a:pt x="1249696" y="371832"/>
                    <a:pt x="1244787" y="376741"/>
                  </a:cubicBezTo>
                  <a:cubicBezTo>
                    <a:pt x="1239878" y="381650"/>
                    <a:pt x="1233221" y="384407"/>
                    <a:pt x="1226279" y="384407"/>
                  </a:cubicBezTo>
                  <a:lnTo>
                    <a:pt x="26175" y="384407"/>
                  </a:lnTo>
                  <a:cubicBezTo>
                    <a:pt x="19233" y="384407"/>
                    <a:pt x="12575" y="381650"/>
                    <a:pt x="7666" y="376741"/>
                  </a:cubicBezTo>
                  <a:cubicBezTo>
                    <a:pt x="2758" y="371832"/>
                    <a:pt x="0" y="365175"/>
                    <a:pt x="0" y="358233"/>
                  </a:cubicBezTo>
                  <a:lnTo>
                    <a:pt x="0" y="26175"/>
                  </a:lnTo>
                  <a:cubicBezTo>
                    <a:pt x="0" y="19233"/>
                    <a:pt x="2758" y="12575"/>
                    <a:pt x="7666" y="7666"/>
                  </a:cubicBezTo>
                  <a:cubicBezTo>
                    <a:pt x="12575" y="2758"/>
                    <a:pt x="19233" y="0"/>
                    <a:pt x="26175" y="0"/>
                  </a:cubicBezTo>
                  <a:close/>
                </a:path>
              </a:pathLst>
            </a:custGeom>
            <a:blipFill>
              <a:blip r:embed="rId3"/>
              <a:stretch>
                <a:fillRect l="0" t="-58536" r="0" b="-58536"/>
              </a:stretch>
            </a:blipFill>
          </p:spPr>
        </p:sp>
      </p:grpSp>
      <p:sp>
        <p:nvSpPr>
          <p:cNvPr name="TextBox 12" id="12"/>
          <p:cNvSpPr txBox="true"/>
          <p:nvPr/>
        </p:nvSpPr>
        <p:spPr>
          <a:xfrm rot="0">
            <a:off x="1424638" y="3746394"/>
            <a:ext cx="7382791" cy="2761488"/>
          </a:xfrm>
          <a:prstGeom prst="rect">
            <a:avLst/>
          </a:prstGeom>
        </p:spPr>
        <p:txBody>
          <a:bodyPr anchor="t" rtlCol="false" tIns="0" lIns="0" bIns="0" rIns="0">
            <a:spAutoFit/>
          </a:bodyPr>
          <a:lstStyle/>
          <a:p>
            <a:pPr algn="l" marL="474979" indent="-237490" lvl="1">
              <a:lnSpc>
                <a:spcPts val="3695"/>
              </a:lnSpc>
              <a:buFont typeface="Arial"/>
              <a:buChar char="•"/>
            </a:pPr>
            <a:r>
              <a:rPr lang="en-US" sz="2199" spc="37">
                <a:solidFill>
                  <a:srgbClr val="000000"/>
                </a:solidFill>
                <a:latin typeface="Open Sans"/>
                <a:ea typeface="Open Sans"/>
                <a:cs typeface="Open Sans"/>
                <a:sym typeface="Open Sans"/>
              </a:rPr>
              <a:t>Hiện nay, các nội dung kiến thức phong thủy còn phân tán, chủ yếu dựa trên tài liệu và phương thức tư vấn thường mang tính thủ công.</a:t>
            </a:r>
          </a:p>
          <a:p>
            <a:pPr algn="l" marL="474979" indent="-237490" lvl="1">
              <a:lnSpc>
                <a:spcPts val="3695"/>
              </a:lnSpc>
              <a:buFont typeface="Arial"/>
              <a:buChar char="•"/>
            </a:pPr>
            <a:r>
              <a:rPr lang="en-US" sz="2199" spc="37">
                <a:solidFill>
                  <a:srgbClr val="000000"/>
                </a:solidFill>
                <a:latin typeface="Open Sans"/>
                <a:ea typeface="Open Sans"/>
                <a:cs typeface="Open Sans"/>
                <a:sym typeface="Open Sans"/>
              </a:rPr>
              <a:t>Hoạt động tra cứu phong thủy và kinh doanh pháp phẩm chưa được tích hợp trong một hệ thống trực tuyến thống nhất.</a:t>
            </a:r>
          </a:p>
        </p:txBody>
      </p:sp>
      <p:grpSp>
        <p:nvGrpSpPr>
          <p:cNvPr name="Group 13" id="13"/>
          <p:cNvGrpSpPr/>
          <p:nvPr/>
        </p:nvGrpSpPr>
        <p:grpSpPr>
          <a:xfrm rot="0">
            <a:off x="1028700" y="1765903"/>
            <a:ext cx="5072721" cy="671580"/>
            <a:chOff x="0" y="0"/>
            <a:chExt cx="1689989" cy="223739"/>
          </a:xfrm>
        </p:grpSpPr>
        <p:sp>
          <p:nvSpPr>
            <p:cNvPr name="Freeform 14" id="14"/>
            <p:cNvSpPr/>
            <p:nvPr/>
          </p:nvSpPr>
          <p:spPr>
            <a:xfrm flipH="false" flipV="false" rot="0">
              <a:off x="0" y="0"/>
              <a:ext cx="1689989" cy="223739"/>
            </a:xfrm>
            <a:custGeom>
              <a:avLst/>
              <a:gdLst/>
              <a:ahLst/>
              <a:cxnLst/>
              <a:rect r="r" b="b" t="t" l="l"/>
              <a:pathLst>
                <a:path h="223739" w="1689989">
                  <a:moveTo>
                    <a:pt x="73257" y="0"/>
                  </a:moveTo>
                  <a:lnTo>
                    <a:pt x="1616733" y="0"/>
                  </a:lnTo>
                  <a:cubicBezTo>
                    <a:pt x="1636162" y="0"/>
                    <a:pt x="1654795" y="7718"/>
                    <a:pt x="1668533" y="21456"/>
                  </a:cubicBezTo>
                  <a:cubicBezTo>
                    <a:pt x="1682271" y="35195"/>
                    <a:pt x="1689989" y="53828"/>
                    <a:pt x="1689989" y="73257"/>
                  </a:cubicBezTo>
                  <a:lnTo>
                    <a:pt x="1689989" y="150482"/>
                  </a:lnTo>
                  <a:cubicBezTo>
                    <a:pt x="1689989" y="169911"/>
                    <a:pt x="1682271" y="188544"/>
                    <a:pt x="1668533" y="202282"/>
                  </a:cubicBezTo>
                  <a:cubicBezTo>
                    <a:pt x="1654795" y="216021"/>
                    <a:pt x="1636162" y="223739"/>
                    <a:pt x="1616733" y="223739"/>
                  </a:cubicBezTo>
                  <a:lnTo>
                    <a:pt x="73257" y="223739"/>
                  </a:lnTo>
                  <a:cubicBezTo>
                    <a:pt x="53828" y="223739"/>
                    <a:pt x="35195" y="216021"/>
                    <a:pt x="21456" y="202282"/>
                  </a:cubicBezTo>
                  <a:cubicBezTo>
                    <a:pt x="7718" y="188544"/>
                    <a:pt x="0" y="169911"/>
                    <a:pt x="0" y="150482"/>
                  </a:cubicBezTo>
                  <a:lnTo>
                    <a:pt x="0" y="73257"/>
                  </a:lnTo>
                  <a:cubicBezTo>
                    <a:pt x="0" y="53828"/>
                    <a:pt x="7718" y="35195"/>
                    <a:pt x="21456" y="21456"/>
                  </a:cubicBezTo>
                  <a:cubicBezTo>
                    <a:pt x="35195" y="7718"/>
                    <a:pt x="53828" y="0"/>
                    <a:pt x="73257" y="0"/>
                  </a:cubicBezTo>
                  <a:close/>
                </a:path>
              </a:pathLst>
            </a:custGeom>
            <a:solidFill>
              <a:srgbClr val="0345E4"/>
            </a:solidFill>
          </p:spPr>
        </p:sp>
        <p:sp>
          <p:nvSpPr>
            <p:cNvPr name="TextBox 15" id="15"/>
            <p:cNvSpPr txBox="true"/>
            <p:nvPr/>
          </p:nvSpPr>
          <p:spPr>
            <a:xfrm>
              <a:off x="0" y="-38100"/>
              <a:ext cx="1689989" cy="261839"/>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155747" y="1820106"/>
            <a:ext cx="5023097" cy="506025"/>
          </a:xfrm>
          <a:prstGeom prst="rect">
            <a:avLst/>
          </a:prstGeom>
        </p:spPr>
        <p:txBody>
          <a:bodyPr anchor="t" rtlCol="false" tIns="0" lIns="0" bIns="0" rIns="0">
            <a:spAutoFit/>
          </a:bodyPr>
          <a:lstStyle/>
          <a:p>
            <a:pPr algn="ctr">
              <a:lnSpc>
                <a:spcPts val="4133"/>
              </a:lnSpc>
            </a:pPr>
            <a:r>
              <a:rPr lang="en-US" b="true" sz="2952" spc="59">
                <a:solidFill>
                  <a:srgbClr val="FFFFFF"/>
                </a:solidFill>
                <a:latin typeface="Garet Bold"/>
                <a:ea typeface="Garet Bold"/>
                <a:cs typeface="Garet Bold"/>
                <a:sym typeface="Garet Bold"/>
              </a:rPr>
              <a:t>Lý do chọn đề tài là gì ? </a:t>
            </a:r>
          </a:p>
        </p:txBody>
      </p:sp>
      <p:grpSp>
        <p:nvGrpSpPr>
          <p:cNvPr name="Group 17" id="17"/>
          <p:cNvGrpSpPr/>
          <p:nvPr/>
        </p:nvGrpSpPr>
        <p:grpSpPr>
          <a:xfrm rot="0">
            <a:off x="692129" y="2937685"/>
            <a:ext cx="732509" cy="7325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3219"/>
                </a:lnSpc>
              </a:pPr>
              <a:r>
                <a:rPr lang="en-US" b="true" sz="2299">
                  <a:solidFill>
                    <a:srgbClr val="FFFFFF"/>
                  </a:solidFill>
                  <a:latin typeface="Garet Bold"/>
                  <a:ea typeface="Garet Bold"/>
                  <a:cs typeface="Garet Bold"/>
                  <a:sym typeface="Garet Bold"/>
                </a:rPr>
                <a:t>01</a:t>
              </a:r>
            </a:p>
          </p:txBody>
        </p:sp>
      </p:grpSp>
      <p:sp>
        <p:nvSpPr>
          <p:cNvPr name="TextBox 20" id="20"/>
          <p:cNvSpPr txBox="true"/>
          <p:nvPr/>
        </p:nvSpPr>
        <p:spPr>
          <a:xfrm rot="0">
            <a:off x="1613437" y="3068945"/>
            <a:ext cx="3800146" cy="455391"/>
          </a:xfrm>
          <a:prstGeom prst="rect">
            <a:avLst/>
          </a:prstGeom>
        </p:spPr>
        <p:txBody>
          <a:bodyPr anchor="t" rtlCol="false" tIns="0" lIns="0" bIns="0" rIns="0">
            <a:spAutoFit/>
          </a:bodyPr>
          <a:lstStyle/>
          <a:p>
            <a:pPr algn="l">
              <a:lnSpc>
                <a:spcPts val="3780"/>
              </a:lnSpc>
            </a:pPr>
            <a:r>
              <a:rPr lang="en-US" sz="2700" b="true">
                <a:solidFill>
                  <a:srgbClr val="000000"/>
                </a:solidFill>
                <a:latin typeface="Garet Bold"/>
                <a:ea typeface="Garet Bold"/>
                <a:cs typeface="Garet Bold"/>
                <a:sym typeface="Garet Bold"/>
              </a:rPr>
              <a:t>Thực trạng hiện nay</a:t>
            </a:r>
          </a:p>
        </p:txBody>
      </p:sp>
      <p:sp>
        <p:nvSpPr>
          <p:cNvPr name="AutoShape 21" id="21"/>
          <p:cNvSpPr/>
          <p:nvPr/>
        </p:nvSpPr>
        <p:spPr>
          <a:xfrm>
            <a:off x="5413584" y="3320454"/>
            <a:ext cx="3393845" cy="5664262"/>
          </a:xfrm>
          <a:prstGeom prst="line">
            <a:avLst/>
          </a:prstGeom>
          <a:ln cap="rnd" w="38100">
            <a:solidFill>
              <a:srgbClr val="E11C17"/>
            </a:solidFill>
            <a:prstDash val="solid"/>
            <a:headEnd type="oval" len="lg" w="lg"/>
            <a:tailEnd type="none" len="sm" w="sm"/>
          </a:ln>
        </p:spPr>
      </p:sp>
      <p:sp>
        <p:nvSpPr>
          <p:cNvPr name="AutoShape 22" id="22"/>
          <p:cNvSpPr/>
          <p:nvPr/>
        </p:nvSpPr>
        <p:spPr>
          <a:xfrm>
            <a:off x="1058383" y="3670194"/>
            <a:ext cx="7766190" cy="5297376"/>
          </a:xfrm>
          <a:prstGeom prst="line">
            <a:avLst/>
          </a:prstGeom>
          <a:ln cap="rnd" w="38100">
            <a:solidFill>
              <a:srgbClr val="E11C17"/>
            </a:solidFill>
            <a:prstDash val="solid"/>
            <a:headEnd type="oval" len="lg" w="lg"/>
            <a:tailEnd type="none" len="sm" w="sm"/>
          </a:ln>
        </p:spPr>
      </p:sp>
      <p:grpSp>
        <p:nvGrpSpPr>
          <p:cNvPr name="Group 23" id="23"/>
          <p:cNvGrpSpPr/>
          <p:nvPr/>
        </p:nvGrpSpPr>
        <p:grpSpPr>
          <a:xfrm rot="0">
            <a:off x="9236207" y="2937685"/>
            <a:ext cx="732509" cy="732509"/>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a:ln cap="sq">
              <a:noFill/>
              <a:prstDash val="solid"/>
              <a:miter/>
            </a:ln>
          </p:spPr>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a:lnSpc>
                  <a:spcPts val="3219"/>
                </a:lnSpc>
              </a:pPr>
              <a:r>
                <a:rPr lang="en-US" b="true" sz="2299">
                  <a:solidFill>
                    <a:srgbClr val="FFFFFF"/>
                  </a:solidFill>
                  <a:latin typeface="Garet Bold"/>
                  <a:ea typeface="Garet Bold"/>
                  <a:cs typeface="Garet Bold"/>
                  <a:sym typeface="Garet Bold"/>
                </a:rPr>
                <a:t>02</a:t>
              </a:r>
            </a:p>
          </p:txBody>
        </p:sp>
      </p:grpSp>
      <p:sp>
        <p:nvSpPr>
          <p:cNvPr name="TextBox 26" id="26"/>
          <p:cNvSpPr txBox="true"/>
          <p:nvPr/>
        </p:nvSpPr>
        <p:spPr>
          <a:xfrm rot="0">
            <a:off x="10157516" y="3068945"/>
            <a:ext cx="5004795" cy="455391"/>
          </a:xfrm>
          <a:prstGeom prst="rect">
            <a:avLst/>
          </a:prstGeom>
        </p:spPr>
        <p:txBody>
          <a:bodyPr anchor="t" rtlCol="false" tIns="0" lIns="0" bIns="0" rIns="0">
            <a:spAutoFit/>
          </a:bodyPr>
          <a:lstStyle/>
          <a:p>
            <a:pPr algn="l">
              <a:lnSpc>
                <a:spcPts val="3780"/>
              </a:lnSpc>
            </a:pPr>
            <a:r>
              <a:rPr lang="en-US" sz="2700" b="true">
                <a:solidFill>
                  <a:srgbClr val="000000"/>
                </a:solidFill>
                <a:latin typeface="Garet Bold"/>
                <a:ea typeface="Garet Bold"/>
                <a:cs typeface="Garet Bold"/>
                <a:sym typeface="Garet Bold"/>
              </a:rPr>
              <a:t>Một nghiên cứu ngẫu nhiên </a:t>
            </a:r>
          </a:p>
        </p:txBody>
      </p:sp>
      <p:sp>
        <p:nvSpPr>
          <p:cNvPr name="AutoShape 27" id="27"/>
          <p:cNvSpPr/>
          <p:nvPr/>
        </p:nvSpPr>
        <p:spPr>
          <a:xfrm>
            <a:off x="15162311" y="3320454"/>
            <a:ext cx="2189196" cy="5664262"/>
          </a:xfrm>
          <a:prstGeom prst="line">
            <a:avLst/>
          </a:prstGeom>
          <a:ln cap="rnd" w="38100">
            <a:solidFill>
              <a:srgbClr val="E11C17"/>
            </a:solidFill>
            <a:prstDash val="solid"/>
            <a:headEnd type="oval" len="lg" w="lg"/>
            <a:tailEnd type="none" len="sm" w="sm"/>
          </a:ln>
        </p:spPr>
      </p:sp>
      <p:sp>
        <p:nvSpPr>
          <p:cNvPr name="AutoShape 28" id="28"/>
          <p:cNvSpPr/>
          <p:nvPr/>
        </p:nvSpPr>
        <p:spPr>
          <a:xfrm>
            <a:off x="9602462" y="3670194"/>
            <a:ext cx="7766190" cy="5297376"/>
          </a:xfrm>
          <a:prstGeom prst="line">
            <a:avLst/>
          </a:prstGeom>
          <a:ln cap="rnd" w="38100">
            <a:solidFill>
              <a:srgbClr val="E11C17"/>
            </a:solidFill>
            <a:prstDash val="solid"/>
            <a:headEnd type="oval" len="lg" w="lg"/>
            <a:tailEnd type="none" len="sm" w="sm"/>
          </a:ln>
        </p:spPr>
      </p:sp>
      <p:grpSp>
        <p:nvGrpSpPr>
          <p:cNvPr name="Group 29" id="29"/>
          <p:cNvGrpSpPr/>
          <p:nvPr/>
        </p:nvGrpSpPr>
        <p:grpSpPr>
          <a:xfrm rot="0">
            <a:off x="10157516" y="3824327"/>
            <a:ext cx="6853751" cy="2163457"/>
            <a:chOff x="0" y="0"/>
            <a:chExt cx="1294111" cy="408499"/>
          </a:xfrm>
        </p:grpSpPr>
        <p:sp>
          <p:nvSpPr>
            <p:cNvPr name="Freeform 30" id="30"/>
            <p:cNvSpPr/>
            <p:nvPr/>
          </p:nvSpPr>
          <p:spPr>
            <a:xfrm flipH="false" flipV="false" rot="0">
              <a:off x="0" y="0"/>
              <a:ext cx="1294111" cy="408499"/>
            </a:xfrm>
            <a:custGeom>
              <a:avLst/>
              <a:gdLst/>
              <a:ahLst/>
              <a:cxnLst/>
              <a:rect r="r" b="b" t="t" l="l"/>
              <a:pathLst>
                <a:path h="408499" w="1294111">
                  <a:moveTo>
                    <a:pt x="25981" y="0"/>
                  </a:moveTo>
                  <a:lnTo>
                    <a:pt x="1268130" y="0"/>
                  </a:lnTo>
                  <a:cubicBezTo>
                    <a:pt x="1275021" y="0"/>
                    <a:pt x="1281629" y="2737"/>
                    <a:pt x="1286501" y="7610"/>
                  </a:cubicBezTo>
                  <a:cubicBezTo>
                    <a:pt x="1291374" y="12482"/>
                    <a:pt x="1294111" y="19090"/>
                    <a:pt x="1294111" y="25981"/>
                  </a:cubicBezTo>
                  <a:lnTo>
                    <a:pt x="1294111" y="382519"/>
                  </a:lnTo>
                  <a:cubicBezTo>
                    <a:pt x="1294111" y="396867"/>
                    <a:pt x="1282479" y="408499"/>
                    <a:pt x="1268130" y="408499"/>
                  </a:cubicBezTo>
                  <a:lnTo>
                    <a:pt x="25981" y="408499"/>
                  </a:lnTo>
                  <a:cubicBezTo>
                    <a:pt x="11632" y="408499"/>
                    <a:pt x="0" y="396867"/>
                    <a:pt x="0" y="382519"/>
                  </a:cubicBezTo>
                  <a:lnTo>
                    <a:pt x="0" y="25981"/>
                  </a:lnTo>
                  <a:cubicBezTo>
                    <a:pt x="0" y="11632"/>
                    <a:pt x="11632" y="0"/>
                    <a:pt x="25981" y="0"/>
                  </a:cubicBezTo>
                  <a:close/>
                </a:path>
              </a:pathLst>
            </a:custGeom>
            <a:blipFill>
              <a:blip r:embed="rId4"/>
              <a:stretch>
                <a:fillRect l="0" t="-55598" r="0" b="-55598"/>
              </a:stretch>
            </a:blipFill>
          </p:spPr>
        </p:sp>
      </p:grpSp>
      <p:sp>
        <p:nvSpPr>
          <p:cNvPr name="TextBox 31" id="31"/>
          <p:cNvSpPr txBox="true"/>
          <p:nvPr/>
        </p:nvSpPr>
        <p:spPr>
          <a:xfrm rot="0">
            <a:off x="9968716" y="6147563"/>
            <a:ext cx="7042551" cy="2599053"/>
          </a:xfrm>
          <a:prstGeom prst="rect">
            <a:avLst/>
          </a:prstGeom>
        </p:spPr>
        <p:txBody>
          <a:bodyPr anchor="t" rtlCol="false" tIns="0" lIns="0" bIns="0" rIns="0">
            <a:spAutoFit/>
          </a:bodyPr>
          <a:lstStyle/>
          <a:p>
            <a:pPr algn="just" marL="474422" indent="-237211" lvl="1">
              <a:lnSpc>
                <a:spcPts val="3471"/>
              </a:lnSpc>
              <a:buFont typeface="Arial"/>
              <a:buChar char="•"/>
            </a:pPr>
            <a:r>
              <a:rPr lang="en-US" sz="2197" spc="24">
                <a:solidFill>
                  <a:srgbClr val="000000"/>
                </a:solidFill>
                <a:latin typeface="Open Sans"/>
                <a:ea typeface="Open Sans"/>
                <a:cs typeface="Open Sans"/>
                <a:sym typeface="Open Sans"/>
              </a:rPr>
              <a:t>Trong quá trình tìm hiểu các tài liệu liên quan, em có đọc thêm một số nội dung ngoài định hướng ban đầu.</a:t>
            </a:r>
          </a:p>
          <a:p>
            <a:pPr algn="just" marL="474422" indent="-237211" lvl="1">
              <a:lnSpc>
                <a:spcPts val="3471"/>
              </a:lnSpc>
              <a:buFont typeface="Arial"/>
              <a:buChar char="•"/>
            </a:pPr>
            <a:r>
              <a:rPr lang="en-US" sz="2197" spc="24">
                <a:solidFill>
                  <a:srgbClr val="000000"/>
                </a:solidFill>
                <a:latin typeface="Open Sans"/>
                <a:ea typeface="Open Sans"/>
                <a:cs typeface="Open Sans"/>
                <a:sym typeface="Open Sans"/>
              </a:rPr>
              <a:t>Những nội dung này giúp em nhìn vấn đề theo một cách khác và nhận ra khả năng kết hợp giữa phong thủy kiến trúc với công nghệ thông tin.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763324" y="1753053"/>
            <a:ext cx="6209432" cy="620611"/>
            <a:chOff x="0" y="0"/>
            <a:chExt cx="2068688" cy="206758"/>
          </a:xfrm>
        </p:grpSpPr>
        <p:sp>
          <p:nvSpPr>
            <p:cNvPr name="Freeform 8" id="8"/>
            <p:cNvSpPr/>
            <p:nvPr/>
          </p:nvSpPr>
          <p:spPr>
            <a:xfrm flipH="false" flipV="false" rot="0">
              <a:off x="0" y="0"/>
              <a:ext cx="2068688" cy="206758"/>
            </a:xfrm>
            <a:custGeom>
              <a:avLst/>
              <a:gdLst/>
              <a:ahLst/>
              <a:cxnLst/>
              <a:rect r="r" b="b" t="t" l="l"/>
              <a:pathLst>
                <a:path h="206758" w="2068688">
                  <a:moveTo>
                    <a:pt x="59846" y="0"/>
                  </a:moveTo>
                  <a:lnTo>
                    <a:pt x="2008841" y="0"/>
                  </a:lnTo>
                  <a:cubicBezTo>
                    <a:pt x="2024714" y="0"/>
                    <a:pt x="2039936" y="6305"/>
                    <a:pt x="2051159" y="17529"/>
                  </a:cubicBezTo>
                  <a:cubicBezTo>
                    <a:pt x="2062382" y="28752"/>
                    <a:pt x="2068688" y="43974"/>
                    <a:pt x="2068688" y="59846"/>
                  </a:cubicBezTo>
                  <a:lnTo>
                    <a:pt x="2068688" y="146912"/>
                  </a:lnTo>
                  <a:cubicBezTo>
                    <a:pt x="2068688" y="162784"/>
                    <a:pt x="2062382" y="178006"/>
                    <a:pt x="2051159" y="189230"/>
                  </a:cubicBezTo>
                  <a:cubicBezTo>
                    <a:pt x="2039936" y="200453"/>
                    <a:pt x="2024714" y="206758"/>
                    <a:pt x="2008841" y="206758"/>
                  </a:cubicBezTo>
                  <a:lnTo>
                    <a:pt x="59846" y="206758"/>
                  </a:lnTo>
                  <a:cubicBezTo>
                    <a:pt x="43974" y="206758"/>
                    <a:pt x="28752" y="200453"/>
                    <a:pt x="17529" y="189230"/>
                  </a:cubicBezTo>
                  <a:cubicBezTo>
                    <a:pt x="6305" y="178006"/>
                    <a:pt x="0" y="162784"/>
                    <a:pt x="0" y="146912"/>
                  </a:cubicBezTo>
                  <a:lnTo>
                    <a:pt x="0" y="59846"/>
                  </a:lnTo>
                  <a:cubicBezTo>
                    <a:pt x="0" y="43974"/>
                    <a:pt x="6305" y="28752"/>
                    <a:pt x="17529" y="17529"/>
                  </a:cubicBezTo>
                  <a:cubicBezTo>
                    <a:pt x="28752" y="6305"/>
                    <a:pt x="43974" y="0"/>
                    <a:pt x="59846" y="0"/>
                  </a:cubicBezTo>
                  <a:close/>
                </a:path>
              </a:pathLst>
            </a:custGeom>
            <a:solidFill>
              <a:srgbClr val="0345E4"/>
            </a:solidFill>
          </p:spPr>
        </p:sp>
        <p:sp>
          <p:nvSpPr>
            <p:cNvPr name="TextBox 9" id="9"/>
            <p:cNvSpPr txBox="true"/>
            <p:nvPr/>
          </p:nvSpPr>
          <p:spPr>
            <a:xfrm>
              <a:off x="0" y="-38100"/>
              <a:ext cx="2068688" cy="244858"/>
            </a:xfrm>
            <a:prstGeom prst="rect">
              <a:avLst/>
            </a:prstGeom>
          </p:spPr>
          <p:txBody>
            <a:bodyPr anchor="ctr" rtlCol="false" tIns="50800" lIns="50800" bIns="50800" rIns="50800"/>
            <a:lstStyle/>
            <a:p>
              <a:pPr algn="ctr">
                <a:lnSpc>
                  <a:spcPts val="2659"/>
                </a:lnSpc>
              </a:pPr>
            </a:p>
          </p:txBody>
        </p:sp>
      </p:grpSp>
      <p:grpSp>
        <p:nvGrpSpPr>
          <p:cNvPr name="Group 10" id="10"/>
          <p:cNvGrpSpPr>
            <a:grpSpLocks noChangeAspect="true"/>
          </p:cNvGrpSpPr>
          <p:nvPr/>
        </p:nvGrpSpPr>
        <p:grpSpPr>
          <a:xfrm rot="0">
            <a:off x="8148424" y="4399003"/>
            <a:ext cx="2173071" cy="2173071"/>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3535" t="-17793" r="-71614" b="-14156"/>
              </a:stretch>
            </a:blipFill>
          </p:spPr>
        </p:sp>
      </p:grpSp>
      <p:grpSp>
        <p:nvGrpSpPr>
          <p:cNvPr name="Group 14" id="14"/>
          <p:cNvGrpSpPr/>
          <p:nvPr/>
        </p:nvGrpSpPr>
        <p:grpSpPr>
          <a:xfrm rot="0">
            <a:off x="12598514" y="1354678"/>
            <a:ext cx="3061561" cy="523980"/>
            <a:chOff x="0" y="0"/>
            <a:chExt cx="2488463" cy="425895"/>
          </a:xfrm>
        </p:grpSpPr>
        <p:sp>
          <p:nvSpPr>
            <p:cNvPr name="Freeform 15" id="15"/>
            <p:cNvSpPr/>
            <p:nvPr/>
          </p:nvSpPr>
          <p:spPr>
            <a:xfrm flipH="false" flipV="false" rot="0">
              <a:off x="0" y="0"/>
              <a:ext cx="2488463" cy="425895"/>
            </a:xfrm>
            <a:custGeom>
              <a:avLst/>
              <a:gdLst/>
              <a:ahLst/>
              <a:cxnLst/>
              <a:rect r="r" b="b" t="t" l="l"/>
              <a:pathLst>
                <a:path h="425895" w="2488463">
                  <a:moveTo>
                    <a:pt x="2285263" y="0"/>
                  </a:moveTo>
                  <a:cubicBezTo>
                    <a:pt x="2397487" y="0"/>
                    <a:pt x="2488463" y="95340"/>
                    <a:pt x="2488463" y="212948"/>
                  </a:cubicBezTo>
                  <a:cubicBezTo>
                    <a:pt x="2488463" y="330556"/>
                    <a:pt x="2397487" y="425895"/>
                    <a:pt x="2285263"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16" id="16"/>
            <p:cNvSpPr txBox="true"/>
            <p:nvPr/>
          </p:nvSpPr>
          <p:spPr>
            <a:xfrm>
              <a:off x="0" y="-28575"/>
              <a:ext cx="2488463"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Mục tiêu nghiên cứu</a:t>
              </a:r>
            </a:p>
          </p:txBody>
        </p:sp>
      </p:grpSp>
      <p:grpSp>
        <p:nvGrpSpPr>
          <p:cNvPr name="Group 17" id="17"/>
          <p:cNvGrpSpPr/>
          <p:nvPr/>
        </p:nvGrpSpPr>
        <p:grpSpPr>
          <a:xfrm rot="0">
            <a:off x="10510588" y="2002483"/>
            <a:ext cx="7241874" cy="1652650"/>
            <a:chOff x="0" y="0"/>
            <a:chExt cx="2436854" cy="556109"/>
          </a:xfrm>
        </p:grpSpPr>
        <p:sp>
          <p:nvSpPr>
            <p:cNvPr name="Freeform 18" id="18"/>
            <p:cNvSpPr/>
            <p:nvPr/>
          </p:nvSpPr>
          <p:spPr>
            <a:xfrm flipH="false" flipV="false" rot="0">
              <a:off x="0" y="0"/>
              <a:ext cx="2436854" cy="556109"/>
            </a:xfrm>
            <a:custGeom>
              <a:avLst/>
              <a:gdLst/>
              <a:ahLst/>
              <a:cxnLst/>
              <a:rect r="r" b="b" t="t" l="l"/>
              <a:pathLst>
                <a:path h="556109" w="2436854">
                  <a:moveTo>
                    <a:pt x="54522" y="0"/>
                  </a:moveTo>
                  <a:lnTo>
                    <a:pt x="2382333" y="0"/>
                  </a:lnTo>
                  <a:cubicBezTo>
                    <a:pt x="2412444" y="0"/>
                    <a:pt x="2436854" y="24410"/>
                    <a:pt x="2436854" y="54522"/>
                  </a:cubicBezTo>
                  <a:lnTo>
                    <a:pt x="2436854" y="501587"/>
                  </a:lnTo>
                  <a:cubicBezTo>
                    <a:pt x="2436854" y="531698"/>
                    <a:pt x="2412444" y="556109"/>
                    <a:pt x="2382333" y="556109"/>
                  </a:cubicBezTo>
                  <a:lnTo>
                    <a:pt x="54522" y="556109"/>
                  </a:lnTo>
                  <a:cubicBezTo>
                    <a:pt x="24410" y="556109"/>
                    <a:pt x="0" y="531698"/>
                    <a:pt x="0" y="501587"/>
                  </a:cubicBezTo>
                  <a:lnTo>
                    <a:pt x="0" y="54522"/>
                  </a:lnTo>
                  <a:cubicBezTo>
                    <a:pt x="0" y="24410"/>
                    <a:pt x="24410" y="0"/>
                    <a:pt x="54522" y="0"/>
                  </a:cubicBezTo>
                  <a:close/>
                </a:path>
              </a:pathLst>
            </a:custGeom>
            <a:solidFill>
              <a:srgbClr val="E8ECEC"/>
            </a:solidFill>
          </p:spPr>
        </p:sp>
        <p:sp>
          <p:nvSpPr>
            <p:cNvPr name="TextBox 19" id="19"/>
            <p:cNvSpPr txBox="true"/>
            <p:nvPr/>
          </p:nvSpPr>
          <p:spPr>
            <a:xfrm>
              <a:off x="0" y="-38100"/>
              <a:ext cx="2436854" cy="594209"/>
            </a:xfrm>
            <a:prstGeom prst="rect">
              <a:avLst/>
            </a:prstGeom>
          </p:spPr>
          <p:txBody>
            <a:bodyPr anchor="ctr" rtlCol="false" tIns="50800" lIns="50800" bIns="50800" rIns="50800"/>
            <a:lstStyle/>
            <a:p>
              <a:pPr algn="ctr">
                <a:lnSpc>
                  <a:spcPts val="2659"/>
                </a:lnSpc>
              </a:pPr>
            </a:p>
          </p:txBody>
        </p:sp>
      </p:grpSp>
      <p:grpSp>
        <p:nvGrpSpPr>
          <p:cNvPr name="Group 20" id="20"/>
          <p:cNvGrpSpPr>
            <a:grpSpLocks noChangeAspect="true"/>
          </p:cNvGrpSpPr>
          <p:nvPr/>
        </p:nvGrpSpPr>
        <p:grpSpPr>
          <a:xfrm rot="0">
            <a:off x="8148424" y="1742272"/>
            <a:ext cx="2173071" cy="2173071"/>
            <a:chOff x="0" y="0"/>
            <a:chExt cx="14840029" cy="14840029"/>
          </a:xfrm>
        </p:grpSpPr>
        <p:sp>
          <p:nvSpPr>
            <p:cNvPr name="Freeform 21" id="2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22" id="2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23" id="2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127525" t="-24838" r="-12562" b="-9005"/>
              </a:stretch>
            </a:blipFill>
          </p:spPr>
        </p:sp>
      </p:grpSp>
      <p:grpSp>
        <p:nvGrpSpPr>
          <p:cNvPr name="Group 24" id="24"/>
          <p:cNvGrpSpPr/>
          <p:nvPr/>
        </p:nvGrpSpPr>
        <p:grpSpPr>
          <a:xfrm rot="0">
            <a:off x="12494064" y="3944903"/>
            <a:ext cx="3274921" cy="523980"/>
            <a:chOff x="0" y="0"/>
            <a:chExt cx="2661883" cy="425895"/>
          </a:xfrm>
        </p:grpSpPr>
        <p:sp>
          <p:nvSpPr>
            <p:cNvPr name="Freeform 25" id="25"/>
            <p:cNvSpPr/>
            <p:nvPr/>
          </p:nvSpPr>
          <p:spPr>
            <a:xfrm flipH="false" flipV="false" rot="0">
              <a:off x="0" y="0"/>
              <a:ext cx="2661883" cy="425895"/>
            </a:xfrm>
            <a:custGeom>
              <a:avLst/>
              <a:gdLst/>
              <a:ahLst/>
              <a:cxnLst/>
              <a:rect r="r" b="b" t="t" l="l"/>
              <a:pathLst>
                <a:path h="425895" w="2661883">
                  <a:moveTo>
                    <a:pt x="2458683" y="0"/>
                  </a:moveTo>
                  <a:cubicBezTo>
                    <a:pt x="2570908" y="0"/>
                    <a:pt x="2661883" y="95340"/>
                    <a:pt x="2661883" y="212948"/>
                  </a:cubicBezTo>
                  <a:cubicBezTo>
                    <a:pt x="2661883" y="330556"/>
                    <a:pt x="2570908" y="425895"/>
                    <a:pt x="2458683"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26" id="26"/>
            <p:cNvSpPr txBox="true"/>
            <p:nvPr/>
          </p:nvSpPr>
          <p:spPr>
            <a:xfrm>
              <a:off x="0" y="-28575"/>
              <a:ext cx="2661883"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Đối tượng nghiên cứu</a:t>
              </a:r>
            </a:p>
          </p:txBody>
        </p:sp>
      </p:grpSp>
      <p:grpSp>
        <p:nvGrpSpPr>
          <p:cNvPr name="Group 27" id="27"/>
          <p:cNvGrpSpPr/>
          <p:nvPr/>
        </p:nvGrpSpPr>
        <p:grpSpPr>
          <a:xfrm rot="0">
            <a:off x="10506127" y="4536440"/>
            <a:ext cx="7485609" cy="2087121"/>
            <a:chOff x="0" y="0"/>
            <a:chExt cx="2518870" cy="702306"/>
          </a:xfrm>
        </p:grpSpPr>
        <p:sp>
          <p:nvSpPr>
            <p:cNvPr name="Freeform 28" id="28"/>
            <p:cNvSpPr/>
            <p:nvPr/>
          </p:nvSpPr>
          <p:spPr>
            <a:xfrm flipH="false" flipV="false" rot="0">
              <a:off x="0" y="0"/>
              <a:ext cx="2518870" cy="702306"/>
            </a:xfrm>
            <a:custGeom>
              <a:avLst/>
              <a:gdLst/>
              <a:ahLst/>
              <a:cxnLst/>
              <a:rect r="r" b="b" t="t" l="l"/>
              <a:pathLst>
                <a:path h="702306" w="2518870">
                  <a:moveTo>
                    <a:pt x="52746" y="0"/>
                  </a:moveTo>
                  <a:lnTo>
                    <a:pt x="2466124" y="0"/>
                  </a:lnTo>
                  <a:cubicBezTo>
                    <a:pt x="2480113" y="0"/>
                    <a:pt x="2493529" y="5557"/>
                    <a:pt x="2503421" y="15449"/>
                  </a:cubicBezTo>
                  <a:cubicBezTo>
                    <a:pt x="2513313" y="25341"/>
                    <a:pt x="2518870" y="38757"/>
                    <a:pt x="2518870" y="52746"/>
                  </a:cubicBezTo>
                  <a:lnTo>
                    <a:pt x="2518870" y="649560"/>
                  </a:lnTo>
                  <a:cubicBezTo>
                    <a:pt x="2518870" y="663549"/>
                    <a:pt x="2513313" y="676965"/>
                    <a:pt x="2503421" y="686857"/>
                  </a:cubicBezTo>
                  <a:cubicBezTo>
                    <a:pt x="2493529" y="696749"/>
                    <a:pt x="2480113" y="702306"/>
                    <a:pt x="2466124" y="702306"/>
                  </a:cubicBezTo>
                  <a:lnTo>
                    <a:pt x="52746" y="702306"/>
                  </a:lnTo>
                  <a:cubicBezTo>
                    <a:pt x="38757" y="702306"/>
                    <a:pt x="25341" y="696749"/>
                    <a:pt x="15449" y="686857"/>
                  </a:cubicBezTo>
                  <a:cubicBezTo>
                    <a:pt x="5557" y="676965"/>
                    <a:pt x="0" y="663549"/>
                    <a:pt x="0" y="649560"/>
                  </a:cubicBezTo>
                  <a:lnTo>
                    <a:pt x="0" y="52746"/>
                  </a:lnTo>
                  <a:cubicBezTo>
                    <a:pt x="0" y="38757"/>
                    <a:pt x="5557" y="25341"/>
                    <a:pt x="15449" y="15449"/>
                  </a:cubicBezTo>
                  <a:cubicBezTo>
                    <a:pt x="25341" y="5557"/>
                    <a:pt x="38757" y="0"/>
                    <a:pt x="52746" y="0"/>
                  </a:cubicBezTo>
                  <a:close/>
                </a:path>
              </a:pathLst>
            </a:custGeom>
            <a:solidFill>
              <a:srgbClr val="E8ECEC"/>
            </a:solidFill>
          </p:spPr>
        </p:sp>
        <p:sp>
          <p:nvSpPr>
            <p:cNvPr name="TextBox 29" id="29"/>
            <p:cNvSpPr txBox="true"/>
            <p:nvPr/>
          </p:nvSpPr>
          <p:spPr>
            <a:xfrm>
              <a:off x="0" y="-38100"/>
              <a:ext cx="2518870" cy="740406"/>
            </a:xfrm>
            <a:prstGeom prst="rect">
              <a:avLst/>
            </a:prstGeom>
          </p:spPr>
          <p:txBody>
            <a:bodyPr anchor="ctr" rtlCol="false" tIns="50800" lIns="50800" bIns="50800" rIns="50800"/>
            <a:lstStyle/>
            <a:p>
              <a:pPr algn="ctr">
                <a:lnSpc>
                  <a:spcPts val="2659"/>
                </a:lnSpc>
              </a:pPr>
            </a:p>
          </p:txBody>
        </p:sp>
      </p:grpSp>
      <p:grpSp>
        <p:nvGrpSpPr>
          <p:cNvPr name="Group 30" id="30"/>
          <p:cNvGrpSpPr>
            <a:grpSpLocks noChangeAspect="true"/>
          </p:cNvGrpSpPr>
          <p:nvPr/>
        </p:nvGrpSpPr>
        <p:grpSpPr>
          <a:xfrm rot="0">
            <a:off x="8148424" y="6965108"/>
            <a:ext cx="2173071" cy="2173071"/>
            <a:chOff x="0" y="0"/>
            <a:chExt cx="14840029" cy="14840029"/>
          </a:xfrm>
        </p:grpSpPr>
        <p:sp>
          <p:nvSpPr>
            <p:cNvPr name="Freeform 31" id="3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32" id="3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33" id="3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223" t="0" r="223" b="0"/>
              </a:stretch>
            </a:blipFill>
          </p:spPr>
        </p:sp>
      </p:grpSp>
      <p:grpSp>
        <p:nvGrpSpPr>
          <p:cNvPr name="Group 34" id="34"/>
          <p:cNvGrpSpPr/>
          <p:nvPr/>
        </p:nvGrpSpPr>
        <p:grpSpPr>
          <a:xfrm rot="0">
            <a:off x="12641614" y="6871211"/>
            <a:ext cx="3168241" cy="523980"/>
            <a:chOff x="0" y="0"/>
            <a:chExt cx="2575173" cy="425895"/>
          </a:xfrm>
        </p:grpSpPr>
        <p:sp>
          <p:nvSpPr>
            <p:cNvPr name="Freeform 35" id="35"/>
            <p:cNvSpPr/>
            <p:nvPr/>
          </p:nvSpPr>
          <p:spPr>
            <a:xfrm flipH="false" flipV="false" rot="0">
              <a:off x="0" y="0"/>
              <a:ext cx="2575173" cy="425895"/>
            </a:xfrm>
            <a:custGeom>
              <a:avLst/>
              <a:gdLst/>
              <a:ahLst/>
              <a:cxnLst/>
              <a:rect r="r" b="b" t="t" l="l"/>
              <a:pathLst>
                <a:path h="425895" w="2575173">
                  <a:moveTo>
                    <a:pt x="2371973" y="0"/>
                  </a:moveTo>
                  <a:cubicBezTo>
                    <a:pt x="2484197" y="0"/>
                    <a:pt x="2575173" y="95340"/>
                    <a:pt x="2575173" y="212948"/>
                  </a:cubicBezTo>
                  <a:cubicBezTo>
                    <a:pt x="2575173" y="330556"/>
                    <a:pt x="2484197" y="425895"/>
                    <a:pt x="2371973"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36" id="36"/>
            <p:cNvSpPr txBox="true"/>
            <p:nvPr/>
          </p:nvSpPr>
          <p:spPr>
            <a:xfrm>
              <a:off x="0" y="-28575"/>
              <a:ext cx="2575173"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Phạm vi nghiên cứu</a:t>
              </a:r>
            </a:p>
          </p:txBody>
        </p:sp>
      </p:grpSp>
      <p:grpSp>
        <p:nvGrpSpPr>
          <p:cNvPr name="Group 37" id="37"/>
          <p:cNvGrpSpPr/>
          <p:nvPr/>
        </p:nvGrpSpPr>
        <p:grpSpPr>
          <a:xfrm rot="0">
            <a:off x="10602567" y="7459594"/>
            <a:ext cx="7432269" cy="1252867"/>
            <a:chOff x="0" y="0"/>
            <a:chExt cx="2500921" cy="421584"/>
          </a:xfrm>
        </p:grpSpPr>
        <p:sp>
          <p:nvSpPr>
            <p:cNvPr name="Freeform 38" id="38"/>
            <p:cNvSpPr/>
            <p:nvPr/>
          </p:nvSpPr>
          <p:spPr>
            <a:xfrm flipH="false" flipV="false" rot="0">
              <a:off x="0" y="0"/>
              <a:ext cx="2500921" cy="421584"/>
            </a:xfrm>
            <a:custGeom>
              <a:avLst/>
              <a:gdLst/>
              <a:ahLst/>
              <a:cxnLst/>
              <a:rect r="r" b="b" t="t" l="l"/>
              <a:pathLst>
                <a:path h="421584" w="2500921">
                  <a:moveTo>
                    <a:pt x="53125" y="0"/>
                  </a:moveTo>
                  <a:lnTo>
                    <a:pt x="2447797" y="0"/>
                  </a:lnTo>
                  <a:cubicBezTo>
                    <a:pt x="2461886" y="0"/>
                    <a:pt x="2475399" y="5597"/>
                    <a:pt x="2485361" y="15560"/>
                  </a:cubicBezTo>
                  <a:cubicBezTo>
                    <a:pt x="2495324" y="25523"/>
                    <a:pt x="2500921" y="39035"/>
                    <a:pt x="2500921" y="53125"/>
                  </a:cubicBezTo>
                  <a:lnTo>
                    <a:pt x="2500921" y="368459"/>
                  </a:lnTo>
                  <a:cubicBezTo>
                    <a:pt x="2500921" y="397799"/>
                    <a:pt x="2477137" y="421584"/>
                    <a:pt x="2447797" y="421584"/>
                  </a:cubicBezTo>
                  <a:lnTo>
                    <a:pt x="53125" y="421584"/>
                  </a:lnTo>
                  <a:cubicBezTo>
                    <a:pt x="23785" y="421584"/>
                    <a:pt x="0" y="397799"/>
                    <a:pt x="0" y="368459"/>
                  </a:cubicBezTo>
                  <a:lnTo>
                    <a:pt x="0" y="53125"/>
                  </a:lnTo>
                  <a:cubicBezTo>
                    <a:pt x="0" y="23785"/>
                    <a:pt x="23785" y="0"/>
                    <a:pt x="53125" y="0"/>
                  </a:cubicBezTo>
                  <a:close/>
                </a:path>
              </a:pathLst>
            </a:custGeom>
            <a:solidFill>
              <a:srgbClr val="E8ECEC"/>
            </a:solidFill>
          </p:spPr>
        </p:sp>
        <p:sp>
          <p:nvSpPr>
            <p:cNvPr name="TextBox 39" id="39"/>
            <p:cNvSpPr txBox="true"/>
            <p:nvPr/>
          </p:nvSpPr>
          <p:spPr>
            <a:xfrm>
              <a:off x="0" y="-38100"/>
              <a:ext cx="2500921" cy="459684"/>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939178" y="2670686"/>
            <a:ext cx="5842483" cy="1257185"/>
            <a:chOff x="0" y="0"/>
            <a:chExt cx="2013752" cy="433319"/>
          </a:xfrm>
        </p:grpSpPr>
        <p:sp>
          <p:nvSpPr>
            <p:cNvPr name="Freeform 41" id="41"/>
            <p:cNvSpPr/>
            <p:nvPr/>
          </p:nvSpPr>
          <p:spPr>
            <a:xfrm flipH="false" flipV="false" rot="0">
              <a:off x="0" y="0"/>
              <a:ext cx="2013752" cy="433319"/>
            </a:xfrm>
            <a:custGeom>
              <a:avLst/>
              <a:gdLst/>
              <a:ahLst/>
              <a:cxnLst/>
              <a:rect r="r" b="b" t="t" l="l"/>
              <a:pathLst>
                <a:path h="433319" w="2013752">
                  <a:moveTo>
                    <a:pt x="67580" y="0"/>
                  </a:moveTo>
                  <a:lnTo>
                    <a:pt x="1946172" y="0"/>
                  </a:lnTo>
                  <a:cubicBezTo>
                    <a:pt x="1964095" y="0"/>
                    <a:pt x="1981285" y="7120"/>
                    <a:pt x="1993959" y="19794"/>
                  </a:cubicBezTo>
                  <a:cubicBezTo>
                    <a:pt x="2006632" y="32468"/>
                    <a:pt x="2013752" y="49657"/>
                    <a:pt x="2013752" y="67580"/>
                  </a:cubicBezTo>
                  <a:lnTo>
                    <a:pt x="2013752" y="365739"/>
                  </a:lnTo>
                  <a:cubicBezTo>
                    <a:pt x="2013752" y="403062"/>
                    <a:pt x="1983496" y="433319"/>
                    <a:pt x="1946172" y="433319"/>
                  </a:cubicBezTo>
                  <a:lnTo>
                    <a:pt x="67580" y="433319"/>
                  </a:lnTo>
                  <a:cubicBezTo>
                    <a:pt x="30257" y="433319"/>
                    <a:pt x="0" y="403062"/>
                    <a:pt x="0" y="365739"/>
                  </a:cubicBezTo>
                  <a:lnTo>
                    <a:pt x="0" y="67580"/>
                  </a:lnTo>
                  <a:cubicBezTo>
                    <a:pt x="0" y="30257"/>
                    <a:pt x="30257" y="0"/>
                    <a:pt x="67580" y="0"/>
                  </a:cubicBezTo>
                  <a:close/>
                </a:path>
              </a:pathLst>
            </a:custGeom>
            <a:solidFill>
              <a:srgbClr val="E8ECEC"/>
            </a:solidFill>
          </p:spPr>
        </p:sp>
        <p:sp>
          <p:nvSpPr>
            <p:cNvPr name="TextBox 42" id="42"/>
            <p:cNvSpPr txBox="true"/>
            <p:nvPr/>
          </p:nvSpPr>
          <p:spPr>
            <a:xfrm>
              <a:off x="0" y="-38100"/>
              <a:ext cx="2013752" cy="471419"/>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939178" y="5936968"/>
            <a:ext cx="5842483" cy="1270212"/>
            <a:chOff x="0" y="0"/>
            <a:chExt cx="2013752" cy="437809"/>
          </a:xfrm>
        </p:grpSpPr>
        <p:sp>
          <p:nvSpPr>
            <p:cNvPr name="Freeform 44" id="44"/>
            <p:cNvSpPr/>
            <p:nvPr/>
          </p:nvSpPr>
          <p:spPr>
            <a:xfrm flipH="false" flipV="false" rot="0">
              <a:off x="0" y="0"/>
              <a:ext cx="2013752" cy="437809"/>
            </a:xfrm>
            <a:custGeom>
              <a:avLst/>
              <a:gdLst/>
              <a:ahLst/>
              <a:cxnLst/>
              <a:rect r="r" b="b" t="t" l="l"/>
              <a:pathLst>
                <a:path h="437809" w="2013752">
                  <a:moveTo>
                    <a:pt x="67580" y="0"/>
                  </a:moveTo>
                  <a:lnTo>
                    <a:pt x="1946172" y="0"/>
                  </a:lnTo>
                  <a:cubicBezTo>
                    <a:pt x="1964095" y="0"/>
                    <a:pt x="1981285" y="7120"/>
                    <a:pt x="1993959" y="19794"/>
                  </a:cubicBezTo>
                  <a:cubicBezTo>
                    <a:pt x="2006632" y="32468"/>
                    <a:pt x="2013752" y="49657"/>
                    <a:pt x="2013752" y="67580"/>
                  </a:cubicBezTo>
                  <a:lnTo>
                    <a:pt x="2013752" y="370229"/>
                  </a:lnTo>
                  <a:cubicBezTo>
                    <a:pt x="2013752" y="407552"/>
                    <a:pt x="1983496" y="437809"/>
                    <a:pt x="1946172" y="437809"/>
                  </a:cubicBezTo>
                  <a:lnTo>
                    <a:pt x="67580" y="437809"/>
                  </a:lnTo>
                  <a:cubicBezTo>
                    <a:pt x="30257" y="437809"/>
                    <a:pt x="0" y="407552"/>
                    <a:pt x="0" y="370229"/>
                  </a:cubicBezTo>
                  <a:lnTo>
                    <a:pt x="0" y="67580"/>
                  </a:lnTo>
                  <a:cubicBezTo>
                    <a:pt x="0" y="30257"/>
                    <a:pt x="30257" y="0"/>
                    <a:pt x="67580" y="0"/>
                  </a:cubicBezTo>
                  <a:close/>
                </a:path>
              </a:pathLst>
            </a:custGeom>
            <a:solidFill>
              <a:srgbClr val="E8ECEC"/>
            </a:solidFill>
          </p:spPr>
        </p:sp>
        <p:sp>
          <p:nvSpPr>
            <p:cNvPr name="TextBox 45" id="45"/>
            <p:cNvSpPr txBox="true"/>
            <p:nvPr/>
          </p:nvSpPr>
          <p:spPr>
            <a:xfrm>
              <a:off x="0" y="-38100"/>
              <a:ext cx="2013752" cy="475909"/>
            </a:xfrm>
            <a:prstGeom prst="rect">
              <a:avLst/>
            </a:prstGeom>
          </p:spPr>
          <p:txBody>
            <a:bodyPr anchor="ctr" rtlCol="false" tIns="50800" lIns="50800" bIns="50800" rIns="50800"/>
            <a:lstStyle/>
            <a:p>
              <a:pPr algn="ctr">
                <a:lnSpc>
                  <a:spcPts val="2659"/>
                </a:lnSpc>
              </a:pPr>
            </a:p>
          </p:txBody>
        </p:sp>
      </p:grpSp>
      <p:sp>
        <p:nvSpPr>
          <p:cNvPr name="Freeform 46" id="46"/>
          <p:cNvSpPr/>
          <p:nvPr/>
        </p:nvSpPr>
        <p:spPr>
          <a:xfrm flipH="false" flipV="false" rot="0">
            <a:off x="849657" y="3979087"/>
            <a:ext cx="1835322" cy="1729281"/>
          </a:xfrm>
          <a:custGeom>
            <a:avLst/>
            <a:gdLst/>
            <a:ahLst/>
            <a:cxnLst/>
            <a:rect r="r" b="b" t="t" l="l"/>
            <a:pathLst>
              <a:path h="1729281" w="1835322">
                <a:moveTo>
                  <a:pt x="0" y="0"/>
                </a:moveTo>
                <a:lnTo>
                  <a:pt x="1835321" y="0"/>
                </a:lnTo>
                <a:lnTo>
                  <a:pt x="1835321" y="1729281"/>
                </a:lnTo>
                <a:lnTo>
                  <a:pt x="0" y="1729281"/>
                </a:lnTo>
                <a:lnTo>
                  <a:pt x="0" y="0"/>
                </a:lnTo>
                <a:close/>
              </a:path>
            </a:pathLst>
          </a:custGeom>
          <a:blipFill>
            <a:blip r:embed="rId6"/>
            <a:stretch>
              <a:fillRect l="-13998" t="-24612" r="-122485" b="-37021"/>
            </a:stretch>
          </a:blipFill>
        </p:spPr>
      </p:sp>
      <p:sp>
        <p:nvSpPr>
          <p:cNvPr name="Freeform 47" id="47"/>
          <p:cNvSpPr/>
          <p:nvPr/>
        </p:nvSpPr>
        <p:spPr>
          <a:xfrm flipH="false" flipV="false" rot="0">
            <a:off x="4907425" y="4001258"/>
            <a:ext cx="1802952" cy="1653551"/>
          </a:xfrm>
          <a:custGeom>
            <a:avLst/>
            <a:gdLst/>
            <a:ahLst/>
            <a:cxnLst/>
            <a:rect r="r" b="b" t="t" l="l"/>
            <a:pathLst>
              <a:path h="1653551" w="1802952">
                <a:moveTo>
                  <a:pt x="0" y="0"/>
                </a:moveTo>
                <a:lnTo>
                  <a:pt x="1802952" y="0"/>
                </a:lnTo>
                <a:lnTo>
                  <a:pt x="1802952" y="1653551"/>
                </a:lnTo>
                <a:lnTo>
                  <a:pt x="0" y="1653551"/>
                </a:lnTo>
                <a:lnTo>
                  <a:pt x="0" y="0"/>
                </a:lnTo>
                <a:close/>
              </a:path>
            </a:pathLst>
          </a:custGeom>
          <a:blipFill>
            <a:blip r:embed="rId6"/>
            <a:stretch>
              <a:fillRect l="-116406" t="-18602" r="-11376" b="-41343"/>
            </a:stretch>
          </a:blipFill>
        </p:spPr>
      </p:sp>
      <p:sp>
        <p:nvSpPr>
          <p:cNvPr name="Freeform 48" id="48"/>
          <p:cNvSpPr/>
          <p:nvPr/>
        </p:nvSpPr>
        <p:spPr>
          <a:xfrm flipH="false" flipV="false" rot="0">
            <a:off x="2896518" y="7266556"/>
            <a:ext cx="2514528" cy="1922843"/>
          </a:xfrm>
          <a:custGeom>
            <a:avLst/>
            <a:gdLst/>
            <a:ahLst/>
            <a:cxnLst/>
            <a:rect r="r" b="b" t="t" l="l"/>
            <a:pathLst>
              <a:path h="1922843" w="2514528">
                <a:moveTo>
                  <a:pt x="0" y="0"/>
                </a:moveTo>
                <a:lnTo>
                  <a:pt x="2514528" y="0"/>
                </a:lnTo>
                <a:lnTo>
                  <a:pt x="2514528" y="1922843"/>
                </a:lnTo>
                <a:lnTo>
                  <a:pt x="0" y="1922843"/>
                </a:lnTo>
                <a:lnTo>
                  <a:pt x="0" y="0"/>
                </a:lnTo>
                <a:close/>
              </a:path>
            </a:pathLst>
          </a:custGeom>
          <a:blipFill>
            <a:blip r:embed="rId7"/>
            <a:stretch>
              <a:fillRect l="-10869" t="-20629" r="-3632" b="-3464"/>
            </a:stretch>
          </a:blipFill>
        </p:spPr>
      </p:sp>
      <p:sp>
        <p:nvSpPr>
          <p:cNvPr name="Freeform 49" id="49"/>
          <p:cNvSpPr/>
          <p:nvPr/>
        </p:nvSpPr>
        <p:spPr>
          <a:xfrm flipH="false" flipV="false" rot="0">
            <a:off x="849657" y="7207180"/>
            <a:ext cx="1649006" cy="1995542"/>
          </a:xfrm>
          <a:custGeom>
            <a:avLst/>
            <a:gdLst/>
            <a:ahLst/>
            <a:cxnLst/>
            <a:rect r="r" b="b" t="t" l="l"/>
            <a:pathLst>
              <a:path h="1995542" w="1649006">
                <a:moveTo>
                  <a:pt x="0" y="0"/>
                </a:moveTo>
                <a:lnTo>
                  <a:pt x="1649006" y="0"/>
                </a:lnTo>
                <a:lnTo>
                  <a:pt x="1649006" y="1995542"/>
                </a:lnTo>
                <a:lnTo>
                  <a:pt x="0" y="1995542"/>
                </a:lnTo>
                <a:lnTo>
                  <a:pt x="0" y="0"/>
                </a:lnTo>
                <a:close/>
              </a:path>
            </a:pathLst>
          </a:custGeom>
          <a:blipFill>
            <a:blip r:embed="rId8"/>
            <a:stretch>
              <a:fillRect l="0" t="-6282" r="0" b="0"/>
            </a:stretch>
          </a:blipFill>
        </p:spPr>
      </p:sp>
      <p:sp>
        <p:nvSpPr>
          <p:cNvPr name="Freeform 50" id="50"/>
          <p:cNvSpPr/>
          <p:nvPr/>
        </p:nvSpPr>
        <p:spPr>
          <a:xfrm flipH="false" flipV="false" rot="0">
            <a:off x="5808901" y="7241247"/>
            <a:ext cx="633974" cy="1973461"/>
          </a:xfrm>
          <a:custGeom>
            <a:avLst/>
            <a:gdLst/>
            <a:ahLst/>
            <a:cxnLst/>
            <a:rect r="r" b="b" t="t" l="l"/>
            <a:pathLst>
              <a:path h="1973461" w="633974">
                <a:moveTo>
                  <a:pt x="0" y="0"/>
                </a:moveTo>
                <a:lnTo>
                  <a:pt x="633974" y="0"/>
                </a:lnTo>
                <a:lnTo>
                  <a:pt x="633974" y="1973461"/>
                </a:lnTo>
                <a:lnTo>
                  <a:pt x="0" y="1973461"/>
                </a:lnTo>
                <a:lnTo>
                  <a:pt x="0" y="0"/>
                </a:lnTo>
                <a:close/>
              </a:path>
            </a:pathLst>
          </a:custGeom>
          <a:blipFill>
            <a:blip r:embed="rId9"/>
            <a:stretch>
              <a:fillRect l="0" t="0" r="0" b="0"/>
            </a:stretch>
          </a:blipFill>
        </p:spPr>
      </p:sp>
      <p:sp>
        <p:nvSpPr>
          <p:cNvPr name="TextBox 51" id="51"/>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52" id="52"/>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4</a:t>
            </a:r>
          </a:p>
        </p:txBody>
      </p:sp>
      <p:sp>
        <p:nvSpPr>
          <p:cNvPr name="TextBox 53" id="53"/>
          <p:cNvSpPr txBox="true"/>
          <p:nvPr/>
        </p:nvSpPr>
        <p:spPr>
          <a:xfrm rot="0">
            <a:off x="1028700" y="615069"/>
            <a:ext cx="8115300"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1. TỔNG QUAN</a:t>
            </a:r>
          </a:p>
        </p:txBody>
      </p:sp>
      <p:sp>
        <p:nvSpPr>
          <p:cNvPr name="TextBox 54" id="54"/>
          <p:cNvSpPr txBox="true"/>
          <p:nvPr/>
        </p:nvSpPr>
        <p:spPr>
          <a:xfrm rot="0">
            <a:off x="849657" y="1857250"/>
            <a:ext cx="6021526" cy="357434"/>
          </a:xfrm>
          <a:prstGeom prst="rect">
            <a:avLst/>
          </a:prstGeom>
        </p:spPr>
        <p:txBody>
          <a:bodyPr anchor="t" rtlCol="false" tIns="0" lIns="0" bIns="0" rIns="0">
            <a:spAutoFit/>
          </a:bodyPr>
          <a:lstStyle/>
          <a:p>
            <a:pPr algn="ctr">
              <a:lnSpc>
                <a:spcPts val="2873"/>
              </a:lnSpc>
            </a:pPr>
            <a:r>
              <a:rPr lang="en-US" b="true" sz="2052" spc="41">
                <a:solidFill>
                  <a:srgbClr val="FFFFFF"/>
                </a:solidFill>
                <a:latin typeface="Garet Bold"/>
                <a:ea typeface="Garet Bold"/>
                <a:cs typeface="Garet Bold"/>
                <a:sym typeface="Garet Bold"/>
              </a:rPr>
              <a:t>“AN TRẠCH” VÀ “KIM CANG THỪA” LÀ GÌ ?</a:t>
            </a:r>
          </a:p>
        </p:txBody>
      </p:sp>
      <p:sp>
        <p:nvSpPr>
          <p:cNvPr name="TextBox 55" id="55"/>
          <p:cNvSpPr txBox="true"/>
          <p:nvPr/>
        </p:nvSpPr>
        <p:spPr>
          <a:xfrm rot="0">
            <a:off x="10602567" y="2067468"/>
            <a:ext cx="6849614" cy="1740421"/>
          </a:xfrm>
          <a:prstGeom prst="rect">
            <a:avLst/>
          </a:prstGeom>
        </p:spPr>
        <p:txBody>
          <a:bodyPr anchor="t" rtlCol="false" tIns="0" lIns="0" bIns="0" rIns="0">
            <a:spAutoFit/>
          </a:bodyPr>
          <a:lstStyle/>
          <a:p>
            <a:pPr algn="l" marL="393356" indent="-196678" lvl="1">
              <a:lnSpc>
                <a:spcPts val="2860"/>
              </a:lnSpc>
              <a:buFont typeface="Arial"/>
              <a:buChar char="•"/>
            </a:pPr>
            <a:r>
              <a:rPr lang="en-US" sz="1821">
                <a:solidFill>
                  <a:srgbClr val="000000"/>
                </a:solidFill>
                <a:latin typeface="Open Sans"/>
                <a:ea typeface="Open Sans"/>
                <a:cs typeface="Open Sans"/>
                <a:sym typeface="Open Sans"/>
              </a:rPr>
              <a:t> Thực hiện số hóa các nguyên lý phong thủy thành các chức năng tra cứu tự động.</a:t>
            </a:r>
          </a:p>
          <a:p>
            <a:pPr algn="l" marL="393356" indent="-196678" lvl="1">
              <a:lnSpc>
                <a:spcPts val="2860"/>
              </a:lnSpc>
              <a:buFont typeface="Arial"/>
              <a:buChar char="•"/>
            </a:pPr>
            <a:r>
              <a:rPr lang="en-US" sz="1821">
                <a:solidFill>
                  <a:srgbClr val="000000"/>
                </a:solidFill>
                <a:latin typeface="Open Sans"/>
                <a:ea typeface="Open Sans"/>
                <a:cs typeface="Open Sans"/>
                <a:sym typeface="Open Sans"/>
              </a:rPr>
              <a:t> Tập hợp và xây dựng mô hình kinh doanh pháp phẩm Kim Cang Thừa trên website.</a:t>
            </a:r>
          </a:p>
          <a:p>
            <a:pPr algn="l" marL="0" indent="0" lvl="0">
              <a:lnSpc>
                <a:spcPts val="2514"/>
              </a:lnSpc>
            </a:pPr>
          </a:p>
        </p:txBody>
      </p:sp>
      <p:sp>
        <p:nvSpPr>
          <p:cNvPr name="TextBox 56" id="56"/>
          <p:cNvSpPr txBox="true"/>
          <p:nvPr/>
        </p:nvSpPr>
        <p:spPr>
          <a:xfrm rot="0">
            <a:off x="10602567" y="4486213"/>
            <a:ext cx="7109332" cy="2004290"/>
          </a:xfrm>
          <a:prstGeom prst="rect">
            <a:avLst/>
          </a:prstGeom>
        </p:spPr>
        <p:txBody>
          <a:bodyPr anchor="t" rtlCol="false" tIns="0" lIns="0" bIns="0" rIns="0">
            <a:spAutoFit/>
          </a:bodyPr>
          <a:lstStyle/>
          <a:p>
            <a:pPr algn="just" marL="414947" indent="-207474" lvl="1">
              <a:lnSpc>
                <a:spcPts val="4074"/>
              </a:lnSpc>
              <a:buFont typeface="Arial"/>
              <a:buChar char="•"/>
            </a:pPr>
            <a:r>
              <a:rPr lang="en-US" sz="1921">
                <a:solidFill>
                  <a:srgbClr val="000000"/>
                </a:solidFill>
                <a:latin typeface="Open Sans"/>
                <a:ea typeface="Open Sans"/>
                <a:cs typeface="Open Sans"/>
                <a:sym typeface="Open Sans"/>
              </a:rPr>
              <a:t>Các kiến thức phong thủy An Trạch phục vụ cho nhà ở và các công trình xây dựng.</a:t>
            </a:r>
          </a:p>
          <a:p>
            <a:pPr algn="just" marL="414947" indent="-207474" lvl="1">
              <a:lnSpc>
                <a:spcPts val="4074"/>
              </a:lnSpc>
              <a:buFont typeface="Arial"/>
              <a:buChar char="•"/>
            </a:pPr>
            <a:r>
              <a:rPr lang="en-US" sz="1921">
                <a:solidFill>
                  <a:srgbClr val="000000"/>
                </a:solidFill>
                <a:latin typeface="Open Sans"/>
                <a:ea typeface="Open Sans"/>
                <a:cs typeface="Open Sans"/>
                <a:sym typeface="Open Sans"/>
              </a:rPr>
              <a:t>Quy trình xử lý và tra cứu dữ liệu phong thủy trên website.</a:t>
            </a:r>
          </a:p>
          <a:p>
            <a:pPr algn="just" marL="414947" indent="-207474" lvl="1">
              <a:lnSpc>
                <a:spcPts val="4074"/>
              </a:lnSpc>
              <a:buFont typeface="Arial"/>
              <a:buChar char="•"/>
            </a:pPr>
            <a:r>
              <a:rPr lang="en-US" sz="1921">
                <a:solidFill>
                  <a:srgbClr val="000000"/>
                </a:solidFill>
                <a:latin typeface="Open Sans"/>
                <a:ea typeface="Open Sans"/>
                <a:cs typeface="Open Sans"/>
                <a:sym typeface="Open Sans"/>
              </a:rPr>
              <a:t>Mô hình website tích hợp tư vấn và thương mại điện tử.</a:t>
            </a:r>
          </a:p>
        </p:txBody>
      </p:sp>
      <p:sp>
        <p:nvSpPr>
          <p:cNvPr name="TextBox 57" id="57"/>
          <p:cNvSpPr txBox="true"/>
          <p:nvPr/>
        </p:nvSpPr>
        <p:spPr>
          <a:xfrm rot="0">
            <a:off x="10697739" y="7490273"/>
            <a:ext cx="7055992" cy="1277416"/>
          </a:xfrm>
          <a:prstGeom prst="rect">
            <a:avLst/>
          </a:prstGeom>
        </p:spPr>
        <p:txBody>
          <a:bodyPr anchor="t" rtlCol="false" tIns="0" lIns="0" bIns="0" rIns="0">
            <a:spAutoFit/>
          </a:bodyPr>
          <a:lstStyle/>
          <a:p>
            <a:pPr algn="just" marL="414947" indent="-207474" lvl="1">
              <a:lnSpc>
                <a:spcPts val="3497"/>
              </a:lnSpc>
              <a:buFont typeface="Arial"/>
              <a:buChar char="•"/>
            </a:pPr>
            <a:r>
              <a:rPr lang="en-US" sz="1921">
                <a:solidFill>
                  <a:srgbClr val="000000"/>
                </a:solidFill>
                <a:latin typeface="Open Sans"/>
                <a:ea typeface="Open Sans"/>
                <a:cs typeface="Open Sans"/>
                <a:sym typeface="Open Sans"/>
              </a:rPr>
              <a:t>Phát triển website trên nền tảng WordPress.</a:t>
            </a:r>
          </a:p>
          <a:p>
            <a:pPr algn="just" marL="414947" indent="-207474" lvl="1">
              <a:lnSpc>
                <a:spcPts val="3497"/>
              </a:lnSpc>
              <a:buFont typeface="Arial"/>
              <a:buChar char="•"/>
            </a:pPr>
            <a:r>
              <a:rPr lang="en-US" sz="1921">
                <a:solidFill>
                  <a:srgbClr val="000000"/>
                </a:solidFill>
                <a:latin typeface="Open Sans"/>
                <a:ea typeface="Open Sans"/>
                <a:cs typeface="Open Sans"/>
                <a:sym typeface="Open Sans"/>
              </a:rPr>
              <a:t>Hiện thực hóa chức năng phong thủy đã được hệ thống.</a:t>
            </a:r>
          </a:p>
          <a:p>
            <a:pPr algn="just">
              <a:lnSpc>
                <a:spcPts val="3497"/>
              </a:lnSpc>
            </a:pPr>
          </a:p>
        </p:txBody>
      </p:sp>
      <p:sp>
        <p:nvSpPr>
          <p:cNvPr name="TextBox 58" id="58"/>
          <p:cNvSpPr txBox="true"/>
          <p:nvPr/>
        </p:nvSpPr>
        <p:spPr>
          <a:xfrm rot="0">
            <a:off x="1106818" y="2783471"/>
            <a:ext cx="5481424" cy="963501"/>
          </a:xfrm>
          <a:prstGeom prst="rect">
            <a:avLst/>
          </a:prstGeom>
        </p:spPr>
        <p:txBody>
          <a:bodyPr anchor="t" rtlCol="false" tIns="0" lIns="0" bIns="0" rIns="0">
            <a:spAutoFit/>
          </a:bodyPr>
          <a:lstStyle/>
          <a:p>
            <a:pPr algn="just" marL="0" indent="0" lvl="0">
              <a:lnSpc>
                <a:spcPts val="2605"/>
              </a:lnSpc>
            </a:pPr>
            <a:r>
              <a:rPr lang="en-US" sz="1681">
                <a:solidFill>
                  <a:srgbClr val="000000"/>
                </a:solidFill>
                <a:latin typeface="Open Sans"/>
                <a:ea typeface="Open Sans"/>
                <a:cs typeface="Open Sans"/>
                <a:sym typeface="Open Sans"/>
              </a:rPr>
              <a:t>An Trạch là lĩnh vực phong thủy ứng dụng trong kiến trúc nhà ở, tuổi xây dựng, hướng nhà, bố trí không gian và các yếu tố Can Chi – Ngũ hành – Bát Trạch.</a:t>
            </a:r>
          </a:p>
        </p:txBody>
      </p:sp>
      <p:sp>
        <p:nvSpPr>
          <p:cNvPr name="TextBox 59" id="59"/>
          <p:cNvSpPr txBox="true"/>
          <p:nvPr/>
        </p:nvSpPr>
        <p:spPr>
          <a:xfrm rot="0">
            <a:off x="1119708" y="6056986"/>
            <a:ext cx="5481424" cy="963501"/>
          </a:xfrm>
          <a:prstGeom prst="rect">
            <a:avLst/>
          </a:prstGeom>
        </p:spPr>
        <p:txBody>
          <a:bodyPr anchor="t" rtlCol="false" tIns="0" lIns="0" bIns="0" rIns="0">
            <a:spAutoFit/>
          </a:bodyPr>
          <a:lstStyle/>
          <a:p>
            <a:pPr algn="just" marL="0" indent="0" lvl="0">
              <a:lnSpc>
                <a:spcPts val="2605"/>
              </a:lnSpc>
            </a:pPr>
            <a:r>
              <a:rPr lang="en-US" sz="1681">
                <a:solidFill>
                  <a:srgbClr val="000000"/>
                </a:solidFill>
                <a:latin typeface="Open Sans"/>
                <a:ea typeface="Open Sans"/>
                <a:cs typeface="Open Sans"/>
                <a:sym typeface="Open Sans"/>
              </a:rPr>
              <a:t>Kim Cang Thừa là một truyền thống Phật giáo Đại thừa, trong đó pháp phẩm được sử dụng như phương tiện hỗ trợ tu tập và đời sống tâm linh.</a:t>
            </a:r>
          </a:p>
        </p:txBody>
      </p:sp>
      <p:sp>
        <p:nvSpPr>
          <p:cNvPr name="TextBox 60" id="60"/>
          <p:cNvSpPr txBox="true"/>
          <p:nvPr/>
        </p:nvSpPr>
        <p:spPr>
          <a:xfrm rot="0">
            <a:off x="2787636" y="4261246"/>
            <a:ext cx="2119789" cy="1193803"/>
          </a:xfrm>
          <a:prstGeom prst="rect">
            <a:avLst/>
          </a:prstGeom>
        </p:spPr>
        <p:txBody>
          <a:bodyPr anchor="t" rtlCol="false" tIns="0" lIns="0" bIns="0" rIns="0">
            <a:spAutoFit/>
          </a:bodyPr>
          <a:lstStyle/>
          <a:p>
            <a:pPr algn="l">
              <a:lnSpc>
                <a:spcPts val="9799"/>
              </a:lnSpc>
              <a:spcBef>
                <a:spcPct val="0"/>
              </a:spcBef>
            </a:pPr>
            <a:r>
              <a:rPr lang="en-US" b="true" sz="6999">
                <a:solidFill>
                  <a:srgbClr val="FF0000"/>
                </a:solidFill>
                <a:latin typeface="Garet Bold"/>
                <a:ea typeface="Garet Bold"/>
                <a:cs typeface="Garet Bold"/>
                <a:sym typeface="Garet Bold"/>
              </a:rPr>
              <a:t>安 宅</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5</a:t>
            </a:r>
          </a:p>
        </p:txBody>
      </p:sp>
      <p:sp>
        <p:nvSpPr>
          <p:cNvPr name="TextBox 9" id="9"/>
          <p:cNvSpPr txBox="true"/>
          <p:nvPr/>
        </p:nvSpPr>
        <p:spPr>
          <a:xfrm rot="0">
            <a:off x="2342493" y="4270057"/>
            <a:ext cx="13844185" cy="1556385"/>
          </a:xfrm>
          <a:prstGeom prst="rect">
            <a:avLst/>
          </a:prstGeom>
        </p:spPr>
        <p:txBody>
          <a:bodyPr anchor="t" rtlCol="false" tIns="0" lIns="0" bIns="0" rIns="0">
            <a:spAutoFit/>
          </a:bodyPr>
          <a:lstStyle/>
          <a:p>
            <a:pPr algn="ctr">
              <a:lnSpc>
                <a:spcPts val="12869"/>
              </a:lnSpc>
            </a:pPr>
            <a:r>
              <a:rPr lang="en-US" b="true" sz="9000" spc="719">
                <a:solidFill>
                  <a:srgbClr val="0345E4"/>
                </a:solidFill>
                <a:latin typeface="Garet Bold"/>
                <a:ea typeface="Garet Bold"/>
                <a:cs typeface="Garet Bold"/>
                <a:sym typeface="Garet Bold"/>
              </a:rPr>
              <a:t>2. CƠ SỞ LÝ THUYẾT</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1080584" y="1867065"/>
            <a:ext cx="5072721" cy="795405"/>
            <a:chOff x="0" y="0"/>
            <a:chExt cx="1689989" cy="264991"/>
          </a:xfrm>
        </p:grpSpPr>
        <p:sp>
          <p:nvSpPr>
            <p:cNvPr name="Freeform 8" id="8"/>
            <p:cNvSpPr/>
            <p:nvPr/>
          </p:nvSpPr>
          <p:spPr>
            <a:xfrm flipH="false" flipV="false" rot="0">
              <a:off x="0" y="0"/>
              <a:ext cx="1689989" cy="264991"/>
            </a:xfrm>
            <a:custGeom>
              <a:avLst/>
              <a:gdLst/>
              <a:ahLst/>
              <a:cxnLst/>
              <a:rect r="r" b="b" t="t" l="l"/>
              <a:pathLst>
                <a:path h="264991" w="1689989">
                  <a:moveTo>
                    <a:pt x="73257" y="0"/>
                  </a:moveTo>
                  <a:lnTo>
                    <a:pt x="1616733" y="0"/>
                  </a:lnTo>
                  <a:cubicBezTo>
                    <a:pt x="1636162" y="0"/>
                    <a:pt x="1654795" y="7718"/>
                    <a:pt x="1668533" y="21456"/>
                  </a:cubicBezTo>
                  <a:cubicBezTo>
                    <a:pt x="1682271" y="35195"/>
                    <a:pt x="1689989" y="53828"/>
                    <a:pt x="1689989" y="73257"/>
                  </a:cubicBezTo>
                  <a:lnTo>
                    <a:pt x="1689989" y="191734"/>
                  </a:lnTo>
                  <a:cubicBezTo>
                    <a:pt x="1689989" y="211163"/>
                    <a:pt x="1682271" y="229796"/>
                    <a:pt x="1668533" y="243535"/>
                  </a:cubicBezTo>
                  <a:cubicBezTo>
                    <a:pt x="1654795" y="257273"/>
                    <a:pt x="1636162" y="264991"/>
                    <a:pt x="1616733" y="264991"/>
                  </a:cubicBezTo>
                  <a:lnTo>
                    <a:pt x="73257" y="264991"/>
                  </a:lnTo>
                  <a:cubicBezTo>
                    <a:pt x="53828" y="264991"/>
                    <a:pt x="35195" y="257273"/>
                    <a:pt x="21456" y="243535"/>
                  </a:cubicBezTo>
                  <a:cubicBezTo>
                    <a:pt x="7718" y="229796"/>
                    <a:pt x="0" y="211163"/>
                    <a:pt x="0" y="191734"/>
                  </a:cubicBezTo>
                  <a:lnTo>
                    <a:pt x="0" y="73257"/>
                  </a:lnTo>
                  <a:cubicBezTo>
                    <a:pt x="0" y="53828"/>
                    <a:pt x="7718" y="35195"/>
                    <a:pt x="21456" y="21456"/>
                  </a:cubicBezTo>
                  <a:cubicBezTo>
                    <a:pt x="35195" y="7718"/>
                    <a:pt x="53828" y="0"/>
                    <a:pt x="73257" y="0"/>
                  </a:cubicBezTo>
                  <a:close/>
                </a:path>
              </a:pathLst>
            </a:custGeom>
            <a:solidFill>
              <a:srgbClr val="0345E4"/>
            </a:solidFill>
          </p:spPr>
        </p:sp>
        <p:sp>
          <p:nvSpPr>
            <p:cNvPr name="TextBox 9" id="9"/>
            <p:cNvSpPr txBox="true"/>
            <p:nvPr/>
          </p:nvSpPr>
          <p:spPr>
            <a:xfrm>
              <a:off x="0" y="-38100"/>
              <a:ext cx="1689989" cy="303091"/>
            </a:xfrm>
            <a:prstGeom prst="rect">
              <a:avLst/>
            </a:prstGeom>
          </p:spPr>
          <p:txBody>
            <a:bodyPr anchor="ctr" rtlCol="false" tIns="50800" lIns="50800" bIns="50800" rIns="50800"/>
            <a:lstStyle/>
            <a:p>
              <a:pPr algn="ctr">
                <a:lnSpc>
                  <a:spcPts val="2659"/>
                </a:lnSpc>
              </a:pPr>
            </a:p>
          </p:txBody>
        </p:sp>
      </p:grpSp>
      <p:grpSp>
        <p:nvGrpSpPr>
          <p:cNvPr name="Group 10" id="10"/>
          <p:cNvGrpSpPr>
            <a:grpSpLocks noChangeAspect="true"/>
          </p:cNvGrpSpPr>
          <p:nvPr/>
        </p:nvGrpSpPr>
        <p:grpSpPr>
          <a:xfrm rot="0">
            <a:off x="8148424" y="1925243"/>
            <a:ext cx="2173071" cy="2173071"/>
            <a:chOff x="0" y="0"/>
            <a:chExt cx="14840029" cy="14840029"/>
          </a:xfrm>
        </p:grpSpPr>
        <p:sp>
          <p:nvSpPr>
            <p:cNvPr name="Freeform 11" id="1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12" id="1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13" id="1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3"/>
              <a:stretch>
                <a:fillRect l="-11687" t="-14954" r="-20123" b="-17446"/>
              </a:stretch>
            </a:blipFill>
          </p:spPr>
        </p:sp>
      </p:grpSp>
      <p:grpSp>
        <p:nvGrpSpPr>
          <p:cNvPr name="Group 14" id="14"/>
          <p:cNvGrpSpPr/>
          <p:nvPr/>
        </p:nvGrpSpPr>
        <p:grpSpPr>
          <a:xfrm rot="0">
            <a:off x="11871033" y="1749525"/>
            <a:ext cx="4027822" cy="523980"/>
            <a:chOff x="0" y="0"/>
            <a:chExt cx="3273848" cy="425895"/>
          </a:xfrm>
        </p:grpSpPr>
        <p:sp>
          <p:nvSpPr>
            <p:cNvPr name="Freeform 15" id="15"/>
            <p:cNvSpPr/>
            <p:nvPr/>
          </p:nvSpPr>
          <p:spPr>
            <a:xfrm flipH="false" flipV="false" rot="0">
              <a:off x="0" y="0"/>
              <a:ext cx="3273848" cy="425895"/>
            </a:xfrm>
            <a:custGeom>
              <a:avLst/>
              <a:gdLst/>
              <a:ahLst/>
              <a:cxnLst/>
              <a:rect r="r" b="b" t="t" l="l"/>
              <a:pathLst>
                <a:path h="425895" w="3273848">
                  <a:moveTo>
                    <a:pt x="3070648" y="0"/>
                  </a:moveTo>
                  <a:cubicBezTo>
                    <a:pt x="3182872" y="0"/>
                    <a:pt x="3273848" y="95340"/>
                    <a:pt x="3273848" y="212948"/>
                  </a:cubicBezTo>
                  <a:cubicBezTo>
                    <a:pt x="3273848" y="330556"/>
                    <a:pt x="3182872" y="425895"/>
                    <a:pt x="3070648"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16" id="16"/>
            <p:cNvSpPr txBox="true"/>
            <p:nvPr/>
          </p:nvSpPr>
          <p:spPr>
            <a:xfrm>
              <a:off x="0" y="-28575"/>
              <a:ext cx="3273848"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Đặc điểm &amp; khả năng mở rộng</a:t>
              </a:r>
            </a:p>
          </p:txBody>
        </p:sp>
      </p:grpSp>
      <p:grpSp>
        <p:nvGrpSpPr>
          <p:cNvPr name="Group 17" id="17"/>
          <p:cNvGrpSpPr/>
          <p:nvPr/>
        </p:nvGrpSpPr>
        <p:grpSpPr>
          <a:xfrm rot="0">
            <a:off x="10510588" y="2386874"/>
            <a:ext cx="6845153" cy="1277120"/>
            <a:chOff x="0" y="0"/>
            <a:chExt cx="2303360" cy="429745"/>
          </a:xfrm>
        </p:grpSpPr>
        <p:sp>
          <p:nvSpPr>
            <p:cNvPr name="Freeform 18" id="18"/>
            <p:cNvSpPr/>
            <p:nvPr/>
          </p:nvSpPr>
          <p:spPr>
            <a:xfrm flipH="false" flipV="false" rot="0">
              <a:off x="0" y="0"/>
              <a:ext cx="2303360" cy="429745"/>
            </a:xfrm>
            <a:custGeom>
              <a:avLst/>
              <a:gdLst/>
              <a:ahLst/>
              <a:cxnLst/>
              <a:rect r="r" b="b" t="t" l="l"/>
              <a:pathLst>
                <a:path h="429745" w="2303360">
                  <a:moveTo>
                    <a:pt x="57681" y="0"/>
                  </a:moveTo>
                  <a:lnTo>
                    <a:pt x="2245678" y="0"/>
                  </a:lnTo>
                  <a:cubicBezTo>
                    <a:pt x="2277535" y="0"/>
                    <a:pt x="2303360" y="25825"/>
                    <a:pt x="2303360" y="57681"/>
                  </a:cubicBezTo>
                  <a:lnTo>
                    <a:pt x="2303360" y="372063"/>
                  </a:lnTo>
                  <a:cubicBezTo>
                    <a:pt x="2303360" y="403920"/>
                    <a:pt x="2277535" y="429745"/>
                    <a:pt x="2245678" y="429745"/>
                  </a:cubicBezTo>
                  <a:lnTo>
                    <a:pt x="57681" y="429745"/>
                  </a:lnTo>
                  <a:cubicBezTo>
                    <a:pt x="25825" y="429745"/>
                    <a:pt x="0" y="403920"/>
                    <a:pt x="0" y="372063"/>
                  </a:cubicBezTo>
                  <a:lnTo>
                    <a:pt x="0" y="57681"/>
                  </a:lnTo>
                  <a:cubicBezTo>
                    <a:pt x="0" y="25825"/>
                    <a:pt x="25825" y="0"/>
                    <a:pt x="57681" y="0"/>
                  </a:cubicBezTo>
                  <a:close/>
                </a:path>
              </a:pathLst>
            </a:custGeom>
            <a:solidFill>
              <a:srgbClr val="E8ECEC"/>
            </a:solidFill>
          </p:spPr>
        </p:sp>
        <p:sp>
          <p:nvSpPr>
            <p:cNvPr name="TextBox 19" id="19"/>
            <p:cNvSpPr txBox="true"/>
            <p:nvPr/>
          </p:nvSpPr>
          <p:spPr>
            <a:xfrm>
              <a:off x="0" y="-38100"/>
              <a:ext cx="2303360" cy="467845"/>
            </a:xfrm>
            <a:prstGeom prst="rect">
              <a:avLst/>
            </a:prstGeom>
          </p:spPr>
          <p:txBody>
            <a:bodyPr anchor="ctr" rtlCol="false" tIns="50800" lIns="50800" bIns="50800" rIns="50800"/>
            <a:lstStyle/>
            <a:p>
              <a:pPr algn="ctr">
                <a:lnSpc>
                  <a:spcPts val="2659"/>
                </a:lnSpc>
              </a:pPr>
            </a:p>
          </p:txBody>
        </p:sp>
      </p:grpSp>
      <p:grpSp>
        <p:nvGrpSpPr>
          <p:cNvPr name="Group 20" id="20"/>
          <p:cNvGrpSpPr>
            <a:grpSpLocks noChangeAspect="true"/>
          </p:cNvGrpSpPr>
          <p:nvPr/>
        </p:nvGrpSpPr>
        <p:grpSpPr>
          <a:xfrm rot="0">
            <a:off x="8148424" y="4523470"/>
            <a:ext cx="2173071" cy="2173071"/>
            <a:chOff x="0" y="0"/>
            <a:chExt cx="14840029" cy="14840029"/>
          </a:xfrm>
        </p:grpSpPr>
        <p:sp>
          <p:nvSpPr>
            <p:cNvPr name="Freeform 21" id="2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22" id="2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23" id="2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4"/>
              <a:stretch>
                <a:fillRect l="-35885" t="-8921" r="-38866" b="-786"/>
              </a:stretch>
            </a:blipFill>
          </p:spPr>
        </p:sp>
      </p:grpSp>
      <p:grpSp>
        <p:nvGrpSpPr>
          <p:cNvPr name="Group 24" id="24"/>
          <p:cNvGrpSpPr/>
          <p:nvPr/>
        </p:nvGrpSpPr>
        <p:grpSpPr>
          <a:xfrm rot="0">
            <a:off x="12212548" y="4241189"/>
            <a:ext cx="3344792" cy="523980"/>
            <a:chOff x="0" y="0"/>
            <a:chExt cx="2718676" cy="425895"/>
          </a:xfrm>
        </p:grpSpPr>
        <p:sp>
          <p:nvSpPr>
            <p:cNvPr name="Freeform 25" id="25"/>
            <p:cNvSpPr/>
            <p:nvPr/>
          </p:nvSpPr>
          <p:spPr>
            <a:xfrm flipH="false" flipV="false" rot="0">
              <a:off x="0" y="0"/>
              <a:ext cx="2718676" cy="425895"/>
            </a:xfrm>
            <a:custGeom>
              <a:avLst/>
              <a:gdLst/>
              <a:ahLst/>
              <a:cxnLst/>
              <a:rect r="r" b="b" t="t" l="l"/>
              <a:pathLst>
                <a:path h="425895" w="2718676">
                  <a:moveTo>
                    <a:pt x="2515476" y="0"/>
                  </a:moveTo>
                  <a:cubicBezTo>
                    <a:pt x="2627700" y="0"/>
                    <a:pt x="2718676" y="95340"/>
                    <a:pt x="2718676" y="212948"/>
                  </a:cubicBezTo>
                  <a:cubicBezTo>
                    <a:pt x="2718676" y="330556"/>
                    <a:pt x="2627700" y="425895"/>
                    <a:pt x="2515476" y="425895"/>
                  </a:cubicBezTo>
                  <a:lnTo>
                    <a:pt x="203200" y="425895"/>
                  </a:lnTo>
                  <a:cubicBezTo>
                    <a:pt x="90976" y="425895"/>
                    <a:pt x="0" y="330556"/>
                    <a:pt x="0" y="212948"/>
                  </a:cubicBezTo>
                  <a:cubicBezTo>
                    <a:pt x="0" y="95340"/>
                    <a:pt x="90976" y="0"/>
                    <a:pt x="203200" y="0"/>
                  </a:cubicBezTo>
                  <a:close/>
                </a:path>
              </a:pathLst>
            </a:custGeom>
            <a:solidFill>
              <a:srgbClr val="0345E4"/>
            </a:solidFill>
          </p:spPr>
        </p:sp>
        <p:sp>
          <p:nvSpPr>
            <p:cNvPr name="TextBox 26" id="26"/>
            <p:cNvSpPr txBox="true"/>
            <p:nvPr/>
          </p:nvSpPr>
          <p:spPr>
            <a:xfrm>
              <a:off x="0" y="-28575"/>
              <a:ext cx="2718676" cy="454470"/>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Mô hình xử lý hệ thống</a:t>
              </a:r>
            </a:p>
          </p:txBody>
        </p:sp>
      </p:grpSp>
      <p:grpSp>
        <p:nvGrpSpPr>
          <p:cNvPr name="Group 27" id="27"/>
          <p:cNvGrpSpPr/>
          <p:nvPr/>
        </p:nvGrpSpPr>
        <p:grpSpPr>
          <a:xfrm rot="0">
            <a:off x="10506127" y="4869944"/>
            <a:ext cx="6849614" cy="1463837"/>
            <a:chOff x="0" y="0"/>
            <a:chExt cx="2304861" cy="492574"/>
          </a:xfrm>
        </p:grpSpPr>
        <p:sp>
          <p:nvSpPr>
            <p:cNvPr name="Freeform 28" id="28"/>
            <p:cNvSpPr/>
            <p:nvPr/>
          </p:nvSpPr>
          <p:spPr>
            <a:xfrm flipH="false" flipV="false" rot="0">
              <a:off x="0" y="0"/>
              <a:ext cx="2304861" cy="492574"/>
            </a:xfrm>
            <a:custGeom>
              <a:avLst/>
              <a:gdLst/>
              <a:ahLst/>
              <a:cxnLst/>
              <a:rect r="r" b="b" t="t" l="l"/>
              <a:pathLst>
                <a:path h="492574" w="2304861">
                  <a:moveTo>
                    <a:pt x="57644" y="0"/>
                  </a:moveTo>
                  <a:lnTo>
                    <a:pt x="2247217" y="0"/>
                  </a:lnTo>
                  <a:cubicBezTo>
                    <a:pt x="2279053" y="0"/>
                    <a:pt x="2304861" y="25808"/>
                    <a:pt x="2304861" y="57644"/>
                  </a:cubicBezTo>
                  <a:lnTo>
                    <a:pt x="2304861" y="434930"/>
                  </a:lnTo>
                  <a:cubicBezTo>
                    <a:pt x="2304861" y="466766"/>
                    <a:pt x="2279053" y="492574"/>
                    <a:pt x="2247217" y="492574"/>
                  </a:cubicBezTo>
                  <a:lnTo>
                    <a:pt x="57644" y="492574"/>
                  </a:lnTo>
                  <a:cubicBezTo>
                    <a:pt x="25808" y="492574"/>
                    <a:pt x="0" y="466766"/>
                    <a:pt x="0" y="434930"/>
                  </a:cubicBezTo>
                  <a:lnTo>
                    <a:pt x="0" y="57644"/>
                  </a:lnTo>
                  <a:cubicBezTo>
                    <a:pt x="0" y="25808"/>
                    <a:pt x="25808" y="0"/>
                    <a:pt x="57644" y="0"/>
                  </a:cubicBezTo>
                  <a:close/>
                </a:path>
              </a:pathLst>
            </a:custGeom>
            <a:solidFill>
              <a:srgbClr val="E8ECEC"/>
            </a:solidFill>
          </p:spPr>
        </p:sp>
        <p:sp>
          <p:nvSpPr>
            <p:cNvPr name="TextBox 29" id="29"/>
            <p:cNvSpPr txBox="true"/>
            <p:nvPr/>
          </p:nvSpPr>
          <p:spPr>
            <a:xfrm>
              <a:off x="0" y="-38100"/>
              <a:ext cx="2304861" cy="530674"/>
            </a:xfrm>
            <a:prstGeom prst="rect">
              <a:avLst/>
            </a:prstGeom>
          </p:spPr>
          <p:txBody>
            <a:bodyPr anchor="ctr" rtlCol="false" tIns="50800" lIns="50800" bIns="50800" rIns="50800"/>
            <a:lstStyle/>
            <a:p>
              <a:pPr algn="ctr">
                <a:lnSpc>
                  <a:spcPts val="2659"/>
                </a:lnSpc>
              </a:pPr>
            </a:p>
          </p:txBody>
        </p:sp>
      </p:grpSp>
      <p:grpSp>
        <p:nvGrpSpPr>
          <p:cNvPr name="Group 30" id="30"/>
          <p:cNvGrpSpPr>
            <a:grpSpLocks noChangeAspect="true"/>
          </p:cNvGrpSpPr>
          <p:nvPr/>
        </p:nvGrpSpPr>
        <p:grpSpPr>
          <a:xfrm rot="0">
            <a:off x="8148424" y="6965108"/>
            <a:ext cx="2173071" cy="2173071"/>
            <a:chOff x="0" y="0"/>
            <a:chExt cx="14840029" cy="14840029"/>
          </a:xfrm>
        </p:grpSpPr>
        <p:sp>
          <p:nvSpPr>
            <p:cNvPr name="Freeform 31" id="31"/>
            <p:cNvSpPr/>
            <p:nvPr/>
          </p:nvSpPr>
          <p:spPr>
            <a:xfrm flipH="false" flipV="false" rot="0">
              <a:off x="-33258" y="-75"/>
              <a:ext cx="14906544" cy="14840178"/>
            </a:xfrm>
            <a:custGeom>
              <a:avLst/>
              <a:gdLst/>
              <a:ahLst/>
              <a:cxnLst/>
              <a:rect r="r" b="b" t="t" l="l"/>
              <a:pathLst>
                <a:path h="14840178" w="14906544">
                  <a:moveTo>
                    <a:pt x="7453273" y="75"/>
                  </a:moveTo>
                  <a:cubicBezTo>
                    <a:pt x="4794451" y="-11816"/>
                    <a:pt x="2332496" y="1399825"/>
                    <a:pt x="999642" y="3700470"/>
                  </a:cubicBezTo>
                  <a:cubicBezTo>
                    <a:pt x="-333213" y="6001115"/>
                    <a:pt x="-333213" y="8839064"/>
                    <a:pt x="999642" y="11139709"/>
                  </a:cubicBezTo>
                  <a:cubicBezTo>
                    <a:pt x="2332496" y="13440354"/>
                    <a:pt x="4794451" y="14851995"/>
                    <a:pt x="7453273" y="14840104"/>
                  </a:cubicBezTo>
                  <a:cubicBezTo>
                    <a:pt x="10112093" y="14851995"/>
                    <a:pt x="12574049" y="13440354"/>
                    <a:pt x="13906904" y="11139709"/>
                  </a:cubicBezTo>
                  <a:cubicBezTo>
                    <a:pt x="15239758" y="8839064"/>
                    <a:pt x="15239758" y="6001115"/>
                    <a:pt x="13906904" y="3700470"/>
                  </a:cubicBezTo>
                  <a:cubicBezTo>
                    <a:pt x="12574049" y="1399825"/>
                    <a:pt x="10112093" y="-11816"/>
                    <a:pt x="7453273" y="75"/>
                  </a:cubicBezTo>
                  <a:close/>
                </a:path>
              </a:pathLst>
            </a:custGeom>
            <a:solidFill>
              <a:srgbClr val="0345E4"/>
            </a:solidFill>
          </p:spPr>
        </p:sp>
        <p:sp>
          <p:nvSpPr>
            <p:cNvPr name="Freeform 32" id="32"/>
            <p:cNvSpPr/>
            <p:nvPr/>
          </p:nvSpPr>
          <p:spPr>
            <a:xfrm flipH="false" flipV="false" rot="0">
              <a:off x="168022" y="200309"/>
              <a:ext cx="14503985" cy="14439411"/>
            </a:xfrm>
            <a:custGeom>
              <a:avLst/>
              <a:gdLst/>
              <a:ahLst/>
              <a:cxnLst/>
              <a:rect r="r" b="b" t="t" l="l"/>
              <a:pathLst>
                <a:path h="14439411" w="14503985">
                  <a:moveTo>
                    <a:pt x="7251993" y="73"/>
                  </a:moveTo>
                  <a:cubicBezTo>
                    <a:pt x="4664974" y="-11497"/>
                    <a:pt x="2269506" y="1362022"/>
                    <a:pt x="972645" y="3600537"/>
                  </a:cubicBezTo>
                  <a:cubicBezTo>
                    <a:pt x="-324215" y="5839051"/>
                    <a:pt x="-324215" y="8600360"/>
                    <a:pt x="972645" y="10838875"/>
                  </a:cubicBezTo>
                  <a:cubicBezTo>
                    <a:pt x="2269506" y="13077389"/>
                    <a:pt x="4664974" y="14450908"/>
                    <a:pt x="7251993" y="14439338"/>
                  </a:cubicBezTo>
                  <a:cubicBezTo>
                    <a:pt x="9839011" y="14450908"/>
                    <a:pt x="12234479" y="13077389"/>
                    <a:pt x="13531340" y="10838875"/>
                  </a:cubicBezTo>
                  <a:cubicBezTo>
                    <a:pt x="14828201" y="8600360"/>
                    <a:pt x="14828201" y="5839051"/>
                    <a:pt x="13531340" y="3600537"/>
                  </a:cubicBezTo>
                  <a:cubicBezTo>
                    <a:pt x="12234479" y="1362022"/>
                    <a:pt x="9839011" y="-11497"/>
                    <a:pt x="7251993" y="73"/>
                  </a:cubicBezTo>
                  <a:close/>
                </a:path>
              </a:pathLst>
            </a:custGeom>
            <a:solidFill>
              <a:srgbClr val="0345E4"/>
            </a:solidFill>
          </p:spPr>
        </p:sp>
        <p:sp>
          <p:nvSpPr>
            <p:cNvPr name="Freeform 33" id="33"/>
            <p:cNvSpPr/>
            <p:nvPr/>
          </p:nvSpPr>
          <p:spPr>
            <a:xfrm flipH="false" flipV="false" rot="0">
              <a:off x="531276" y="561946"/>
              <a:ext cx="13777477" cy="13716137"/>
            </a:xfrm>
            <a:custGeom>
              <a:avLst/>
              <a:gdLst/>
              <a:ahLst/>
              <a:cxnLst/>
              <a:rect r="r" b="b" t="t" l="l"/>
              <a:pathLst>
                <a:path h="13716137" w="13777477">
                  <a:moveTo>
                    <a:pt x="6888739" y="68"/>
                  </a:moveTo>
                  <a:cubicBezTo>
                    <a:pt x="4431305" y="-10922"/>
                    <a:pt x="2155826" y="1293797"/>
                    <a:pt x="923925" y="3420184"/>
                  </a:cubicBezTo>
                  <a:cubicBezTo>
                    <a:pt x="-307975" y="5546571"/>
                    <a:pt x="-307975" y="8169565"/>
                    <a:pt x="923925" y="10295952"/>
                  </a:cubicBezTo>
                  <a:cubicBezTo>
                    <a:pt x="2155826" y="12422339"/>
                    <a:pt x="4431305" y="13727058"/>
                    <a:pt x="6888739" y="13716068"/>
                  </a:cubicBezTo>
                  <a:cubicBezTo>
                    <a:pt x="9346172" y="13727058"/>
                    <a:pt x="11621651" y="12422339"/>
                    <a:pt x="12853552" y="10295952"/>
                  </a:cubicBezTo>
                  <a:cubicBezTo>
                    <a:pt x="14085452" y="8169565"/>
                    <a:pt x="14085452" y="5546571"/>
                    <a:pt x="12853552" y="3420184"/>
                  </a:cubicBezTo>
                  <a:cubicBezTo>
                    <a:pt x="11621651" y="1293797"/>
                    <a:pt x="9346172" y="-10922"/>
                    <a:pt x="6888739" y="68"/>
                  </a:cubicBezTo>
                  <a:close/>
                </a:path>
              </a:pathLst>
            </a:custGeom>
            <a:blipFill>
              <a:blip r:embed="rId5"/>
              <a:stretch>
                <a:fillRect l="-108519" t="-51648" r="-30956" b="-149035"/>
              </a:stretch>
            </a:blipFill>
          </p:spPr>
        </p:sp>
      </p:grpSp>
      <p:grpSp>
        <p:nvGrpSpPr>
          <p:cNvPr name="Group 34" id="34"/>
          <p:cNvGrpSpPr/>
          <p:nvPr/>
        </p:nvGrpSpPr>
        <p:grpSpPr>
          <a:xfrm rot="0">
            <a:off x="11643561" y="6767806"/>
            <a:ext cx="4746716" cy="538859"/>
            <a:chOff x="0" y="0"/>
            <a:chExt cx="3858171" cy="437989"/>
          </a:xfrm>
        </p:grpSpPr>
        <p:sp>
          <p:nvSpPr>
            <p:cNvPr name="Freeform 35" id="35"/>
            <p:cNvSpPr/>
            <p:nvPr/>
          </p:nvSpPr>
          <p:spPr>
            <a:xfrm flipH="false" flipV="false" rot="0">
              <a:off x="0" y="0"/>
              <a:ext cx="3858171" cy="437989"/>
            </a:xfrm>
            <a:custGeom>
              <a:avLst/>
              <a:gdLst/>
              <a:ahLst/>
              <a:cxnLst/>
              <a:rect r="r" b="b" t="t" l="l"/>
              <a:pathLst>
                <a:path h="437989" w="3858171">
                  <a:moveTo>
                    <a:pt x="3654971" y="0"/>
                  </a:moveTo>
                  <a:cubicBezTo>
                    <a:pt x="3767196" y="0"/>
                    <a:pt x="3858171" y="98047"/>
                    <a:pt x="3858171" y="218994"/>
                  </a:cubicBezTo>
                  <a:cubicBezTo>
                    <a:pt x="3858171" y="339942"/>
                    <a:pt x="3767196" y="437989"/>
                    <a:pt x="3654971" y="437989"/>
                  </a:cubicBezTo>
                  <a:lnTo>
                    <a:pt x="203200" y="437989"/>
                  </a:lnTo>
                  <a:cubicBezTo>
                    <a:pt x="90976" y="437989"/>
                    <a:pt x="0" y="339942"/>
                    <a:pt x="0" y="218994"/>
                  </a:cubicBezTo>
                  <a:cubicBezTo>
                    <a:pt x="0" y="98047"/>
                    <a:pt x="90976" y="0"/>
                    <a:pt x="203200" y="0"/>
                  </a:cubicBezTo>
                  <a:close/>
                </a:path>
              </a:pathLst>
            </a:custGeom>
            <a:solidFill>
              <a:srgbClr val="0345E4"/>
            </a:solidFill>
          </p:spPr>
        </p:sp>
        <p:sp>
          <p:nvSpPr>
            <p:cNvPr name="TextBox 36" id="36"/>
            <p:cNvSpPr txBox="true"/>
            <p:nvPr/>
          </p:nvSpPr>
          <p:spPr>
            <a:xfrm>
              <a:off x="0" y="-28575"/>
              <a:ext cx="3858171" cy="466564"/>
            </a:xfrm>
            <a:prstGeom prst="rect">
              <a:avLst/>
            </a:prstGeom>
          </p:spPr>
          <p:txBody>
            <a:bodyPr anchor="ctr" rtlCol="false" tIns="50800" lIns="50800" bIns="50800" rIns="50800"/>
            <a:lstStyle/>
            <a:p>
              <a:pPr algn="ctr">
                <a:lnSpc>
                  <a:spcPts val="2799"/>
                </a:lnSpc>
              </a:pPr>
              <a:r>
                <a:rPr lang="en-US" b="true" sz="1999">
                  <a:solidFill>
                    <a:srgbClr val="FFFFFF"/>
                  </a:solidFill>
                  <a:latin typeface="Garet Bold"/>
                  <a:ea typeface="Garet Bold"/>
                  <a:cs typeface="Garet Bold"/>
                  <a:sym typeface="Garet Bold"/>
                </a:rPr>
                <a:t>Phân quyền và quản lý người dùng</a:t>
              </a:r>
            </a:p>
          </p:txBody>
        </p:sp>
      </p:grpSp>
      <p:grpSp>
        <p:nvGrpSpPr>
          <p:cNvPr name="Group 37" id="37"/>
          <p:cNvGrpSpPr/>
          <p:nvPr/>
        </p:nvGrpSpPr>
        <p:grpSpPr>
          <a:xfrm rot="0">
            <a:off x="10506127" y="7411440"/>
            <a:ext cx="6849614" cy="1496519"/>
            <a:chOff x="0" y="0"/>
            <a:chExt cx="2304861" cy="503571"/>
          </a:xfrm>
        </p:grpSpPr>
        <p:sp>
          <p:nvSpPr>
            <p:cNvPr name="Freeform 38" id="38"/>
            <p:cNvSpPr/>
            <p:nvPr/>
          </p:nvSpPr>
          <p:spPr>
            <a:xfrm flipH="false" flipV="false" rot="0">
              <a:off x="0" y="0"/>
              <a:ext cx="2304861" cy="503571"/>
            </a:xfrm>
            <a:custGeom>
              <a:avLst/>
              <a:gdLst/>
              <a:ahLst/>
              <a:cxnLst/>
              <a:rect r="r" b="b" t="t" l="l"/>
              <a:pathLst>
                <a:path h="503571" w="2304861">
                  <a:moveTo>
                    <a:pt x="57644" y="0"/>
                  </a:moveTo>
                  <a:lnTo>
                    <a:pt x="2247217" y="0"/>
                  </a:lnTo>
                  <a:cubicBezTo>
                    <a:pt x="2279053" y="0"/>
                    <a:pt x="2304861" y="25808"/>
                    <a:pt x="2304861" y="57644"/>
                  </a:cubicBezTo>
                  <a:lnTo>
                    <a:pt x="2304861" y="445927"/>
                  </a:lnTo>
                  <a:cubicBezTo>
                    <a:pt x="2304861" y="477763"/>
                    <a:pt x="2279053" y="503571"/>
                    <a:pt x="2247217" y="503571"/>
                  </a:cubicBezTo>
                  <a:lnTo>
                    <a:pt x="57644" y="503571"/>
                  </a:lnTo>
                  <a:cubicBezTo>
                    <a:pt x="25808" y="503571"/>
                    <a:pt x="0" y="477763"/>
                    <a:pt x="0" y="445927"/>
                  </a:cubicBezTo>
                  <a:lnTo>
                    <a:pt x="0" y="57644"/>
                  </a:lnTo>
                  <a:cubicBezTo>
                    <a:pt x="0" y="25808"/>
                    <a:pt x="25808" y="0"/>
                    <a:pt x="57644" y="0"/>
                  </a:cubicBezTo>
                  <a:close/>
                </a:path>
              </a:pathLst>
            </a:custGeom>
            <a:solidFill>
              <a:srgbClr val="E8ECEC"/>
            </a:solidFill>
          </p:spPr>
        </p:sp>
        <p:sp>
          <p:nvSpPr>
            <p:cNvPr name="TextBox 39" id="39"/>
            <p:cNvSpPr txBox="true"/>
            <p:nvPr/>
          </p:nvSpPr>
          <p:spPr>
            <a:xfrm>
              <a:off x="0" y="-38100"/>
              <a:ext cx="2304861" cy="541671"/>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706174" y="2841129"/>
            <a:ext cx="5952745" cy="1381010"/>
            <a:chOff x="0" y="0"/>
            <a:chExt cx="2051757" cy="475998"/>
          </a:xfrm>
        </p:grpSpPr>
        <p:sp>
          <p:nvSpPr>
            <p:cNvPr name="Freeform 41" id="41"/>
            <p:cNvSpPr/>
            <p:nvPr/>
          </p:nvSpPr>
          <p:spPr>
            <a:xfrm flipH="false" flipV="false" rot="0">
              <a:off x="0" y="0"/>
              <a:ext cx="2051757" cy="475998"/>
            </a:xfrm>
            <a:custGeom>
              <a:avLst/>
              <a:gdLst/>
              <a:ahLst/>
              <a:cxnLst/>
              <a:rect r="r" b="b" t="t" l="l"/>
              <a:pathLst>
                <a:path h="475998" w="2051757">
                  <a:moveTo>
                    <a:pt x="66329" y="0"/>
                  </a:moveTo>
                  <a:lnTo>
                    <a:pt x="1985428" y="0"/>
                  </a:lnTo>
                  <a:cubicBezTo>
                    <a:pt x="2022060" y="0"/>
                    <a:pt x="2051757" y="29696"/>
                    <a:pt x="2051757" y="66329"/>
                  </a:cubicBezTo>
                  <a:lnTo>
                    <a:pt x="2051757" y="409670"/>
                  </a:lnTo>
                  <a:cubicBezTo>
                    <a:pt x="2051757" y="446302"/>
                    <a:pt x="2022060" y="475998"/>
                    <a:pt x="1985428" y="475998"/>
                  </a:cubicBezTo>
                  <a:lnTo>
                    <a:pt x="66329" y="475998"/>
                  </a:lnTo>
                  <a:cubicBezTo>
                    <a:pt x="48737" y="475998"/>
                    <a:pt x="31866" y="469010"/>
                    <a:pt x="19427" y="456571"/>
                  </a:cubicBezTo>
                  <a:cubicBezTo>
                    <a:pt x="6988" y="444132"/>
                    <a:pt x="0" y="427261"/>
                    <a:pt x="0" y="409670"/>
                  </a:cubicBezTo>
                  <a:lnTo>
                    <a:pt x="0" y="66329"/>
                  </a:lnTo>
                  <a:cubicBezTo>
                    <a:pt x="0" y="29696"/>
                    <a:pt x="29696" y="0"/>
                    <a:pt x="66329" y="0"/>
                  </a:cubicBezTo>
                  <a:close/>
                </a:path>
              </a:pathLst>
            </a:custGeom>
            <a:solidFill>
              <a:srgbClr val="E8ECEC"/>
            </a:solidFill>
          </p:spPr>
        </p:sp>
        <p:sp>
          <p:nvSpPr>
            <p:cNvPr name="TextBox 42" id="42"/>
            <p:cNvSpPr txBox="true"/>
            <p:nvPr/>
          </p:nvSpPr>
          <p:spPr>
            <a:xfrm>
              <a:off x="0" y="-38100"/>
              <a:ext cx="2051757" cy="514098"/>
            </a:xfrm>
            <a:prstGeom prst="rect">
              <a:avLst/>
            </a:prstGeom>
          </p:spPr>
          <p:txBody>
            <a:bodyPr anchor="ctr" rtlCol="false" tIns="50800" lIns="50800" bIns="50800" rIns="50800"/>
            <a:lstStyle/>
            <a:p>
              <a:pPr algn="ctr">
                <a:lnSpc>
                  <a:spcPts val="2659"/>
                </a:lnSpc>
              </a:pPr>
            </a:p>
          </p:txBody>
        </p:sp>
      </p:grpSp>
      <p:sp>
        <p:nvSpPr>
          <p:cNvPr name="Freeform 43" id="43"/>
          <p:cNvSpPr/>
          <p:nvPr/>
        </p:nvSpPr>
        <p:spPr>
          <a:xfrm flipH="false" flipV="false" rot="0">
            <a:off x="352308" y="4485124"/>
            <a:ext cx="6529274" cy="4422835"/>
          </a:xfrm>
          <a:custGeom>
            <a:avLst/>
            <a:gdLst/>
            <a:ahLst/>
            <a:cxnLst/>
            <a:rect r="r" b="b" t="t" l="l"/>
            <a:pathLst>
              <a:path h="4422835" w="6529274">
                <a:moveTo>
                  <a:pt x="0" y="0"/>
                </a:moveTo>
                <a:lnTo>
                  <a:pt x="6529274" y="0"/>
                </a:lnTo>
                <a:lnTo>
                  <a:pt x="6529274" y="4422835"/>
                </a:lnTo>
                <a:lnTo>
                  <a:pt x="0" y="4422835"/>
                </a:lnTo>
                <a:lnTo>
                  <a:pt x="0" y="0"/>
                </a:lnTo>
                <a:close/>
              </a:path>
            </a:pathLst>
          </a:custGeom>
          <a:blipFill>
            <a:blip r:embed="rId6"/>
            <a:stretch>
              <a:fillRect l="-14127" t="0" r="-14898" b="0"/>
            </a:stretch>
          </a:blipFill>
        </p:spPr>
      </p:sp>
      <p:sp>
        <p:nvSpPr>
          <p:cNvPr name="TextBox 44" id="44"/>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45" id="45"/>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6</a:t>
            </a:r>
          </a:p>
        </p:txBody>
      </p:sp>
      <p:sp>
        <p:nvSpPr>
          <p:cNvPr name="TextBox 46" id="46"/>
          <p:cNvSpPr txBox="true"/>
          <p:nvPr/>
        </p:nvSpPr>
        <p:spPr>
          <a:xfrm rot="0">
            <a:off x="1028700" y="615069"/>
            <a:ext cx="8115300"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2. CƠ SỞ LÝ THUYẾT</a:t>
            </a:r>
          </a:p>
        </p:txBody>
      </p:sp>
      <p:sp>
        <p:nvSpPr>
          <p:cNvPr name="TextBox 47" id="47"/>
          <p:cNvSpPr txBox="true"/>
          <p:nvPr/>
        </p:nvSpPr>
        <p:spPr>
          <a:xfrm rot="0">
            <a:off x="1208832" y="1991918"/>
            <a:ext cx="5023097" cy="506025"/>
          </a:xfrm>
          <a:prstGeom prst="rect">
            <a:avLst/>
          </a:prstGeom>
        </p:spPr>
        <p:txBody>
          <a:bodyPr anchor="t" rtlCol="false" tIns="0" lIns="0" bIns="0" rIns="0">
            <a:spAutoFit/>
          </a:bodyPr>
          <a:lstStyle/>
          <a:p>
            <a:pPr algn="ctr">
              <a:lnSpc>
                <a:spcPts val="4133"/>
              </a:lnSpc>
            </a:pPr>
            <a:r>
              <a:rPr lang="en-US" b="true" sz="2952" spc="59">
                <a:solidFill>
                  <a:srgbClr val="FFFFFF"/>
                </a:solidFill>
                <a:latin typeface="Garet Bold"/>
                <a:ea typeface="Garet Bold"/>
                <a:cs typeface="Garet Bold"/>
                <a:sym typeface="Garet Bold"/>
              </a:rPr>
              <a:t>WordPress là gì ?</a:t>
            </a:r>
          </a:p>
        </p:txBody>
      </p:sp>
      <p:sp>
        <p:nvSpPr>
          <p:cNvPr name="TextBox 48" id="48"/>
          <p:cNvSpPr txBox="true"/>
          <p:nvPr/>
        </p:nvSpPr>
        <p:spPr>
          <a:xfrm rot="0">
            <a:off x="10510588" y="2558085"/>
            <a:ext cx="6748712" cy="1095670"/>
          </a:xfrm>
          <a:prstGeom prst="rect">
            <a:avLst/>
          </a:prstGeom>
        </p:spPr>
        <p:txBody>
          <a:bodyPr anchor="t" rtlCol="false" tIns="0" lIns="0" bIns="0" rIns="0">
            <a:spAutoFit/>
          </a:bodyPr>
          <a:lstStyle/>
          <a:p>
            <a:pPr algn="l" marL="414946" indent="-207473" lvl="1">
              <a:lnSpc>
                <a:spcPts val="2978"/>
              </a:lnSpc>
              <a:buFont typeface="Arial"/>
              <a:buChar char="•"/>
            </a:pPr>
            <a:r>
              <a:rPr lang="en-US" sz="1921">
                <a:solidFill>
                  <a:srgbClr val="000000"/>
                </a:solidFill>
                <a:latin typeface="Open Sans"/>
                <a:ea typeface="Open Sans"/>
                <a:cs typeface="Open Sans"/>
                <a:sym typeface="Open Sans"/>
              </a:rPr>
              <a:t>Nền tảng quản trị nội dung (CMS) phổ biến, dễ sử dụng.</a:t>
            </a:r>
          </a:p>
          <a:p>
            <a:pPr algn="l" marL="414946" indent="-207473" lvl="1">
              <a:lnSpc>
                <a:spcPts val="2978"/>
              </a:lnSpc>
              <a:buFont typeface="Arial"/>
              <a:buChar char="•"/>
            </a:pPr>
            <a:r>
              <a:rPr lang="en-US" sz="1921">
                <a:solidFill>
                  <a:srgbClr val="000000"/>
                </a:solidFill>
                <a:latin typeface="Open Sans"/>
                <a:ea typeface="Open Sans"/>
                <a:cs typeface="Open Sans"/>
                <a:sym typeface="Open Sans"/>
              </a:rPr>
              <a:t>Mở rộng tính năng linh hoạt theo nhu cầu dự án.</a:t>
            </a:r>
          </a:p>
          <a:p>
            <a:pPr algn="l" marL="0" indent="0" lvl="0">
              <a:lnSpc>
                <a:spcPts val="2978"/>
              </a:lnSpc>
            </a:pPr>
          </a:p>
        </p:txBody>
      </p:sp>
      <p:sp>
        <p:nvSpPr>
          <p:cNvPr name="TextBox 49" id="49"/>
          <p:cNvSpPr txBox="true"/>
          <p:nvPr/>
        </p:nvSpPr>
        <p:spPr>
          <a:xfrm rot="0">
            <a:off x="10647905" y="5038358"/>
            <a:ext cx="6804276" cy="1033440"/>
          </a:xfrm>
          <a:prstGeom prst="rect">
            <a:avLst/>
          </a:prstGeom>
        </p:spPr>
        <p:txBody>
          <a:bodyPr anchor="t" rtlCol="false" tIns="0" lIns="0" bIns="0" rIns="0">
            <a:spAutoFit/>
          </a:bodyPr>
          <a:lstStyle/>
          <a:p>
            <a:pPr algn="just" marL="393358" indent="-196679" lvl="1">
              <a:lnSpc>
                <a:spcPts val="2824"/>
              </a:lnSpc>
              <a:buFont typeface="Arial"/>
              <a:buChar char="•"/>
            </a:pPr>
            <a:r>
              <a:rPr lang="en-US" sz="1821">
                <a:solidFill>
                  <a:srgbClr val="000000"/>
                </a:solidFill>
                <a:latin typeface="Open Sans"/>
                <a:ea typeface="Open Sans"/>
                <a:cs typeface="Open Sans"/>
                <a:sym typeface="Open Sans"/>
              </a:rPr>
              <a:t>WordPress hoạt động theo mô hình client-server.</a:t>
            </a:r>
          </a:p>
          <a:p>
            <a:pPr algn="just" marL="393358" indent="-196679" lvl="1">
              <a:lnSpc>
                <a:spcPts val="2824"/>
              </a:lnSpc>
              <a:buFont typeface="Arial"/>
              <a:buChar char="•"/>
            </a:pPr>
            <a:r>
              <a:rPr lang="en-US" sz="1821">
                <a:solidFill>
                  <a:srgbClr val="000000"/>
                </a:solidFill>
                <a:latin typeface="Open Sans"/>
                <a:ea typeface="Open Sans"/>
                <a:cs typeface="Open Sans"/>
                <a:sym typeface="Open Sans"/>
              </a:rPr>
              <a:t>Xử lý dữ liệu từ cơ sở dữ liệu MySQL.</a:t>
            </a:r>
          </a:p>
          <a:p>
            <a:pPr algn="just" marL="393358" indent="-196679" lvl="1">
              <a:lnSpc>
                <a:spcPts val="2824"/>
              </a:lnSpc>
              <a:buFont typeface="Arial"/>
              <a:buChar char="•"/>
            </a:pPr>
            <a:r>
              <a:rPr lang="en-US" sz="1821" spc="-29">
                <a:solidFill>
                  <a:srgbClr val="000000"/>
                </a:solidFill>
                <a:latin typeface="Open Sans"/>
                <a:ea typeface="Open Sans"/>
                <a:cs typeface="Open Sans"/>
                <a:sym typeface="Open Sans"/>
              </a:rPr>
              <a:t>Giao diện, plugin và theme kết hợp tạo ra nội dung hiển thị.</a:t>
            </a:r>
          </a:p>
        </p:txBody>
      </p:sp>
      <p:sp>
        <p:nvSpPr>
          <p:cNvPr name="TextBox 50" id="50"/>
          <p:cNvSpPr txBox="true"/>
          <p:nvPr/>
        </p:nvSpPr>
        <p:spPr>
          <a:xfrm rot="0">
            <a:off x="10884298" y="7570329"/>
            <a:ext cx="6265242" cy="1095670"/>
          </a:xfrm>
          <a:prstGeom prst="rect">
            <a:avLst/>
          </a:prstGeom>
        </p:spPr>
        <p:txBody>
          <a:bodyPr anchor="t" rtlCol="false" tIns="0" lIns="0" bIns="0" rIns="0">
            <a:spAutoFit/>
          </a:bodyPr>
          <a:lstStyle/>
          <a:p>
            <a:pPr algn="just" marL="414947" indent="-207474" lvl="1">
              <a:lnSpc>
                <a:spcPts val="2979"/>
              </a:lnSpc>
              <a:buFont typeface="Arial"/>
              <a:buChar char="•"/>
            </a:pPr>
            <a:r>
              <a:rPr lang="en-US" sz="1921">
                <a:solidFill>
                  <a:srgbClr val="000000"/>
                </a:solidFill>
                <a:latin typeface="Open Sans"/>
                <a:ea typeface="Open Sans"/>
                <a:cs typeface="Open Sans"/>
                <a:sym typeface="Open Sans"/>
              </a:rPr>
              <a:t>Quản lý vai trò &amp; quyền truy cập</a:t>
            </a:r>
          </a:p>
          <a:p>
            <a:pPr algn="just" marL="414947" indent="-207474" lvl="1">
              <a:lnSpc>
                <a:spcPts val="2979"/>
              </a:lnSpc>
              <a:buFont typeface="Arial"/>
              <a:buChar char="•"/>
            </a:pPr>
            <a:r>
              <a:rPr lang="en-US" sz="1921">
                <a:solidFill>
                  <a:srgbClr val="000000"/>
                </a:solidFill>
                <a:latin typeface="Open Sans"/>
                <a:ea typeface="Open Sans"/>
                <a:cs typeface="Open Sans"/>
                <a:sym typeface="Open Sans"/>
              </a:rPr>
              <a:t>Kiểm soát thao tác người dùng theo vai trò</a:t>
            </a:r>
          </a:p>
          <a:p>
            <a:pPr algn="just" marL="414947" indent="-207474" lvl="1">
              <a:lnSpc>
                <a:spcPts val="2979"/>
              </a:lnSpc>
              <a:buFont typeface="Arial"/>
              <a:buChar char="•"/>
            </a:pPr>
            <a:r>
              <a:rPr lang="en-US" sz="1921">
                <a:solidFill>
                  <a:srgbClr val="000000"/>
                </a:solidFill>
                <a:latin typeface="Open Sans"/>
                <a:ea typeface="Open Sans"/>
                <a:cs typeface="Open Sans"/>
                <a:sym typeface="Open Sans"/>
              </a:rPr>
              <a:t>Dễ dàng thêm, sửa, xóa người dùng</a:t>
            </a:r>
          </a:p>
        </p:txBody>
      </p:sp>
      <p:sp>
        <p:nvSpPr>
          <p:cNvPr name="TextBox 51" id="51"/>
          <p:cNvSpPr txBox="true"/>
          <p:nvPr/>
        </p:nvSpPr>
        <p:spPr>
          <a:xfrm rot="0">
            <a:off x="1028700" y="2929619"/>
            <a:ext cx="5412930" cy="1206071"/>
          </a:xfrm>
          <a:prstGeom prst="rect">
            <a:avLst/>
          </a:prstGeom>
        </p:spPr>
        <p:txBody>
          <a:bodyPr anchor="t" rtlCol="false" tIns="0" lIns="0" bIns="0" rIns="0">
            <a:spAutoFit/>
          </a:bodyPr>
          <a:lstStyle/>
          <a:p>
            <a:pPr algn="just" marL="0" indent="0" lvl="0">
              <a:lnSpc>
                <a:spcPts val="2450"/>
              </a:lnSpc>
            </a:pPr>
            <a:r>
              <a:rPr lang="en-US" sz="1581">
                <a:solidFill>
                  <a:srgbClr val="000000"/>
                </a:solidFill>
                <a:latin typeface="Open Sans"/>
                <a:ea typeface="Open Sans"/>
                <a:cs typeface="Open Sans"/>
                <a:sym typeface="Open Sans"/>
              </a:rPr>
              <a:t>WordPress là hệ quản trị nội dung (CMS) mã nguồn mở, cho phép xây dựng và quản lý website dựa trên kiến trúc mở, hỗ trợ mở rộng chức năng thông qua plugin và theme.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TextBox 7" id="7"/>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7</a:t>
            </a:r>
          </a:p>
        </p:txBody>
      </p:sp>
      <p:sp>
        <p:nvSpPr>
          <p:cNvPr name="TextBox 9" id="9"/>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2. CƠ SỞ LÝ THUYẾT</a:t>
            </a:r>
          </a:p>
        </p:txBody>
      </p:sp>
      <p:sp>
        <p:nvSpPr>
          <p:cNvPr name="Freeform 10" id="10"/>
          <p:cNvSpPr/>
          <p:nvPr/>
        </p:nvSpPr>
        <p:spPr>
          <a:xfrm flipH="false" flipV="false" rot="0">
            <a:off x="1084727" y="4317187"/>
            <a:ext cx="16160895" cy="1662813"/>
          </a:xfrm>
          <a:custGeom>
            <a:avLst/>
            <a:gdLst/>
            <a:ahLst/>
            <a:cxnLst/>
            <a:rect r="r" b="b" t="t" l="l"/>
            <a:pathLst>
              <a:path h="1662813" w="16160895">
                <a:moveTo>
                  <a:pt x="0" y="0"/>
                </a:moveTo>
                <a:lnTo>
                  <a:pt x="16160895" y="0"/>
                </a:lnTo>
                <a:lnTo>
                  <a:pt x="16160895" y="1662813"/>
                </a:lnTo>
                <a:lnTo>
                  <a:pt x="0" y="16628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11" id="11"/>
          <p:cNvSpPr/>
          <p:nvPr/>
        </p:nvSpPr>
        <p:spPr>
          <a:xfrm>
            <a:off x="2861099" y="5947962"/>
            <a:ext cx="0" cy="3083653"/>
          </a:xfrm>
          <a:prstGeom prst="line">
            <a:avLst/>
          </a:prstGeom>
          <a:ln cap="flat" w="47625">
            <a:solidFill>
              <a:srgbClr val="0345E4"/>
            </a:solidFill>
            <a:prstDash val="solid"/>
            <a:headEnd type="none" len="sm" w="sm"/>
            <a:tailEnd type="oval" len="lg" w="lg"/>
          </a:ln>
        </p:spPr>
      </p:sp>
      <p:sp>
        <p:nvSpPr>
          <p:cNvPr name="AutoShape 12" id="12"/>
          <p:cNvSpPr/>
          <p:nvPr/>
        </p:nvSpPr>
        <p:spPr>
          <a:xfrm flipV="true">
            <a:off x="5948824" y="1824350"/>
            <a:ext cx="0" cy="2520850"/>
          </a:xfrm>
          <a:prstGeom prst="line">
            <a:avLst/>
          </a:prstGeom>
          <a:ln cap="flat" w="47625">
            <a:solidFill>
              <a:srgbClr val="FF0000"/>
            </a:solidFill>
            <a:prstDash val="solid"/>
            <a:headEnd type="none" len="sm" w="sm"/>
            <a:tailEnd type="oval" len="lg" w="lg"/>
          </a:ln>
        </p:spPr>
      </p:sp>
      <p:sp>
        <p:nvSpPr>
          <p:cNvPr name="AutoShape 13" id="13"/>
          <p:cNvSpPr/>
          <p:nvPr/>
        </p:nvSpPr>
        <p:spPr>
          <a:xfrm flipV="true">
            <a:off x="12301475" y="1812520"/>
            <a:ext cx="0" cy="2532680"/>
          </a:xfrm>
          <a:prstGeom prst="line">
            <a:avLst/>
          </a:prstGeom>
          <a:ln cap="flat" w="47625">
            <a:solidFill>
              <a:srgbClr val="FF0000"/>
            </a:solidFill>
            <a:prstDash val="solid"/>
            <a:headEnd type="none" len="sm" w="sm"/>
            <a:tailEnd type="oval" len="lg" w="lg"/>
          </a:ln>
        </p:spPr>
      </p:sp>
      <p:sp>
        <p:nvSpPr>
          <p:cNvPr name="AutoShape 14" id="14"/>
          <p:cNvSpPr/>
          <p:nvPr/>
        </p:nvSpPr>
        <p:spPr>
          <a:xfrm>
            <a:off x="9061678" y="5980000"/>
            <a:ext cx="0" cy="3159022"/>
          </a:xfrm>
          <a:prstGeom prst="line">
            <a:avLst/>
          </a:prstGeom>
          <a:ln cap="flat" w="47625">
            <a:solidFill>
              <a:srgbClr val="0345E4"/>
            </a:solidFill>
            <a:prstDash val="solid"/>
            <a:headEnd type="none" len="sm" w="sm"/>
            <a:tailEnd type="oval" len="lg" w="lg"/>
          </a:ln>
        </p:spPr>
      </p:sp>
      <p:grpSp>
        <p:nvGrpSpPr>
          <p:cNvPr name="Group 15" id="15"/>
          <p:cNvGrpSpPr/>
          <p:nvPr/>
        </p:nvGrpSpPr>
        <p:grpSpPr>
          <a:xfrm rot="5400000">
            <a:off x="1735526" y="2223524"/>
            <a:ext cx="1450260" cy="145026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272253" y="0"/>
                  </a:moveTo>
                  <a:lnTo>
                    <a:pt x="540547" y="0"/>
                  </a:lnTo>
                  <a:cubicBezTo>
                    <a:pt x="612753" y="0"/>
                    <a:pt x="682002" y="28684"/>
                    <a:pt x="733059" y="79741"/>
                  </a:cubicBezTo>
                  <a:cubicBezTo>
                    <a:pt x="784116" y="130798"/>
                    <a:pt x="812800" y="200047"/>
                    <a:pt x="812800" y="272253"/>
                  </a:cubicBezTo>
                  <a:lnTo>
                    <a:pt x="812800" y="540547"/>
                  </a:lnTo>
                  <a:cubicBezTo>
                    <a:pt x="812800" y="612753"/>
                    <a:pt x="784116" y="682002"/>
                    <a:pt x="733059" y="733059"/>
                  </a:cubicBezTo>
                  <a:cubicBezTo>
                    <a:pt x="682002" y="784116"/>
                    <a:pt x="612753" y="812800"/>
                    <a:pt x="540547" y="812800"/>
                  </a:cubicBezTo>
                  <a:lnTo>
                    <a:pt x="272253" y="812800"/>
                  </a:lnTo>
                  <a:cubicBezTo>
                    <a:pt x="200047" y="812800"/>
                    <a:pt x="130798" y="784116"/>
                    <a:pt x="79741" y="733059"/>
                  </a:cubicBezTo>
                  <a:cubicBezTo>
                    <a:pt x="28684" y="682002"/>
                    <a:pt x="0" y="612753"/>
                    <a:pt x="0" y="540547"/>
                  </a:cubicBezTo>
                  <a:lnTo>
                    <a:pt x="0" y="272253"/>
                  </a:lnTo>
                  <a:cubicBezTo>
                    <a:pt x="0" y="200047"/>
                    <a:pt x="28684" y="130798"/>
                    <a:pt x="79741" y="79741"/>
                  </a:cubicBezTo>
                  <a:cubicBezTo>
                    <a:pt x="130798" y="28684"/>
                    <a:pt x="200047" y="0"/>
                    <a:pt x="272253" y="0"/>
                  </a:cubicBezTo>
                  <a:close/>
                </a:path>
              </a:pathLst>
            </a:custGeom>
            <a:solidFill>
              <a:srgbClr val="0345E4">
                <a:alpha val="29804"/>
              </a:srgbClr>
            </a:solidFill>
          </p:spPr>
        </p:sp>
        <p:sp>
          <p:nvSpPr>
            <p:cNvPr name="TextBox 17" id="17"/>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5400000">
            <a:off x="2811365" y="3059057"/>
            <a:ext cx="756560" cy="75656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978899" y="4901139"/>
            <a:ext cx="1717710" cy="447285"/>
          </a:xfrm>
          <a:prstGeom prst="rect">
            <a:avLst/>
          </a:prstGeom>
        </p:spPr>
        <p:txBody>
          <a:bodyPr anchor="t" rtlCol="false" tIns="0" lIns="0" bIns="0" rIns="0">
            <a:spAutoFit/>
          </a:bodyPr>
          <a:lstStyle/>
          <a:p>
            <a:pPr algn="ctr">
              <a:lnSpc>
                <a:spcPts val="3705"/>
              </a:lnSpc>
            </a:pPr>
            <a:r>
              <a:rPr lang="en-US" sz="2646" b="true">
                <a:solidFill>
                  <a:srgbClr val="FFFFFF"/>
                </a:solidFill>
                <a:latin typeface="Garet Bold"/>
                <a:ea typeface="Garet Bold"/>
                <a:cs typeface="Garet Bold"/>
                <a:sym typeface="Garet Bold"/>
              </a:rPr>
              <a:t>NHÓM 1</a:t>
            </a:r>
          </a:p>
        </p:txBody>
      </p:sp>
      <p:sp>
        <p:nvSpPr>
          <p:cNvPr name="TextBox 22" id="22"/>
          <p:cNvSpPr txBox="true"/>
          <p:nvPr/>
        </p:nvSpPr>
        <p:spPr>
          <a:xfrm rot="0">
            <a:off x="5177213" y="4901139"/>
            <a:ext cx="1717710" cy="447285"/>
          </a:xfrm>
          <a:prstGeom prst="rect">
            <a:avLst/>
          </a:prstGeom>
        </p:spPr>
        <p:txBody>
          <a:bodyPr anchor="t" rtlCol="false" tIns="0" lIns="0" bIns="0" rIns="0">
            <a:spAutoFit/>
          </a:bodyPr>
          <a:lstStyle/>
          <a:p>
            <a:pPr algn="ctr">
              <a:lnSpc>
                <a:spcPts val="3705"/>
              </a:lnSpc>
            </a:pPr>
            <a:r>
              <a:rPr lang="en-US" sz="2646" b="true">
                <a:solidFill>
                  <a:srgbClr val="FFFFFF"/>
                </a:solidFill>
                <a:latin typeface="Garet Bold"/>
                <a:ea typeface="Garet Bold"/>
                <a:cs typeface="Garet Bold"/>
                <a:sym typeface="Garet Bold"/>
              </a:rPr>
              <a:t>NHÓM 2</a:t>
            </a:r>
          </a:p>
        </p:txBody>
      </p:sp>
      <p:sp>
        <p:nvSpPr>
          <p:cNvPr name="TextBox 23" id="23"/>
          <p:cNvSpPr txBox="true"/>
          <p:nvPr/>
        </p:nvSpPr>
        <p:spPr>
          <a:xfrm rot="0">
            <a:off x="8306319" y="4901139"/>
            <a:ext cx="1717710" cy="447285"/>
          </a:xfrm>
          <a:prstGeom prst="rect">
            <a:avLst/>
          </a:prstGeom>
        </p:spPr>
        <p:txBody>
          <a:bodyPr anchor="t" rtlCol="false" tIns="0" lIns="0" bIns="0" rIns="0">
            <a:spAutoFit/>
          </a:bodyPr>
          <a:lstStyle/>
          <a:p>
            <a:pPr algn="ctr">
              <a:lnSpc>
                <a:spcPts val="3705"/>
              </a:lnSpc>
            </a:pPr>
            <a:r>
              <a:rPr lang="en-US" sz="2646" b="true">
                <a:solidFill>
                  <a:srgbClr val="FFFFFF"/>
                </a:solidFill>
                <a:latin typeface="Garet Bold"/>
                <a:ea typeface="Garet Bold"/>
                <a:cs typeface="Garet Bold"/>
                <a:sym typeface="Garet Bold"/>
              </a:rPr>
              <a:t>NHÓM 3</a:t>
            </a:r>
          </a:p>
        </p:txBody>
      </p:sp>
      <p:sp>
        <p:nvSpPr>
          <p:cNvPr name="TextBox 24" id="24"/>
          <p:cNvSpPr txBox="true"/>
          <p:nvPr/>
        </p:nvSpPr>
        <p:spPr>
          <a:xfrm rot="0">
            <a:off x="11434043" y="4901139"/>
            <a:ext cx="1717710" cy="447285"/>
          </a:xfrm>
          <a:prstGeom prst="rect">
            <a:avLst/>
          </a:prstGeom>
        </p:spPr>
        <p:txBody>
          <a:bodyPr anchor="t" rtlCol="false" tIns="0" lIns="0" bIns="0" rIns="0">
            <a:spAutoFit/>
          </a:bodyPr>
          <a:lstStyle/>
          <a:p>
            <a:pPr algn="ctr">
              <a:lnSpc>
                <a:spcPts val="3705"/>
              </a:lnSpc>
            </a:pPr>
            <a:r>
              <a:rPr lang="en-US" sz="2646" b="true">
                <a:solidFill>
                  <a:srgbClr val="FFFFFF"/>
                </a:solidFill>
                <a:latin typeface="Garet Bold"/>
                <a:ea typeface="Garet Bold"/>
                <a:cs typeface="Garet Bold"/>
                <a:sym typeface="Garet Bold"/>
              </a:rPr>
              <a:t>NHÓM 4</a:t>
            </a:r>
          </a:p>
        </p:txBody>
      </p:sp>
      <p:sp>
        <p:nvSpPr>
          <p:cNvPr name="TextBox 25" id="25"/>
          <p:cNvSpPr txBox="true"/>
          <p:nvPr/>
        </p:nvSpPr>
        <p:spPr>
          <a:xfrm rot="0">
            <a:off x="14354267" y="4667693"/>
            <a:ext cx="2434421" cy="914177"/>
          </a:xfrm>
          <a:prstGeom prst="rect">
            <a:avLst/>
          </a:prstGeom>
        </p:spPr>
        <p:txBody>
          <a:bodyPr anchor="t" rtlCol="false" tIns="0" lIns="0" bIns="0" rIns="0">
            <a:spAutoFit/>
          </a:bodyPr>
          <a:lstStyle/>
          <a:p>
            <a:pPr algn="ctr">
              <a:lnSpc>
                <a:spcPts val="3705"/>
              </a:lnSpc>
            </a:pPr>
            <a:r>
              <a:rPr lang="en-US" b="true" sz="2646">
                <a:solidFill>
                  <a:srgbClr val="FFFFFF"/>
                </a:solidFill>
                <a:latin typeface="Garet Bold"/>
                <a:ea typeface="Garet Bold"/>
                <a:cs typeface="Garet Bold"/>
                <a:sym typeface="Garet Bold"/>
              </a:rPr>
              <a:t>CHỨC NĂNG PHONG THỦY</a:t>
            </a:r>
          </a:p>
        </p:txBody>
      </p:sp>
      <p:sp>
        <p:nvSpPr>
          <p:cNvPr name="TextBox 26" id="26"/>
          <p:cNvSpPr txBox="true"/>
          <p:nvPr/>
        </p:nvSpPr>
        <p:spPr>
          <a:xfrm rot="0">
            <a:off x="6251765" y="2524765"/>
            <a:ext cx="5447256" cy="1362205"/>
          </a:xfrm>
          <a:prstGeom prst="rect">
            <a:avLst/>
          </a:prstGeom>
        </p:spPr>
        <p:txBody>
          <a:bodyPr anchor="t" rtlCol="false" tIns="0" lIns="0" bIns="0" rIns="0">
            <a:spAutoFit/>
          </a:bodyPr>
          <a:lstStyle/>
          <a:p>
            <a:pPr algn="just" marL="443632" indent="-221816" lvl="1">
              <a:lnSpc>
                <a:spcPts val="3739"/>
              </a:lnSpc>
              <a:buFont typeface="Arial"/>
              <a:buChar char="•"/>
            </a:pPr>
            <a:r>
              <a:rPr lang="en-US" sz="2054">
                <a:solidFill>
                  <a:srgbClr val="000000"/>
                </a:solidFill>
                <a:latin typeface="Open Sans"/>
                <a:ea typeface="Open Sans"/>
                <a:cs typeface="Open Sans"/>
                <a:sym typeface="Open Sans"/>
              </a:rPr>
              <a:t>Đánh giá hướng nhà tốt – xấu</a:t>
            </a:r>
          </a:p>
          <a:p>
            <a:pPr algn="just" marL="443632" indent="-221816" lvl="1">
              <a:lnSpc>
                <a:spcPts val="3739"/>
              </a:lnSpc>
              <a:buFont typeface="Arial"/>
              <a:buChar char="•"/>
            </a:pPr>
            <a:r>
              <a:rPr lang="en-US" sz="2054">
                <a:solidFill>
                  <a:srgbClr val="000000"/>
                </a:solidFill>
                <a:latin typeface="Open Sans"/>
                <a:ea typeface="Open Sans"/>
                <a:cs typeface="Open Sans"/>
                <a:sym typeface="Open Sans"/>
              </a:rPr>
              <a:t>Xem hướng đặt bàn thờ theo tuổi</a:t>
            </a:r>
          </a:p>
          <a:p>
            <a:pPr algn="just" marL="0" indent="0" lvl="0">
              <a:lnSpc>
                <a:spcPts val="3739"/>
              </a:lnSpc>
            </a:pPr>
          </a:p>
        </p:txBody>
      </p:sp>
      <p:sp>
        <p:nvSpPr>
          <p:cNvPr name="TextBox 27" id="27"/>
          <p:cNvSpPr txBox="true"/>
          <p:nvPr/>
        </p:nvSpPr>
        <p:spPr>
          <a:xfrm rot="0">
            <a:off x="6251765" y="1622643"/>
            <a:ext cx="5857358" cy="1468048"/>
          </a:xfrm>
          <a:prstGeom prst="rect">
            <a:avLst/>
          </a:prstGeom>
        </p:spPr>
        <p:txBody>
          <a:bodyPr anchor="t" rtlCol="false" tIns="0" lIns="0" bIns="0" rIns="0">
            <a:spAutoFit/>
          </a:bodyPr>
          <a:lstStyle/>
          <a:p>
            <a:pPr algn="l">
              <a:lnSpc>
                <a:spcPts val="4133"/>
              </a:lnSpc>
            </a:pPr>
            <a:r>
              <a:rPr lang="en-US" sz="2952" b="true">
                <a:solidFill>
                  <a:srgbClr val="0345E4"/>
                </a:solidFill>
                <a:latin typeface="Garet Bold"/>
                <a:ea typeface="Garet Bold"/>
                <a:cs typeface="Garet Bold"/>
                <a:sym typeface="Garet Bold"/>
              </a:rPr>
              <a:t>Nhóm 2  -  Địa trạch</a:t>
            </a:r>
          </a:p>
          <a:p>
            <a:pPr algn="l">
              <a:lnSpc>
                <a:spcPts val="3515"/>
              </a:lnSpc>
            </a:pPr>
            <a:r>
              <a:rPr lang="en-US" sz="1952" b="true">
                <a:solidFill>
                  <a:srgbClr val="FF0000"/>
                </a:solidFill>
                <a:latin typeface="Garet Bold"/>
                <a:ea typeface="Garet Bold"/>
                <a:cs typeface="Garet Bold"/>
                <a:sym typeface="Garet Bold"/>
              </a:rPr>
              <a:t>Bát Trạch Minh Cảnh - Dương Trạch Tam Yếu</a:t>
            </a:r>
          </a:p>
          <a:p>
            <a:pPr algn="l">
              <a:lnSpc>
                <a:spcPts val="4133"/>
              </a:lnSpc>
            </a:pPr>
          </a:p>
        </p:txBody>
      </p:sp>
      <p:sp>
        <p:nvSpPr>
          <p:cNvPr name="TextBox 28" id="28"/>
          <p:cNvSpPr txBox="true"/>
          <p:nvPr/>
        </p:nvSpPr>
        <p:spPr>
          <a:xfrm rot="0">
            <a:off x="12601512" y="2540339"/>
            <a:ext cx="4644110" cy="1931487"/>
          </a:xfrm>
          <a:prstGeom prst="rect">
            <a:avLst/>
          </a:prstGeom>
        </p:spPr>
        <p:txBody>
          <a:bodyPr anchor="t" rtlCol="false" tIns="0" lIns="0" bIns="0" rIns="0">
            <a:spAutoFit/>
          </a:bodyPr>
          <a:lstStyle/>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Tra cứu thước Lỗ Ban (âm trạch – dương trạch – thông thủy)</a:t>
            </a:r>
          </a:p>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Xem lịch âm dương, ngày – giờ hoàng đạo</a:t>
            </a:r>
          </a:p>
          <a:p>
            <a:pPr algn="just" marL="0" indent="0" lvl="0">
              <a:lnSpc>
                <a:spcPts val="3082"/>
              </a:lnSpc>
            </a:pPr>
          </a:p>
        </p:txBody>
      </p:sp>
      <p:sp>
        <p:nvSpPr>
          <p:cNvPr name="TextBox 29" id="29"/>
          <p:cNvSpPr txBox="true"/>
          <p:nvPr/>
        </p:nvSpPr>
        <p:spPr>
          <a:xfrm rot="0">
            <a:off x="12601512" y="1632168"/>
            <a:ext cx="5650001" cy="1387403"/>
          </a:xfrm>
          <a:prstGeom prst="rect">
            <a:avLst/>
          </a:prstGeom>
        </p:spPr>
        <p:txBody>
          <a:bodyPr anchor="t" rtlCol="false" tIns="0" lIns="0" bIns="0" rIns="0">
            <a:spAutoFit/>
          </a:bodyPr>
          <a:lstStyle/>
          <a:p>
            <a:pPr algn="l">
              <a:lnSpc>
                <a:spcPts val="3853"/>
              </a:lnSpc>
            </a:pPr>
            <a:r>
              <a:rPr lang="en-US" sz="2752" b="true">
                <a:solidFill>
                  <a:srgbClr val="0345E4"/>
                </a:solidFill>
                <a:latin typeface="Garet Bold"/>
                <a:ea typeface="Garet Bold"/>
                <a:cs typeface="Garet Bold"/>
                <a:sym typeface="Garet Bold"/>
              </a:rPr>
              <a:t>Nhóm 4  - Thiên thời</a:t>
            </a:r>
          </a:p>
          <a:p>
            <a:pPr algn="l">
              <a:lnSpc>
                <a:spcPts val="3515"/>
              </a:lnSpc>
            </a:pPr>
            <a:r>
              <a:rPr lang="en-US" sz="1952" b="true">
                <a:solidFill>
                  <a:srgbClr val="FF0000"/>
                </a:solidFill>
                <a:latin typeface="Garet Bold"/>
                <a:ea typeface="Garet Bold"/>
                <a:cs typeface="Garet Bold"/>
                <a:sym typeface="Garet Bold"/>
              </a:rPr>
              <a:t>Lỗ Ban - Trạch Nhật</a:t>
            </a:r>
            <a:r>
              <a:rPr lang="en-US" sz="1952" b="true">
                <a:solidFill>
                  <a:srgbClr val="0345E4"/>
                </a:solidFill>
                <a:latin typeface="Garet Bold"/>
                <a:ea typeface="Garet Bold"/>
                <a:cs typeface="Garet Bold"/>
                <a:sym typeface="Garet Bold"/>
              </a:rPr>
              <a:t> </a:t>
            </a:r>
          </a:p>
          <a:p>
            <a:pPr algn="l">
              <a:lnSpc>
                <a:spcPts val="3853"/>
              </a:lnSpc>
            </a:pPr>
          </a:p>
        </p:txBody>
      </p:sp>
      <p:sp>
        <p:nvSpPr>
          <p:cNvPr name="TextBox 30" id="30"/>
          <p:cNvSpPr txBox="true"/>
          <p:nvPr/>
        </p:nvSpPr>
        <p:spPr>
          <a:xfrm rot="0">
            <a:off x="2995621" y="7481128"/>
            <a:ext cx="6148379" cy="1514475"/>
          </a:xfrm>
          <a:prstGeom prst="rect">
            <a:avLst/>
          </a:prstGeom>
        </p:spPr>
        <p:txBody>
          <a:bodyPr anchor="t" rtlCol="false" tIns="0" lIns="0" bIns="0" rIns="0">
            <a:spAutoFit/>
          </a:bodyPr>
          <a:lstStyle/>
          <a:p>
            <a:pPr algn="just" marL="431801" indent="-215900" lvl="1">
              <a:lnSpc>
                <a:spcPts val="3000"/>
              </a:lnSpc>
              <a:buFont typeface="Arial"/>
              <a:buChar char="•"/>
            </a:pPr>
            <a:r>
              <a:rPr lang="en-US" sz="2000">
                <a:solidFill>
                  <a:srgbClr val="000000"/>
                </a:solidFill>
                <a:latin typeface="Open Sans"/>
                <a:ea typeface="Open Sans"/>
                <a:cs typeface="Open Sans"/>
                <a:sym typeface="Open Sans"/>
              </a:rPr>
              <a:t>Xem tuổi xây dựng (năm sinh ↔ năm xây)</a:t>
            </a:r>
          </a:p>
          <a:p>
            <a:pPr algn="just" marL="431801" indent="-215900" lvl="1">
              <a:lnSpc>
                <a:spcPts val="3000"/>
              </a:lnSpc>
              <a:buFont typeface="Arial"/>
              <a:buChar char="•"/>
            </a:pPr>
            <a:r>
              <a:rPr lang="en-US" sz="2000">
                <a:solidFill>
                  <a:srgbClr val="000000"/>
                </a:solidFill>
                <a:latin typeface="Open Sans"/>
                <a:ea typeface="Open Sans"/>
                <a:cs typeface="Open Sans"/>
                <a:sym typeface="Open Sans"/>
              </a:rPr>
              <a:t>Phân tích bản mệnh ngũ hành</a:t>
            </a:r>
          </a:p>
          <a:p>
            <a:pPr algn="just" marL="431801" indent="-215900" lvl="1">
              <a:lnSpc>
                <a:spcPts val="3000"/>
              </a:lnSpc>
              <a:buFont typeface="Arial"/>
              <a:buChar char="•"/>
            </a:pPr>
            <a:r>
              <a:rPr lang="en-US" sz="2000">
                <a:solidFill>
                  <a:srgbClr val="000000"/>
                </a:solidFill>
                <a:latin typeface="Open Sans"/>
                <a:ea typeface="Open Sans"/>
                <a:cs typeface="Open Sans"/>
                <a:sym typeface="Open Sans"/>
              </a:rPr>
              <a:t>Xem màu nội thất hợp phong thủy</a:t>
            </a:r>
          </a:p>
          <a:p>
            <a:pPr algn="just" marL="431801" indent="-215900" lvl="1">
              <a:lnSpc>
                <a:spcPts val="3000"/>
              </a:lnSpc>
              <a:buFont typeface="Arial"/>
              <a:buChar char="•"/>
            </a:pPr>
            <a:r>
              <a:rPr lang="en-US" sz="2000">
                <a:solidFill>
                  <a:srgbClr val="000000"/>
                </a:solidFill>
                <a:latin typeface="Open Sans"/>
                <a:ea typeface="Open Sans"/>
                <a:cs typeface="Open Sans"/>
                <a:sym typeface="Open Sans"/>
              </a:rPr>
              <a:t>Đánh giá tương sinh – tương khắc theo mệnh</a:t>
            </a:r>
          </a:p>
        </p:txBody>
      </p:sp>
      <p:sp>
        <p:nvSpPr>
          <p:cNvPr name="TextBox 31" id="31"/>
          <p:cNvSpPr txBox="true"/>
          <p:nvPr/>
        </p:nvSpPr>
        <p:spPr>
          <a:xfrm rot="0">
            <a:off x="2995621" y="6377175"/>
            <a:ext cx="5415564" cy="1515673"/>
          </a:xfrm>
          <a:prstGeom prst="rect">
            <a:avLst/>
          </a:prstGeom>
        </p:spPr>
        <p:txBody>
          <a:bodyPr anchor="t" rtlCol="false" tIns="0" lIns="0" bIns="0" rIns="0">
            <a:spAutoFit/>
          </a:bodyPr>
          <a:lstStyle/>
          <a:p>
            <a:pPr algn="l">
              <a:lnSpc>
                <a:spcPts val="4133"/>
              </a:lnSpc>
            </a:pPr>
            <a:r>
              <a:rPr lang="en-US" sz="2952" b="true">
                <a:solidFill>
                  <a:srgbClr val="0345E4"/>
                </a:solidFill>
                <a:latin typeface="Garet Bold"/>
                <a:ea typeface="Garet Bold"/>
                <a:cs typeface="Garet Bold"/>
                <a:sym typeface="Garet Bold"/>
              </a:rPr>
              <a:t>Nhóm 1  -  Nhân mệnh </a:t>
            </a:r>
          </a:p>
          <a:p>
            <a:pPr algn="l">
              <a:lnSpc>
                <a:spcPts val="3875"/>
              </a:lnSpc>
            </a:pPr>
            <a:r>
              <a:rPr lang="en-US" sz="2152" b="true">
                <a:solidFill>
                  <a:srgbClr val="FF0000"/>
                </a:solidFill>
                <a:latin typeface="Garet Bold"/>
                <a:ea typeface="Garet Bold"/>
                <a:cs typeface="Garet Bold"/>
                <a:sym typeface="Garet Bold"/>
              </a:rPr>
              <a:t>Can Chi - Ngũ Hành - Tứ Trụ - Bát Tự</a:t>
            </a:r>
            <a:r>
              <a:rPr lang="en-US" sz="2152" b="true">
                <a:solidFill>
                  <a:srgbClr val="0345E4"/>
                </a:solidFill>
                <a:latin typeface="Garet Bold"/>
                <a:ea typeface="Garet Bold"/>
                <a:cs typeface="Garet Bold"/>
                <a:sym typeface="Garet Bold"/>
              </a:rPr>
              <a:t> </a:t>
            </a:r>
          </a:p>
          <a:p>
            <a:pPr algn="l">
              <a:lnSpc>
                <a:spcPts val="4133"/>
              </a:lnSpc>
            </a:pPr>
          </a:p>
        </p:txBody>
      </p:sp>
      <p:sp>
        <p:nvSpPr>
          <p:cNvPr name="TextBox 32" id="32"/>
          <p:cNvSpPr txBox="true"/>
          <p:nvPr/>
        </p:nvSpPr>
        <p:spPr>
          <a:xfrm rot="0">
            <a:off x="9322628" y="7427778"/>
            <a:ext cx="6736419" cy="1931487"/>
          </a:xfrm>
          <a:prstGeom prst="rect">
            <a:avLst/>
          </a:prstGeom>
        </p:spPr>
        <p:txBody>
          <a:bodyPr anchor="t" rtlCol="false" tIns="0" lIns="0" bIns="0" rIns="0">
            <a:spAutoFit/>
          </a:bodyPr>
          <a:lstStyle/>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Phân tích tọa – hướng nhà</a:t>
            </a:r>
          </a:p>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Đánh giá cát – hung theo vận khí</a:t>
            </a:r>
          </a:p>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Xem ảnh hưởng đường, thế đất, phương vị ngoại vi</a:t>
            </a:r>
          </a:p>
          <a:p>
            <a:pPr algn="just" marL="443632" indent="-221816" lvl="1">
              <a:lnSpc>
                <a:spcPts val="3082"/>
              </a:lnSpc>
              <a:buFont typeface="Arial"/>
              <a:buChar char="•"/>
            </a:pPr>
            <a:r>
              <a:rPr lang="en-US" sz="2054">
                <a:solidFill>
                  <a:srgbClr val="000000"/>
                </a:solidFill>
                <a:latin typeface="Open Sans"/>
                <a:ea typeface="Open Sans"/>
                <a:cs typeface="Open Sans"/>
                <a:sym typeface="Open Sans"/>
              </a:rPr>
              <a:t>Luận niên vận – hướng vận theo thời gian xây dựng</a:t>
            </a:r>
          </a:p>
          <a:p>
            <a:pPr algn="just" marL="0" indent="0" lvl="0">
              <a:lnSpc>
                <a:spcPts val="3082"/>
              </a:lnSpc>
            </a:pPr>
          </a:p>
        </p:txBody>
      </p:sp>
      <p:sp>
        <p:nvSpPr>
          <p:cNvPr name="TextBox 33" id="33"/>
          <p:cNvSpPr txBox="true"/>
          <p:nvPr/>
        </p:nvSpPr>
        <p:spPr>
          <a:xfrm rot="0">
            <a:off x="9322628" y="6377175"/>
            <a:ext cx="7025230" cy="1278183"/>
          </a:xfrm>
          <a:prstGeom prst="rect">
            <a:avLst/>
          </a:prstGeom>
        </p:spPr>
        <p:txBody>
          <a:bodyPr anchor="t" rtlCol="false" tIns="0" lIns="0" bIns="0" rIns="0">
            <a:spAutoFit/>
          </a:bodyPr>
          <a:lstStyle/>
          <a:p>
            <a:pPr algn="l">
              <a:lnSpc>
                <a:spcPts val="4133"/>
              </a:lnSpc>
            </a:pPr>
            <a:r>
              <a:rPr lang="en-US" sz="2952" b="true">
                <a:solidFill>
                  <a:srgbClr val="0345E4"/>
                </a:solidFill>
                <a:latin typeface="Garet Bold"/>
                <a:ea typeface="Garet Bold"/>
                <a:cs typeface="Garet Bold"/>
                <a:sym typeface="Garet Bold"/>
              </a:rPr>
              <a:t>Nhóm 3 - Khí vận</a:t>
            </a:r>
          </a:p>
          <a:p>
            <a:pPr algn="l">
              <a:lnSpc>
                <a:spcPts val="3013"/>
              </a:lnSpc>
            </a:pPr>
            <a:r>
              <a:rPr lang="en-US" sz="2152" b="true">
                <a:solidFill>
                  <a:srgbClr val="FF0000"/>
                </a:solidFill>
                <a:latin typeface="Garet Bold"/>
                <a:ea typeface="Garet Bold"/>
                <a:cs typeface="Garet Bold"/>
                <a:sym typeface="Garet Bold"/>
              </a:rPr>
              <a:t>Loan Đầu - Huyền Không Phi Tinh</a:t>
            </a:r>
          </a:p>
          <a:p>
            <a:pPr algn="l">
              <a:lnSpc>
                <a:spcPts val="301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5722"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8</a:t>
            </a:r>
          </a:p>
        </p:txBody>
      </p:sp>
      <p:sp>
        <p:nvSpPr>
          <p:cNvPr name="TextBox 9" id="9"/>
          <p:cNvSpPr txBox="true"/>
          <p:nvPr/>
        </p:nvSpPr>
        <p:spPr>
          <a:xfrm rot="0">
            <a:off x="403077" y="4317682"/>
            <a:ext cx="17078738" cy="1237477"/>
          </a:xfrm>
          <a:prstGeom prst="rect">
            <a:avLst/>
          </a:prstGeom>
        </p:spPr>
        <p:txBody>
          <a:bodyPr anchor="t" rtlCol="false" tIns="0" lIns="0" bIns="0" rIns="0">
            <a:spAutoFit/>
          </a:bodyPr>
          <a:lstStyle/>
          <a:p>
            <a:pPr algn="ctr">
              <a:lnSpc>
                <a:spcPts val="10296"/>
              </a:lnSpc>
            </a:pPr>
            <a:r>
              <a:rPr lang="en-US" b="true" sz="7200" spc="576">
                <a:solidFill>
                  <a:srgbClr val="0345E4"/>
                </a:solidFill>
                <a:latin typeface="Garet Bold"/>
                <a:ea typeface="Garet Bold"/>
                <a:cs typeface="Garet Bold"/>
                <a:sym typeface="Garet Bold"/>
              </a:rPr>
              <a:t>3. HIỆN THỰC HÓA NGHIÊN CỨU</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222498"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9</a:t>
            </a:r>
          </a:p>
        </p:txBody>
      </p:sp>
      <p:sp>
        <p:nvSpPr>
          <p:cNvPr name="TextBox 9" id="9"/>
          <p:cNvSpPr txBox="true"/>
          <p:nvPr/>
        </p:nvSpPr>
        <p:spPr>
          <a:xfrm rot="0">
            <a:off x="1028700" y="615069"/>
            <a:ext cx="12619470"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HIỆN THỰC HÓA NGHIÊN CỨU</a:t>
            </a:r>
          </a:p>
        </p:txBody>
      </p:sp>
      <p:sp>
        <p:nvSpPr>
          <p:cNvPr name="TextBox 10" id="10"/>
          <p:cNvSpPr txBox="true"/>
          <p:nvPr/>
        </p:nvSpPr>
        <p:spPr>
          <a:xfrm rot="0">
            <a:off x="1512280" y="1497796"/>
            <a:ext cx="1066914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3.1 – Mô hình kiến trúc hệ thống</a:t>
            </a:r>
          </a:p>
        </p:txBody>
      </p:sp>
      <p:grpSp>
        <p:nvGrpSpPr>
          <p:cNvPr name="Group 11" id="11"/>
          <p:cNvGrpSpPr/>
          <p:nvPr/>
        </p:nvGrpSpPr>
        <p:grpSpPr>
          <a:xfrm rot="0">
            <a:off x="10453615" y="2228330"/>
            <a:ext cx="928663" cy="92866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962"/>
            </a:solidFill>
          </p:spPr>
        </p:sp>
        <p:sp>
          <p:nvSpPr>
            <p:cNvPr name="TextBox 13" id="13"/>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sp>
        <p:nvSpPr>
          <p:cNvPr name="Freeform 14" id="14"/>
          <p:cNvSpPr/>
          <p:nvPr/>
        </p:nvSpPr>
        <p:spPr>
          <a:xfrm flipH="false" flipV="false" rot="0">
            <a:off x="10585830" y="2360544"/>
            <a:ext cx="797899" cy="796448"/>
          </a:xfrm>
          <a:custGeom>
            <a:avLst/>
            <a:gdLst/>
            <a:ahLst/>
            <a:cxnLst/>
            <a:rect r="r" b="b" t="t" l="l"/>
            <a:pathLst>
              <a:path h="796448" w="797899">
                <a:moveTo>
                  <a:pt x="0" y="0"/>
                </a:moveTo>
                <a:lnTo>
                  <a:pt x="797899" y="0"/>
                </a:lnTo>
                <a:lnTo>
                  <a:pt x="797899" y="796449"/>
                </a:lnTo>
                <a:lnTo>
                  <a:pt x="0" y="796449"/>
                </a:lnTo>
                <a:lnTo>
                  <a:pt x="0" y="0"/>
                </a:lnTo>
                <a:close/>
              </a:path>
            </a:pathLst>
          </a:custGeom>
          <a:blipFill>
            <a:blip r:embed="rId3"/>
            <a:stretch>
              <a:fillRect l="0" t="0" r="0" b="0"/>
            </a:stretch>
          </a:blipFill>
        </p:spPr>
      </p:sp>
      <p:grpSp>
        <p:nvGrpSpPr>
          <p:cNvPr name="Group 15" id="15"/>
          <p:cNvGrpSpPr/>
          <p:nvPr/>
        </p:nvGrpSpPr>
        <p:grpSpPr>
          <a:xfrm rot="0">
            <a:off x="10585830" y="2360544"/>
            <a:ext cx="664234" cy="664234"/>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7" id="17"/>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grpSp>
        <p:nvGrpSpPr>
          <p:cNvPr name="Group 18" id="18"/>
          <p:cNvGrpSpPr/>
          <p:nvPr/>
        </p:nvGrpSpPr>
        <p:grpSpPr>
          <a:xfrm rot="0">
            <a:off x="11650255" y="7034382"/>
            <a:ext cx="928663" cy="92866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000"/>
            </a:solidFill>
          </p:spPr>
        </p:sp>
        <p:sp>
          <p:nvSpPr>
            <p:cNvPr name="TextBox 20" id="20"/>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sp>
        <p:nvSpPr>
          <p:cNvPr name="Freeform 21" id="21"/>
          <p:cNvSpPr/>
          <p:nvPr/>
        </p:nvSpPr>
        <p:spPr>
          <a:xfrm flipH="false" flipV="false" rot="0">
            <a:off x="11782470" y="7166597"/>
            <a:ext cx="797899" cy="796448"/>
          </a:xfrm>
          <a:custGeom>
            <a:avLst/>
            <a:gdLst/>
            <a:ahLst/>
            <a:cxnLst/>
            <a:rect r="r" b="b" t="t" l="l"/>
            <a:pathLst>
              <a:path h="796448" w="797899">
                <a:moveTo>
                  <a:pt x="0" y="0"/>
                </a:moveTo>
                <a:lnTo>
                  <a:pt x="797899" y="0"/>
                </a:lnTo>
                <a:lnTo>
                  <a:pt x="797899" y="796448"/>
                </a:lnTo>
                <a:lnTo>
                  <a:pt x="0" y="796448"/>
                </a:lnTo>
                <a:lnTo>
                  <a:pt x="0" y="0"/>
                </a:lnTo>
                <a:close/>
              </a:path>
            </a:pathLst>
          </a:custGeom>
          <a:blipFill>
            <a:blip r:embed="rId3"/>
            <a:stretch>
              <a:fillRect l="0" t="0" r="0" b="0"/>
            </a:stretch>
          </a:blipFill>
        </p:spPr>
      </p:sp>
      <p:grpSp>
        <p:nvGrpSpPr>
          <p:cNvPr name="Group 22" id="22"/>
          <p:cNvGrpSpPr/>
          <p:nvPr/>
        </p:nvGrpSpPr>
        <p:grpSpPr>
          <a:xfrm rot="0">
            <a:off x="11782470" y="7166597"/>
            <a:ext cx="664234" cy="66423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4" id="24"/>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grpSp>
        <p:nvGrpSpPr>
          <p:cNvPr name="Group 25" id="25"/>
          <p:cNvGrpSpPr/>
          <p:nvPr/>
        </p:nvGrpSpPr>
        <p:grpSpPr>
          <a:xfrm rot="0">
            <a:off x="11123400" y="7308397"/>
            <a:ext cx="380632" cy="380632"/>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FF0000"/>
              </a:solidFill>
              <a:prstDash val="solid"/>
              <a:miter/>
            </a:ln>
          </p:spPr>
        </p:sp>
        <p:sp>
          <p:nvSpPr>
            <p:cNvPr name="TextBox 27" id="27"/>
            <p:cNvSpPr txBox="true"/>
            <p:nvPr/>
          </p:nvSpPr>
          <p:spPr>
            <a:xfrm>
              <a:off x="76200" y="76200"/>
              <a:ext cx="660400" cy="660400"/>
            </a:xfrm>
            <a:prstGeom prst="rect">
              <a:avLst/>
            </a:prstGeom>
          </p:spPr>
          <p:txBody>
            <a:bodyPr anchor="ctr" rtlCol="false" tIns="36149" lIns="36149" bIns="36149" rIns="36149"/>
            <a:lstStyle/>
            <a:p>
              <a:pPr algn="ctr">
                <a:lnSpc>
                  <a:spcPts val="2049"/>
                </a:lnSpc>
              </a:pPr>
            </a:p>
          </p:txBody>
        </p:sp>
      </p:grpSp>
      <p:grpSp>
        <p:nvGrpSpPr>
          <p:cNvPr name="Group 28" id="28"/>
          <p:cNvGrpSpPr/>
          <p:nvPr/>
        </p:nvGrpSpPr>
        <p:grpSpPr>
          <a:xfrm rot="-2700000">
            <a:off x="10458483" y="4732572"/>
            <a:ext cx="380632" cy="38063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FDDB3E"/>
              </a:solidFill>
              <a:prstDash val="solid"/>
              <a:miter/>
            </a:ln>
          </p:spPr>
        </p:sp>
        <p:sp>
          <p:nvSpPr>
            <p:cNvPr name="TextBox 30" id="30"/>
            <p:cNvSpPr txBox="true"/>
            <p:nvPr/>
          </p:nvSpPr>
          <p:spPr>
            <a:xfrm>
              <a:off x="76200" y="76200"/>
              <a:ext cx="660400" cy="660400"/>
            </a:xfrm>
            <a:prstGeom prst="rect">
              <a:avLst/>
            </a:prstGeom>
          </p:spPr>
          <p:txBody>
            <a:bodyPr anchor="ctr" rtlCol="false" tIns="36149" lIns="36149" bIns="36149" rIns="36149"/>
            <a:lstStyle/>
            <a:p>
              <a:pPr algn="ctr">
                <a:lnSpc>
                  <a:spcPts val="2049"/>
                </a:lnSpc>
              </a:pPr>
            </a:p>
          </p:txBody>
        </p:sp>
      </p:grpSp>
      <p:grpSp>
        <p:nvGrpSpPr>
          <p:cNvPr name="Group 31" id="31"/>
          <p:cNvGrpSpPr/>
          <p:nvPr/>
        </p:nvGrpSpPr>
        <p:grpSpPr>
          <a:xfrm rot="5400000">
            <a:off x="9985869" y="2502345"/>
            <a:ext cx="380632" cy="380632"/>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85725" cap="sq">
              <a:solidFill>
                <a:srgbClr val="08B962"/>
              </a:solidFill>
              <a:prstDash val="solid"/>
              <a:miter/>
            </a:ln>
          </p:spPr>
        </p:sp>
        <p:sp>
          <p:nvSpPr>
            <p:cNvPr name="TextBox 33" id="33"/>
            <p:cNvSpPr txBox="true"/>
            <p:nvPr/>
          </p:nvSpPr>
          <p:spPr>
            <a:xfrm>
              <a:off x="76200" y="76200"/>
              <a:ext cx="660400" cy="660400"/>
            </a:xfrm>
            <a:prstGeom prst="rect">
              <a:avLst/>
            </a:prstGeom>
          </p:spPr>
          <p:txBody>
            <a:bodyPr anchor="ctr" rtlCol="false" tIns="36149" lIns="36149" bIns="36149" rIns="36149"/>
            <a:lstStyle/>
            <a:p>
              <a:pPr algn="ctr">
                <a:lnSpc>
                  <a:spcPts val="2049"/>
                </a:lnSpc>
              </a:pPr>
            </a:p>
          </p:txBody>
        </p:sp>
      </p:grpSp>
      <p:grpSp>
        <p:nvGrpSpPr>
          <p:cNvPr name="Group 34" id="34"/>
          <p:cNvGrpSpPr/>
          <p:nvPr/>
        </p:nvGrpSpPr>
        <p:grpSpPr>
          <a:xfrm rot="0">
            <a:off x="10991910" y="4392449"/>
            <a:ext cx="928663" cy="928663"/>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DB3E"/>
            </a:solidFill>
          </p:spPr>
        </p:sp>
        <p:sp>
          <p:nvSpPr>
            <p:cNvPr name="TextBox 36" id="36"/>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sp>
        <p:nvSpPr>
          <p:cNvPr name="Freeform 37" id="37"/>
          <p:cNvSpPr/>
          <p:nvPr/>
        </p:nvSpPr>
        <p:spPr>
          <a:xfrm flipH="false" flipV="false" rot="0">
            <a:off x="11124125" y="4524664"/>
            <a:ext cx="797899" cy="796448"/>
          </a:xfrm>
          <a:custGeom>
            <a:avLst/>
            <a:gdLst/>
            <a:ahLst/>
            <a:cxnLst/>
            <a:rect r="r" b="b" t="t" l="l"/>
            <a:pathLst>
              <a:path h="796448" w="797899">
                <a:moveTo>
                  <a:pt x="0" y="0"/>
                </a:moveTo>
                <a:lnTo>
                  <a:pt x="797899" y="0"/>
                </a:lnTo>
                <a:lnTo>
                  <a:pt x="797899" y="796449"/>
                </a:lnTo>
                <a:lnTo>
                  <a:pt x="0" y="796449"/>
                </a:lnTo>
                <a:lnTo>
                  <a:pt x="0" y="0"/>
                </a:lnTo>
                <a:close/>
              </a:path>
            </a:pathLst>
          </a:custGeom>
          <a:blipFill>
            <a:blip r:embed="rId3"/>
            <a:stretch>
              <a:fillRect l="0" t="0" r="0" b="0"/>
            </a:stretch>
          </a:blipFill>
        </p:spPr>
      </p:sp>
      <p:grpSp>
        <p:nvGrpSpPr>
          <p:cNvPr name="Group 38" id="38"/>
          <p:cNvGrpSpPr/>
          <p:nvPr/>
        </p:nvGrpSpPr>
        <p:grpSpPr>
          <a:xfrm rot="0">
            <a:off x="11124125" y="4524664"/>
            <a:ext cx="664234" cy="66423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0" id="40"/>
            <p:cNvSpPr txBox="true"/>
            <p:nvPr/>
          </p:nvSpPr>
          <p:spPr>
            <a:xfrm>
              <a:off x="76200" y="76200"/>
              <a:ext cx="660400" cy="660400"/>
            </a:xfrm>
            <a:prstGeom prst="rect">
              <a:avLst/>
            </a:prstGeom>
          </p:spPr>
          <p:txBody>
            <a:bodyPr anchor="ctr" rtlCol="false" tIns="84535" lIns="84535" bIns="84535" rIns="84535"/>
            <a:lstStyle/>
            <a:p>
              <a:pPr algn="ctr">
                <a:lnSpc>
                  <a:spcPts val="2049"/>
                </a:lnSpc>
              </a:pPr>
            </a:p>
          </p:txBody>
        </p:sp>
      </p:grpSp>
      <p:sp>
        <p:nvSpPr>
          <p:cNvPr name="Freeform 41" id="41"/>
          <p:cNvSpPr/>
          <p:nvPr/>
        </p:nvSpPr>
        <p:spPr>
          <a:xfrm flipH="false" flipV="false" rot="0">
            <a:off x="10755277" y="2529992"/>
            <a:ext cx="325339" cy="325339"/>
          </a:xfrm>
          <a:custGeom>
            <a:avLst/>
            <a:gdLst/>
            <a:ahLst/>
            <a:cxnLst/>
            <a:rect r="r" b="b" t="t" l="l"/>
            <a:pathLst>
              <a:path h="325339" w="325339">
                <a:moveTo>
                  <a:pt x="0" y="0"/>
                </a:moveTo>
                <a:lnTo>
                  <a:pt x="325339" y="0"/>
                </a:lnTo>
                <a:lnTo>
                  <a:pt x="325339" y="325339"/>
                </a:lnTo>
                <a:lnTo>
                  <a:pt x="0" y="3253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2" id="42"/>
          <p:cNvSpPr/>
          <p:nvPr/>
        </p:nvSpPr>
        <p:spPr>
          <a:xfrm flipH="false" flipV="false" rot="0">
            <a:off x="11309839" y="4694112"/>
            <a:ext cx="292805" cy="325339"/>
          </a:xfrm>
          <a:custGeom>
            <a:avLst/>
            <a:gdLst/>
            <a:ahLst/>
            <a:cxnLst/>
            <a:rect r="r" b="b" t="t" l="l"/>
            <a:pathLst>
              <a:path h="325339" w="292805">
                <a:moveTo>
                  <a:pt x="0" y="0"/>
                </a:moveTo>
                <a:lnTo>
                  <a:pt x="292805" y="0"/>
                </a:lnTo>
                <a:lnTo>
                  <a:pt x="292805" y="325338"/>
                </a:lnTo>
                <a:lnTo>
                  <a:pt x="0" y="325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3" id="43"/>
          <p:cNvSpPr/>
          <p:nvPr/>
        </p:nvSpPr>
        <p:spPr>
          <a:xfrm flipH="false" flipV="false" rot="0">
            <a:off x="11951918" y="7344325"/>
            <a:ext cx="325339" cy="308776"/>
          </a:xfrm>
          <a:custGeom>
            <a:avLst/>
            <a:gdLst/>
            <a:ahLst/>
            <a:cxnLst/>
            <a:rect r="r" b="b" t="t" l="l"/>
            <a:pathLst>
              <a:path h="308776" w="325339">
                <a:moveTo>
                  <a:pt x="0" y="0"/>
                </a:moveTo>
                <a:lnTo>
                  <a:pt x="325338" y="0"/>
                </a:lnTo>
                <a:lnTo>
                  <a:pt x="325338" y="308777"/>
                </a:lnTo>
                <a:lnTo>
                  <a:pt x="0" y="3087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4" id="44"/>
          <p:cNvGrpSpPr/>
          <p:nvPr/>
        </p:nvGrpSpPr>
        <p:grpSpPr>
          <a:xfrm rot="0">
            <a:off x="12726593" y="7140645"/>
            <a:ext cx="6180168" cy="1925033"/>
            <a:chOff x="0" y="0"/>
            <a:chExt cx="8240224" cy="2566710"/>
          </a:xfrm>
        </p:grpSpPr>
        <p:sp>
          <p:nvSpPr>
            <p:cNvPr name="TextBox 45" id="45"/>
            <p:cNvSpPr txBox="true"/>
            <p:nvPr/>
          </p:nvSpPr>
          <p:spPr>
            <a:xfrm rot="0">
              <a:off x="0" y="0"/>
              <a:ext cx="8240224" cy="482600"/>
            </a:xfrm>
            <a:prstGeom prst="rect">
              <a:avLst/>
            </a:prstGeom>
          </p:spPr>
          <p:txBody>
            <a:bodyPr anchor="t" rtlCol="false" tIns="0" lIns="0" bIns="0" rIns="0">
              <a:spAutoFit/>
            </a:bodyPr>
            <a:lstStyle/>
            <a:p>
              <a:pPr algn="l">
                <a:lnSpc>
                  <a:spcPts val="2857"/>
                </a:lnSpc>
              </a:pPr>
              <a:r>
                <a:rPr lang="en-US" sz="2380" b="true">
                  <a:solidFill>
                    <a:srgbClr val="000000"/>
                  </a:solidFill>
                  <a:latin typeface="Open Sans Bold"/>
                  <a:ea typeface="Open Sans Bold"/>
                  <a:cs typeface="Open Sans Bold"/>
                  <a:sym typeface="Open Sans Bold"/>
                </a:rPr>
                <a:t> </a:t>
              </a:r>
              <a:r>
                <a:rPr lang="en-US" sz="2380" b="true">
                  <a:solidFill>
                    <a:srgbClr val="000000"/>
                  </a:solidFill>
                  <a:latin typeface="Open Sans Bold"/>
                  <a:ea typeface="Open Sans Bold"/>
                  <a:cs typeface="Open Sans Bold"/>
                  <a:sym typeface="Open Sans Bold"/>
                </a:rPr>
                <a:t>Tiến trình  –</a:t>
              </a:r>
              <a:r>
                <a:rPr lang="en-US" sz="2380" b="true">
                  <a:solidFill>
                    <a:srgbClr val="000000"/>
                  </a:solidFill>
                  <a:latin typeface="Open Sans Bold"/>
                  <a:ea typeface="Open Sans Bold"/>
                  <a:cs typeface="Open Sans Bold"/>
                  <a:sym typeface="Open Sans Bold"/>
                </a:rPr>
                <a:t> Truy xuất dữ</a:t>
              </a:r>
              <a:r>
                <a:rPr lang="en-US" b="true" sz="2380">
                  <a:solidFill>
                    <a:srgbClr val="000000"/>
                  </a:solidFill>
                  <a:latin typeface="Open Sans Bold"/>
                  <a:ea typeface="Open Sans Bold"/>
                  <a:cs typeface="Open Sans Bold"/>
                  <a:sym typeface="Open Sans Bold"/>
                </a:rPr>
                <a:t> liệu</a:t>
              </a:r>
            </a:p>
          </p:txBody>
        </p:sp>
        <p:sp>
          <p:nvSpPr>
            <p:cNvPr name="TextBox 46" id="46"/>
            <p:cNvSpPr txBox="true"/>
            <p:nvPr/>
          </p:nvSpPr>
          <p:spPr>
            <a:xfrm rot="0">
              <a:off x="0" y="602537"/>
              <a:ext cx="7780642" cy="1964173"/>
            </a:xfrm>
            <a:prstGeom prst="rect">
              <a:avLst/>
            </a:prstGeom>
          </p:spPr>
          <p:txBody>
            <a:bodyPr anchor="t" rtlCol="false" tIns="0" lIns="0" bIns="0" rIns="0">
              <a:spAutoFit/>
            </a:bodyPr>
            <a:lstStyle/>
            <a:p>
              <a:pPr algn="l" marL="390712" indent="-195356" lvl="1">
                <a:lnSpc>
                  <a:spcPts val="3022"/>
                </a:lnSpc>
                <a:buFont typeface="Arial"/>
                <a:buChar char="•"/>
              </a:pPr>
              <a:r>
                <a:rPr lang="en-US" sz="1809">
                  <a:solidFill>
                    <a:srgbClr val="000000"/>
                  </a:solidFill>
                  <a:latin typeface="Open Sans"/>
                  <a:ea typeface="Open Sans"/>
                  <a:cs typeface="Open Sans"/>
                  <a:sym typeface="Open Sans"/>
                </a:rPr>
                <a:t>W</a:t>
              </a:r>
              <a:r>
                <a:rPr lang="en-US" sz="1809">
                  <a:solidFill>
                    <a:srgbClr val="000000"/>
                  </a:solidFill>
                  <a:latin typeface="Open Sans"/>
                  <a:ea typeface="Open Sans"/>
                  <a:cs typeface="Open Sans"/>
                  <a:sym typeface="Open Sans"/>
                </a:rPr>
                <a:t>ordPress gửi truy vấn SQL đến MySQL.</a:t>
              </a:r>
            </a:p>
            <a:p>
              <a:pPr algn="l" marL="390712" indent="-195356" lvl="1">
                <a:lnSpc>
                  <a:spcPts val="3022"/>
                </a:lnSpc>
                <a:buFont typeface="Arial"/>
                <a:buChar char="•"/>
              </a:pPr>
              <a:r>
                <a:rPr lang="en-US" sz="1809">
                  <a:solidFill>
                    <a:srgbClr val="000000"/>
                  </a:solidFill>
                  <a:latin typeface="Open Sans"/>
                  <a:ea typeface="Open Sans"/>
                  <a:cs typeface="Open Sans"/>
                  <a:sym typeface="Open Sans"/>
                </a:rPr>
                <a:t>MySQL xử lý và trả dữ liệu.</a:t>
              </a:r>
            </a:p>
            <a:p>
              <a:pPr algn="l" marL="390712" indent="-195356" lvl="1">
                <a:lnSpc>
                  <a:spcPts val="3022"/>
                </a:lnSpc>
                <a:buFont typeface="Arial"/>
                <a:buChar char="•"/>
              </a:pPr>
              <a:r>
                <a:rPr lang="en-US" sz="1809">
                  <a:solidFill>
                    <a:srgbClr val="000000"/>
                  </a:solidFill>
                  <a:latin typeface="Open Sans"/>
                  <a:ea typeface="Open Sans"/>
                  <a:cs typeface="Open Sans"/>
                  <a:sym typeface="Open Sans"/>
                </a:rPr>
                <a:t>Kế</a:t>
              </a:r>
              <a:r>
                <a:rPr lang="en-US" sz="1809">
                  <a:solidFill>
                    <a:srgbClr val="000000"/>
                  </a:solidFill>
                  <a:latin typeface="Open Sans"/>
                  <a:ea typeface="Open Sans"/>
                  <a:cs typeface="Open Sans"/>
                  <a:sym typeface="Open Sans"/>
                </a:rPr>
                <a:t>t quả được trả về cho người dùng.</a:t>
              </a:r>
            </a:p>
            <a:p>
              <a:pPr algn="l">
                <a:lnSpc>
                  <a:spcPts val="3022"/>
                </a:lnSpc>
              </a:pPr>
            </a:p>
          </p:txBody>
        </p:sp>
      </p:grpSp>
      <p:grpSp>
        <p:nvGrpSpPr>
          <p:cNvPr name="Group 47" id="47"/>
          <p:cNvGrpSpPr/>
          <p:nvPr/>
        </p:nvGrpSpPr>
        <p:grpSpPr>
          <a:xfrm rot="0">
            <a:off x="12072218" y="4634332"/>
            <a:ext cx="5779074" cy="2057150"/>
            <a:chOff x="0" y="0"/>
            <a:chExt cx="7705432" cy="2742866"/>
          </a:xfrm>
        </p:grpSpPr>
        <p:sp>
          <p:nvSpPr>
            <p:cNvPr name="TextBox 48" id="48"/>
            <p:cNvSpPr txBox="true"/>
            <p:nvPr/>
          </p:nvSpPr>
          <p:spPr>
            <a:xfrm rot="0">
              <a:off x="0" y="0"/>
              <a:ext cx="7391890" cy="482600"/>
            </a:xfrm>
            <a:prstGeom prst="rect">
              <a:avLst/>
            </a:prstGeom>
          </p:spPr>
          <p:txBody>
            <a:bodyPr anchor="t" rtlCol="false" tIns="0" lIns="0" bIns="0" rIns="0">
              <a:spAutoFit/>
            </a:bodyPr>
            <a:lstStyle/>
            <a:p>
              <a:pPr algn="l">
                <a:lnSpc>
                  <a:spcPts val="2857"/>
                </a:lnSpc>
              </a:pPr>
              <a:r>
                <a:rPr lang="en-US" sz="2380" b="true">
                  <a:solidFill>
                    <a:srgbClr val="000000"/>
                  </a:solidFill>
                  <a:latin typeface="Open Sans Bold"/>
                  <a:ea typeface="Open Sans Bold"/>
                  <a:cs typeface="Open Sans Bold"/>
                  <a:sym typeface="Open Sans Bold"/>
                </a:rPr>
                <a:t>Tiến trình 2 – Xử</a:t>
              </a:r>
              <a:r>
                <a:rPr lang="en-US" b="true" sz="2380">
                  <a:solidFill>
                    <a:srgbClr val="000000"/>
                  </a:solidFill>
                  <a:latin typeface="Open Sans Bold"/>
                  <a:ea typeface="Open Sans Bold"/>
                  <a:cs typeface="Open Sans Bold"/>
                  <a:sym typeface="Open Sans Bold"/>
                </a:rPr>
                <a:t> lý logic WordPress</a:t>
              </a:r>
            </a:p>
          </p:txBody>
        </p:sp>
        <p:sp>
          <p:nvSpPr>
            <p:cNvPr name="TextBox 49" id="49"/>
            <p:cNvSpPr txBox="true"/>
            <p:nvPr/>
          </p:nvSpPr>
          <p:spPr>
            <a:xfrm rot="0">
              <a:off x="0" y="677015"/>
              <a:ext cx="7705432" cy="2065851"/>
            </a:xfrm>
            <a:prstGeom prst="rect">
              <a:avLst/>
            </a:prstGeom>
          </p:spPr>
          <p:txBody>
            <a:bodyPr anchor="t" rtlCol="false" tIns="0" lIns="0" bIns="0" rIns="0">
              <a:spAutoFit/>
            </a:bodyPr>
            <a:lstStyle/>
            <a:p>
              <a:pPr algn="l" marL="390712" indent="-195356" lvl="1">
                <a:lnSpc>
                  <a:spcPts val="2515"/>
                </a:lnSpc>
                <a:buFont typeface="Arial"/>
                <a:buChar char="•"/>
              </a:pPr>
              <a:r>
                <a:rPr lang="en-US" sz="1809">
                  <a:solidFill>
                    <a:srgbClr val="000000"/>
                  </a:solidFill>
                  <a:latin typeface="Open Sans"/>
                  <a:ea typeface="Open Sans"/>
                  <a:cs typeface="Open Sans"/>
                  <a:sym typeface="Open Sans"/>
                </a:rPr>
                <a:t>WordPress Core</a:t>
              </a:r>
              <a:r>
                <a:rPr lang="en-US" sz="1809">
                  <a:solidFill>
                    <a:srgbClr val="000000"/>
                  </a:solidFill>
                  <a:latin typeface="Open Sans"/>
                  <a:ea typeface="Open Sans"/>
                  <a:cs typeface="Open Sans"/>
                  <a:sym typeface="Open Sans"/>
                </a:rPr>
                <a:t> xử lý logic hệ thống.</a:t>
              </a:r>
            </a:p>
            <a:p>
              <a:pPr algn="l" marL="390712" indent="-195356" lvl="1">
                <a:lnSpc>
                  <a:spcPts val="2515"/>
                </a:lnSpc>
                <a:buFont typeface="Arial"/>
                <a:buChar char="•"/>
              </a:pPr>
              <a:r>
                <a:rPr lang="en-US" sz="1809">
                  <a:solidFill>
                    <a:srgbClr val="000000"/>
                  </a:solidFill>
                  <a:latin typeface="Open Sans"/>
                  <a:ea typeface="Open Sans"/>
                  <a:cs typeface="Open Sans"/>
                  <a:sym typeface="Open Sans"/>
                </a:rPr>
                <a:t>Theme và plugin thực hiện chức năng, hiển thị giao diện.</a:t>
              </a:r>
            </a:p>
            <a:p>
              <a:pPr algn="l" marL="390712" indent="-195356" lvl="1">
                <a:lnSpc>
                  <a:spcPts val="2515"/>
                </a:lnSpc>
                <a:buFont typeface="Arial"/>
                <a:buChar char="•"/>
              </a:pPr>
              <a:r>
                <a:rPr lang="en-US" sz="1809">
                  <a:solidFill>
                    <a:srgbClr val="000000"/>
                  </a:solidFill>
                  <a:latin typeface="Open Sans"/>
                  <a:ea typeface="Open Sans"/>
                  <a:cs typeface="Open Sans"/>
                  <a:sym typeface="Open Sans"/>
                </a:rPr>
                <a:t>Phân tách frontend và backend.</a:t>
              </a:r>
            </a:p>
            <a:p>
              <a:pPr algn="l">
                <a:lnSpc>
                  <a:spcPts val="2515"/>
                </a:lnSpc>
              </a:pPr>
            </a:p>
          </p:txBody>
        </p:sp>
      </p:grpSp>
      <p:grpSp>
        <p:nvGrpSpPr>
          <p:cNvPr name="Group 50" id="50"/>
          <p:cNvGrpSpPr/>
          <p:nvPr/>
        </p:nvGrpSpPr>
        <p:grpSpPr>
          <a:xfrm rot="0">
            <a:off x="11602804" y="2479247"/>
            <a:ext cx="6343038" cy="1808428"/>
            <a:chOff x="0" y="0"/>
            <a:chExt cx="8457384" cy="2411237"/>
          </a:xfrm>
        </p:grpSpPr>
        <p:sp>
          <p:nvSpPr>
            <p:cNvPr name="TextBox 51" id="51"/>
            <p:cNvSpPr txBox="true"/>
            <p:nvPr/>
          </p:nvSpPr>
          <p:spPr>
            <a:xfrm rot="0">
              <a:off x="0" y="0"/>
              <a:ext cx="8457384" cy="482600"/>
            </a:xfrm>
            <a:prstGeom prst="rect">
              <a:avLst/>
            </a:prstGeom>
          </p:spPr>
          <p:txBody>
            <a:bodyPr anchor="t" rtlCol="false" tIns="0" lIns="0" bIns="0" rIns="0">
              <a:spAutoFit/>
            </a:bodyPr>
            <a:lstStyle/>
            <a:p>
              <a:pPr algn="l">
                <a:lnSpc>
                  <a:spcPts val="2857"/>
                </a:lnSpc>
              </a:pPr>
              <a:r>
                <a:rPr lang="en-US" sz="2380" b="true">
                  <a:solidFill>
                    <a:srgbClr val="000000"/>
                  </a:solidFill>
                  <a:latin typeface="Open Sans Bold"/>
                  <a:ea typeface="Open Sans Bold"/>
                  <a:cs typeface="Open Sans Bold"/>
                  <a:sym typeface="Open Sans Bold"/>
                </a:rPr>
                <a:t>Tiến trình 1 – Tiếp nhận yêu cầu</a:t>
              </a:r>
            </a:p>
          </p:txBody>
        </p:sp>
        <p:sp>
          <p:nvSpPr>
            <p:cNvPr name="TextBox 52" id="52"/>
            <p:cNvSpPr txBox="true"/>
            <p:nvPr/>
          </p:nvSpPr>
          <p:spPr>
            <a:xfrm rot="0">
              <a:off x="0" y="587870"/>
              <a:ext cx="8345998" cy="1823367"/>
            </a:xfrm>
            <a:prstGeom prst="rect">
              <a:avLst/>
            </a:prstGeom>
          </p:spPr>
          <p:txBody>
            <a:bodyPr anchor="t" rtlCol="false" tIns="0" lIns="0" bIns="0" rIns="0">
              <a:spAutoFit/>
            </a:bodyPr>
            <a:lstStyle/>
            <a:p>
              <a:pPr algn="l" marL="390712" indent="-195356" lvl="1">
                <a:lnSpc>
                  <a:spcPts val="2841"/>
                </a:lnSpc>
                <a:buFont typeface="Arial"/>
                <a:buChar char="•"/>
              </a:pPr>
              <a:r>
                <a:rPr lang="en-US" sz="1809">
                  <a:solidFill>
                    <a:srgbClr val="000000"/>
                  </a:solidFill>
                  <a:latin typeface="Open Sans"/>
                  <a:ea typeface="Open Sans"/>
                  <a:cs typeface="Open Sans"/>
                  <a:sym typeface="Open Sans"/>
                </a:rPr>
                <a:t>Người dùng </a:t>
              </a:r>
              <a:r>
                <a:rPr lang="en-US" sz="1809">
                  <a:solidFill>
                    <a:srgbClr val="000000"/>
                  </a:solidFill>
                  <a:latin typeface="Open Sans"/>
                  <a:ea typeface="Open Sans"/>
                  <a:cs typeface="Open Sans"/>
                  <a:sym typeface="Open Sans"/>
                </a:rPr>
                <a:t>gửi request từ Internet đến Apache.</a:t>
              </a:r>
            </a:p>
            <a:p>
              <a:pPr algn="l" marL="390712" indent="-195356" lvl="1">
                <a:lnSpc>
                  <a:spcPts val="2841"/>
                </a:lnSpc>
                <a:buFont typeface="Arial"/>
                <a:buChar char="•"/>
              </a:pPr>
              <a:r>
                <a:rPr lang="en-US" sz="1809">
                  <a:solidFill>
                    <a:srgbClr val="000000"/>
                  </a:solidFill>
                  <a:latin typeface="Open Sans"/>
                  <a:ea typeface="Open Sans"/>
                  <a:cs typeface="Open Sans"/>
                  <a:sym typeface="Open Sans"/>
                </a:rPr>
                <a:t>Apache chuyển yêu cầu động cho PHP xử lý.</a:t>
              </a:r>
            </a:p>
            <a:p>
              <a:pPr algn="l" marL="390712" indent="-195356" lvl="1">
                <a:lnSpc>
                  <a:spcPts val="2841"/>
                </a:lnSpc>
                <a:buFont typeface="Arial"/>
                <a:buChar char="•"/>
              </a:pPr>
              <a:r>
                <a:rPr lang="en-US" sz="1809">
                  <a:solidFill>
                    <a:srgbClr val="000000"/>
                  </a:solidFill>
                  <a:latin typeface="Open Sans"/>
                  <a:ea typeface="Open Sans"/>
                  <a:cs typeface="Open Sans"/>
                  <a:sym typeface="Open Sans"/>
                </a:rPr>
                <a:t>PHP khởi chạy WordPress.</a:t>
              </a:r>
            </a:p>
            <a:p>
              <a:pPr algn="l">
                <a:lnSpc>
                  <a:spcPts val="2841"/>
                </a:lnSpc>
              </a:pPr>
            </a:p>
          </p:txBody>
        </p:sp>
      </p:grpSp>
      <p:sp>
        <p:nvSpPr>
          <p:cNvPr name="AutoShape 53" id="53"/>
          <p:cNvSpPr/>
          <p:nvPr/>
        </p:nvSpPr>
        <p:spPr>
          <a:xfrm>
            <a:off x="10176185" y="2882977"/>
            <a:ext cx="429652" cy="1854481"/>
          </a:xfrm>
          <a:prstGeom prst="line">
            <a:avLst/>
          </a:prstGeom>
          <a:ln cap="flat" w="38100">
            <a:solidFill>
              <a:srgbClr val="000000"/>
            </a:solidFill>
            <a:prstDash val="sysDash"/>
            <a:headEnd type="none" len="sm" w="sm"/>
            <a:tailEnd type="none" len="sm" w="sm"/>
          </a:ln>
        </p:spPr>
      </p:sp>
      <p:sp>
        <p:nvSpPr>
          <p:cNvPr name="AutoShape 54" id="54"/>
          <p:cNvSpPr/>
          <p:nvPr/>
        </p:nvSpPr>
        <p:spPr>
          <a:xfrm>
            <a:off x="10694415" y="5107686"/>
            <a:ext cx="571570" cy="2206746"/>
          </a:xfrm>
          <a:prstGeom prst="line">
            <a:avLst/>
          </a:prstGeom>
          <a:ln cap="flat" w="38100">
            <a:solidFill>
              <a:srgbClr val="000000"/>
            </a:solidFill>
            <a:prstDash val="sysDash"/>
            <a:headEnd type="none" len="sm" w="sm"/>
            <a:tailEnd type="none" len="sm" w="sm"/>
          </a:ln>
        </p:spPr>
      </p:sp>
      <p:sp>
        <p:nvSpPr>
          <p:cNvPr name="TextBox 55" id="55"/>
          <p:cNvSpPr txBox="true"/>
          <p:nvPr/>
        </p:nvSpPr>
        <p:spPr>
          <a:xfrm rot="0">
            <a:off x="1912194" y="8747803"/>
            <a:ext cx="7231806" cy="781812"/>
          </a:xfrm>
          <a:prstGeom prst="rect">
            <a:avLst/>
          </a:prstGeom>
        </p:spPr>
        <p:txBody>
          <a:bodyPr anchor="t" rtlCol="false" tIns="0" lIns="0" bIns="0" rIns="0">
            <a:spAutoFit/>
          </a:bodyPr>
          <a:lstStyle/>
          <a:p>
            <a:pPr algn="ctr">
              <a:lnSpc>
                <a:spcPts val="3107"/>
              </a:lnSpc>
              <a:spcBef>
                <a:spcPct val="0"/>
              </a:spcBef>
            </a:pPr>
            <a:r>
              <a:rPr lang="en-US" b="true" sz="2219">
                <a:solidFill>
                  <a:srgbClr val="000000"/>
                </a:solidFill>
                <a:latin typeface="Roboto Bold"/>
                <a:ea typeface="Roboto Bold"/>
                <a:cs typeface="Roboto Bold"/>
                <a:sym typeface="Roboto Bold"/>
              </a:rPr>
              <a:t>Hình 3.1 Mô hình kiến trúc hệ thống</a:t>
            </a:r>
          </a:p>
          <a:p>
            <a:pPr algn="ctr">
              <a:lnSpc>
                <a:spcPts val="3107"/>
              </a:lnSpc>
              <a:spcBef>
                <a:spcPct val="0"/>
              </a:spcBef>
            </a:pPr>
          </a:p>
        </p:txBody>
      </p:sp>
      <p:sp>
        <p:nvSpPr>
          <p:cNvPr name="Freeform 56" id="56"/>
          <p:cNvSpPr/>
          <p:nvPr/>
        </p:nvSpPr>
        <p:spPr>
          <a:xfrm flipH="false" flipV="false" rot="5400000">
            <a:off x="2071967" y="1223163"/>
            <a:ext cx="6533723" cy="8544056"/>
          </a:xfrm>
          <a:custGeom>
            <a:avLst/>
            <a:gdLst/>
            <a:ahLst/>
            <a:cxnLst/>
            <a:rect r="r" b="b" t="t" l="l"/>
            <a:pathLst>
              <a:path h="8544056" w="6533723">
                <a:moveTo>
                  <a:pt x="0" y="0"/>
                </a:moveTo>
                <a:lnTo>
                  <a:pt x="6533723" y="0"/>
                </a:lnTo>
                <a:lnTo>
                  <a:pt x="6533723" y="8544056"/>
                </a:lnTo>
                <a:lnTo>
                  <a:pt x="0" y="8544056"/>
                </a:lnTo>
                <a:lnTo>
                  <a:pt x="0" y="0"/>
                </a:lnTo>
                <a:close/>
              </a:path>
            </a:pathLst>
          </a:custGeom>
          <a:blipFill>
            <a:blip r:embed="rId10"/>
            <a:stretch>
              <a:fillRect l="-4802" t="-13474" r="-6174" b="-13823"/>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820474" y="7422337"/>
            <a:ext cx="3390579" cy="583104"/>
            <a:chOff x="0" y="0"/>
            <a:chExt cx="4520772" cy="777472"/>
          </a:xfrm>
        </p:grpSpPr>
        <p:grpSp>
          <p:nvGrpSpPr>
            <p:cNvPr name="Group 8" id="8"/>
            <p:cNvGrpSpPr/>
            <p:nvPr/>
          </p:nvGrpSpPr>
          <p:grpSpPr>
            <a:xfrm rot="0">
              <a:off x="0" y="0"/>
              <a:ext cx="4520772" cy="777472"/>
              <a:chOff x="0" y="0"/>
              <a:chExt cx="672950" cy="115732"/>
            </a:xfrm>
          </p:grpSpPr>
          <p:sp>
            <p:nvSpPr>
              <p:cNvPr name="Freeform 9" id="9"/>
              <p:cNvSpPr/>
              <p:nvPr/>
            </p:nvSpPr>
            <p:spPr>
              <a:xfrm flipH="false" flipV="false" rot="0">
                <a:off x="0" y="0"/>
                <a:ext cx="672950" cy="115732"/>
              </a:xfrm>
              <a:custGeom>
                <a:avLst/>
                <a:gdLst/>
                <a:ahLst/>
                <a:cxnLst/>
                <a:rect r="r" b="b" t="t" l="l"/>
                <a:pathLst>
                  <a:path h="115732" w="672950">
                    <a:moveTo>
                      <a:pt x="57866" y="0"/>
                    </a:moveTo>
                    <a:lnTo>
                      <a:pt x="615083" y="0"/>
                    </a:lnTo>
                    <a:cubicBezTo>
                      <a:pt x="647042" y="0"/>
                      <a:pt x="672950" y="25908"/>
                      <a:pt x="672950" y="57866"/>
                    </a:cubicBezTo>
                    <a:lnTo>
                      <a:pt x="672950" y="57866"/>
                    </a:lnTo>
                    <a:cubicBezTo>
                      <a:pt x="672950" y="73213"/>
                      <a:pt x="666853" y="87932"/>
                      <a:pt x="656001" y="98784"/>
                    </a:cubicBezTo>
                    <a:cubicBezTo>
                      <a:pt x="645149" y="109636"/>
                      <a:pt x="630431" y="115732"/>
                      <a:pt x="615083" y="115732"/>
                    </a:cubicBezTo>
                    <a:lnTo>
                      <a:pt x="57866" y="115732"/>
                    </a:lnTo>
                    <a:cubicBezTo>
                      <a:pt x="25908" y="115732"/>
                      <a:pt x="0" y="89825"/>
                      <a:pt x="0" y="57866"/>
                    </a:cubicBezTo>
                    <a:lnTo>
                      <a:pt x="0" y="57866"/>
                    </a:lnTo>
                    <a:cubicBezTo>
                      <a:pt x="0" y="25908"/>
                      <a:pt x="25908" y="0"/>
                      <a:pt x="57866" y="0"/>
                    </a:cubicBezTo>
                    <a:close/>
                  </a:path>
                </a:pathLst>
              </a:custGeom>
              <a:solidFill>
                <a:srgbClr val="3CD6FF"/>
              </a:solidFill>
              <a:ln w="47625" cap="rnd">
                <a:solidFill>
                  <a:srgbClr val="00FFFF"/>
                </a:solidFill>
                <a:prstDash val="solid"/>
                <a:round/>
              </a:ln>
            </p:spPr>
          </p:sp>
          <p:sp>
            <p:nvSpPr>
              <p:cNvPr name="TextBox 10" id="10"/>
              <p:cNvSpPr txBox="true"/>
              <p:nvPr/>
            </p:nvSpPr>
            <p:spPr>
              <a:xfrm>
                <a:off x="0" y="-28575"/>
                <a:ext cx="672950" cy="144307"/>
              </a:xfrm>
              <a:prstGeom prst="rect">
                <a:avLst/>
              </a:prstGeom>
            </p:spPr>
            <p:txBody>
              <a:bodyPr anchor="ctr" rtlCol="false" tIns="64438" lIns="64438" bIns="64438" rIns="64438"/>
              <a:lstStyle/>
              <a:p>
                <a:pPr algn="ctr">
                  <a:lnSpc>
                    <a:spcPts val="1876"/>
                  </a:lnSpc>
                </a:pPr>
              </a:p>
            </p:txBody>
          </p:sp>
        </p:grpSp>
        <p:sp>
          <p:nvSpPr>
            <p:cNvPr name="TextBox 11" id="11"/>
            <p:cNvSpPr txBox="true"/>
            <p:nvPr/>
          </p:nvSpPr>
          <p:spPr>
            <a:xfrm rot="0">
              <a:off x="166963" y="134709"/>
              <a:ext cx="4186846"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ĐĂNG NHẬP</a:t>
              </a:r>
            </a:p>
          </p:txBody>
        </p:sp>
      </p:grpSp>
      <p:grpSp>
        <p:nvGrpSpPr>
          <p:cNvPr name="Group 12" id="12"/>
          <p:cNvGrpSpPr/>
          <p:nvPr/>
        </p:nvGrpSpPr>
        <p:grpSpPr>
          <a:xfrm rot="0">
            <a:off x="528978" y="4163991"/>
            <a:ext cx="3973572" cy="583104"/>
            <a:chOff x="0" y="0"/>
            <a:chExt cx="788660" cy="115732"/>
          </a:xfrm>
        </p:grpSpPr>
        <p:sp>
          <p:nvSpPr>
            <p:cNvPr name="Freeform 13" id="13"/>
            <p:cNvSpPr/>
            <p:nvPr/>
          </p:nvSpPr>
          <p:spPr>
            <a:xfrm flipH="false" flipV="false" rot="0">
              <a:off x="0" y="0"/>
              <a:ext cx="788660" cy="115732"/>
            </a:xfrm>
            <a:custGeom>
              <a:avLst/>
              <a:gdLst/>
              <a:ahLst/>
              <a:cxnLst/>
              <a:rect r="r" b="b" t="t" l="l"/>
              <a:pathLst>
                <a:path h="115732" w="788660">
                  <a:moveTo>
                    <a:pt x="57866" y="0"/>
                  </a:moveTo>
                  <a:lnTo>
                    <a:pt x="730794" y="0"/>
                  </a:lnTo>
                  <a:cubicBezTo>
                    <a:pt x="762752" y="0"/>
                    <a:pt x="788660" y="25908"/>
                    <a:pt x="788660" y="57866"/>
                  </a:cubicBezTo>
                  <a:lnTo>
                    <a:pt x="788660" y="57866"/>
                  </a:lnTo>
                  <a:cubicBezTo>
                    <a:pt x="788660" y="73213"/>
                    <a:pt x="782563" y="87932"/>
                    <a:pt x="771711" y="98784"/>
                  </a:cubicBezTo>
                  <a:cubicBezTo>
                    <a:pt x="760859" y="109636"/>
                    <a:pt x="746141" y="115732"/>
                    <a:pt x="730794" y="115732"/>
                  </a:cubicBezTo>
                  <a:lnTo>
                    <a:pt x="57866" y="115732"/>
                  </a:lnTo>
                  <a:cubicBezTo>
                    <a:pt x="25908" y="115732"/>
                    <a:pt x="0" y="89825"/>
                    <a:pt x="0" y="57866"/>
                  </a:cubicBezTo>
                  <a:lnTo>
                    <a:pt x="0" y="57866"/>
                  </a:lnTo>
                  <a:cubicBezTo>
                    <a:pt x="0" y="25908"/>
                    <a:pt x="25908" y="0"/>
                    <a:pt x="57866" y="0"/>
                  </a:cubicBezTo>
                  <a:close/>
                </a:path>
              </a:pathLst>
            </a:custGeom>
            <a:solidFill>
              <a:srgbClr val="05C1B0"/>
            </a:solidFill>
            <a:ln w="47625" cap="rnd">
              <a:solidFill>
                <a:srgbClr val="00FFFF"/>
              </a:solidFill>
              <a:prstDash val="solid"/>
              <a:round/>
            </a:ln>
          </p:spPr>
        </p:sp>
        <p:sp>
          <p:nvSpPr>
            <p:cNvPr name="TextBox 14" id="14"/>
            <p:cNvSpPr txBox="true"/>
            <p:nvPr/>
          </p:nvSpPr>
          <p:spPr>
            <a:xfrm>
              <a:off x="0" y="-28575"/>
              <a:ext cx="788660" cy="144307"/>
            </a:xfrm>
            <a:prstGeom prst="rect">
              <a:avLst/>
            </a:prstGeom>
          </p:spPr>
          <p:txBody>
            <a:bodyPr anchor="ctr" rtlCol="false" tIns="64438" lIns="64438" bIns="64438" rIns="64438"/>
            <a:lstStyle/>
            <a:p>
              <a:pPr algn="ctr">
                <a:lnSpc>
                  <a:spcPts val="1876"/>
                </a:lnSpc>
              </a:pPr>
            </a:p>
          </p:txBody>
        </p:sp>
      </p:grpSp>
      <p:grpSp>
        <p:nvGrpSpPr>
          <p:cNvPr name="Group 15" id="15"/>
          <p:cNvGrpSpPr/>
          <p:nvPr/>
        </p:nvGrpSpPr>
        <p:grpSpPr>
          <a:xfrm rot="0">
            <a:off x="851975" y="5833849"/>
            <a:ext cx="3048604" cy="615271"/>
            <a:chOff x="0" y="0"/>
            <a:chExt cx="4064806" cy="820361"/>
          </a:xfrm>
        </p:grpSpPr>
        <p:grpSp>
          <p:nvGrpSpPr>
            <p:cNvPr name="Group 16" id="16"/>
            <p:cNvGrpSpPr/>
            <p:nvPr/>
          </p:nvGrpSpPr>
          <p:grpSpPr>
            <a:xfrm rot="0">
              <a:off x="0" y="0"/>
              <a:ext cx="4064806" cy="820361"/>
              <a:chOff x="0" y="0"/>
              <a:chExt cx="605076" cy="122117"/>
            </a:xfrm>
          </p:grpSpPr>
          <p:sp>
            <p:nvSpPr>
              <p:cNvPr name="Freeform 17" id="17"/>
              <p:cNvSpPr/>
              <p:nvPr/>
            </p:nvSpPr>
            <p:spPr>
              <a:xfrm flipH="false" flipV="false" rot="0">
                <a:off x="0" y="0"/>
                <a:ext cx="605076" cy="122117"/>
              </a:xfrm>
              <a:custGeom>
                <a:avLst/>
                <a:gdLst/>
                <a:ahLst/>
                <a:cxnLst/>
                <a:rect r="r" b="b" t="t" l="l"/>
                <a:pathLst>
                  <a:path h="122117" w="605076">
                    <a:moveTo>
                      <a:pt x="61058" y="0"/>
                    </a:moveTo>
                    <a:lnTo>
                      <a:pt x="544017" y="0"/>
                    </a:lnTo>
                    <a:cubicBezTo>
                      <a:pt x="560211" y="0"/>
                      <a:pt x="575742" y="6433"/>
                      <a:pt x="587192" y="17884"/>
                    </a:cubicBezTo>
                    <a:cubicBezTo>
                      <a:pt x="598643" y="29334"/>
                      <a:pt x="605076" y="44865"/>
                      <a:pt x="605076" y="61058"/>
                    </a:cubicBezTo>
                    <a:lnTo>
                      <a:pt x="605076" y="61058"/>
                    </a:lnTo>
                    <a:cubicBezTo>
                      <a:pt x="605076" y="77252"/>
                      <a:pt x="598643" y="92782"/>
                      <a:pt x="587192" y="104233"/>
                    </a:cubicBezTo>
                    <a:cubicBezTo>
                      <a:pt x="575742" y="115684"/>
                      <a:pt x="560211" y="122117"/>
                      <a:pt x="544017" y="122117"/>
                    </a:cubicBezTo>
                    <a:lnTo>
                      <a:pt x="61058" y="122117"/>
                    </a:lnTo>
                    <a:cubicBezTo>
                      <a:pt x="44865" y="122117"/>
                      <a:pt x="29334" y="115684"/>
                      <a:pt x="17884" y="104233"/>
                    </a:cubicBezTo>
                    <a:cubicBezTo>
                      <a:pt x="6433" y="92782"/>
                      <a:pt x="0" y="77252"/>
                      <a:pt x="0" y="61058"/>
                    </a:cubicBezTo>
                    <a:lnTo>
                      <a:pt x="0" y="61058"/>
                    </a:lnTo>
                    <a:cubicBezTo>
                      <a:pt x="0" y="44865"/>
                      <a:pt x="6433" y="29334"/>
                      <a:pt x="17884" y="17884"/>
                    </a:cubicBezTo>
                    <a:cubicBezTo>
                      <a:pt x="29334" y="6433"/>
                      <a:pt x="44865" y="0"/>
                      <a:pt x="61058" y="0"/>
                    </a:cubicBezTo>
                    <a:close/>
                  </a:path>
                </a:pathLst>
              </a:custGeom>
              <a:solidFill>
                <a:srgbClr val="2DB8D9"/>
              </a:solidFill>
              <a:ln w="47625" cap="rnd">
                <a:solidFill>
                  <a:srgbClr val="00FFFF"/>
                </a:solidFill>
                <a:prstDash val="solid"/>
                <a:round/>
              </a:ln>
            </p:spPr>
          </p:sp>
          <p:sp>
            <p:nvSpPr>
              <p:cNvPr name="TextBox 18" id="18"/>
              <p:cNvSpPr txBox="true"/>
              <p:nvPr/>
            </p:nvSpPr>
            <p:spPr>
              <a:xfrm>
                <a:off x="0" y="-28575"/>
                <a:ext cx="605076" cy="150692"/>
              </a:xfrm>
              <a:prstGeom prst="rect">
                <a:avLst/>
              </a:prstGeom>
            </p:spPr>
            <p:txBody>
              <a:bodyPr anchor="ctr" rtlCol="false" tIns="64438" lIns="64438" bIns="64438" rIns="64438"/>
              <a:lstStyle/>
              <a:p>
                <a:pPr algn="ctr">
                  <a:lnSpc>
                    <a:spcPts val="1876"/>
                  </a:lnSpc>
                </a:pPr>
              </a:p>
            </p:txBody>
          </p:sp>
        </p:grpSp>
        <p:sp>
          <p:nvSpPr>
            <p:cNvPr name="TextBox 19" id="19"/>
            <p:cNvSpPr txBox="true"/>
            <p:nvPr/>
          </p:nvSpPr>
          <p:spPr>
            <a:xfrm rot="0">
              <a:off x="138953" y="134709"/>
              <a:ext cx="3786900"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ĐĂNG KÝ</a:t>
              </a:r>
            </a:p>
          </p:txBody>
        </p:sp>
      </p:grpSp>
      <p:grpSp>
        <p:nvGrpSpPr>
          <p:cNvPr name="Group 20" id="20"/>
          <p:cNvGrpSpPr/>
          <p:nvPr/>
        </p:nvGrpSpPr>
        <p:grpSpPr>
          <a:xfrm rot="0">
            <a:off x="2884558" y="2826867"/>
            <a:ext cx="3756439" cy="583104"/>
            <a:chOff x="0" y="0"/>
            <a:chExt cx="745564" cy="115732"/>
          </a:xfrm>
        </p:grpSpPr>
        <p:sp>
          <p:nvSpPr>
            <p:cNvPr name="Freeform 21" id="21"/>
            <p:cNvSpPr/>
            <p:nvPr/>
          </p:nvSpPr>
          <p:spPr>
            <a:xfrm flipH="false" flipV="false" rot="0">
              <a:off x="0" y="0"/>
              <a:ext cx="745564" cy="115732"/>
            </a:xfrm>
            <a:custGeom>
              <a:avLst/>
              <a:gdLst/>
              <a:ahLst/>
              <a:cxnLst/>
              <a:rect r="r" b="b" t="t" l="l"/>
              <a:pathLst>
                <a:path h="115732" w="745564">
                  <a:moveTo>
                    <a:pt x="57866" y="0"/>
                  </a:moveTo>
                  <a:lnTo>
                    <a:pt x="687698" y="0"/>
                  </a:lnTo>
                  <a:cubicBezTo>
                    <a:pt x="719657" y="0"/>
                    <a:pt x="745564" y="25908"/>
                    <a:pt x="745564" y="57866"/>
                  </a:cubicBezTo>
                  <a:lnTo>
                    <a:pt x="745564" y="57866"/>
                  </a:lnTo>
                  <a:cubicBezTo>
                    <a:pt x="745564" y="89825"/>
                    <a:pt x="719657" y="115732"/>
                    <a:pt x="687698" y="115732"/>
                  </a:cubicBezTo>
                  <a:lnTo>
                    <a:pt x="57866" y="115732"/>
                  </a:lnTo>
                  <a:cubicBezTo>
                    <a:pt x="25908" y="115732"/>
                    <a:pt x="0" y="89825"/>
                    <a:pt x="0" y="57866"/>
                  </a:cubicBezTo>
                  <a:lnTo>
                    <a:pt x="0" y="57866"/>
                  </a:lnTo>
                  <a:cubicBezTo>
                    <a:pt x="0" y="25908"/>
                    <a:pt x="25908" y="0"/>
                    <a:pt x="57866" y="0"/>
                  </a:cubicBezTo>
                  <a:close/>
                </a:path>
              </a:pathLst>
            </a:custGeom>
            <a:solidFill>
              <a:srgbClr val="FEB101"/>
            </a:solidFill>
            <a:ln w="47625" cap="rnd">
              <a:solidFill>
                <a:srgbClr val="FF0000"/>
              </a:solidFill>
              <a:prstDash val="solid"/>
              <a:round/>
            </a:ln>
          </p:spPr>
        </p:sp>
        <p:sp>
          <p:nvSpPr>
            <p:cNvPr name="TextBox 22" id="22"/>
            <p:cNvSpPr txBox="true"/>
            <p:nvPr/>
          </p:nvSpPr>
          <p:spPr>
            <a:xfrm>
              <a:off x="0" y="-28575"/>
              <a:ext cx="745564" cy="144307"/>
            </a:xfrm>
            <a:prstGeom prst="rect">
              <a:avLst/>
            </a:prstGeom>
          </p:spPr>
          <p:txBody>
            <a:bodyPr anchor="ctr" rtlCol="false" tIns="64438" lIns="64438" bIns="64438" rIns="64438"/>
            <a:lstStyle/>
            <a:p>
              <a:pPr algn="ctr">
                <a:lnSpc>
                  <a:spcPts val="1876"/>
                </a:lnSpc>
              </a:pPr>
            </a:p>
          </p:txBody>
        </p:sp>
      </p:grpSp>
      <p:grpSp>
        <p:nvGrpSpPr>
          <p:cNvPr name="Group 23" id="23"/>
          <p:cNvGrpSpPr/>
          <p:nvPr/>
        </p:nvGrpSpPr>
        <p:grpSpPr>
          <a:xfrm rot="0">
            <a:off x="10862336" y="2542643"/>
            <a:ext cx="5123955" cy="948946"/>
            <a:chOff x="0" y="0"/>
            <a:chExt cx="6831940" cy="1265262"/>
          </a:xfrm>
        </p:grpSpPr>
        <p:grpSp>
          <p:nvGrpSpPr>
            <p:cNvPr name="Group 24" id="24"/>
            <p:cNvGrpSpPr/>
            <p:nvPr/>
          </p:nvGrpSpPr>
          <p:grpSpPr>
            <a:xfrm rot="0">
              <a:off x="102030" y="0"/>
              <a:ext cx="6478441" cy="777472"/>
              <a:chOff x="0" y="0"/>
              <a:chExt cx="964363" cy="115732"/>
            </a:xfrm>
          </p:grpSpPr>
          <p:sp>
            <p:nvSpPr>
              <p:cNvPr name="Freeform 25" id="25"/>
              <p:cNvSpPr/>
              <p:nvPr/>
            </p:nvSpPr>
            <p:spPr>
              <a:xfrm flipH="false" flipV="false" rot="0">
                <a:off x="0" y="0"/>
                <a:ext cx="964363" cy="115732"/>
              </a:xfrm>
              <a:custGeom>
                <a:avLst/>
                <a:gdLst/>
                <a:ahLst/>
                <a:cxnLst/>
                <a:rect r="r" b="b" t="t" l="l"/>
                <a:pathLst>
                  <a:path h="115732" w="964363">
                    <a:moveTo>
                      <a:pt x="57866" y="0"/>
                    </a:moveTo>
                    <a:lnTo>
                      <a:pt x="906497" y="0"/>
                    </a:lnTo>
                    <a:cubicBezTo>
                      <a:pt x="938455" y="0"/>
                      <a:pt x="964363" y="25908"/>
                      <a:pt x="964363" y="57866"/>
                    </a:cubicBezTo>
                    <a:lnTo>
                      <a:pt x="964363" y="57866"/>
                    </a:lnTo>
                    <a:cubicBezTo>
                      <a:pt x="964363" y="73213"/>
                      <a:pt x="958266" y="87932"/>
                      <a:pt x="947414" y="98784"/>
                    </a:cubicBezTo>
                    <a:cubicBezTo>
                      <a:pt x="936562" y="109636"/>
                      <a:pt x="921844" y="115732"/>
                      <a:pt x="906497" y="115732"/>
                    </a:cubicBezTo>
                    <a:lnTo>
                      <a:pt x="57866" y="115732"/>
                    </a:lnTo>
                    <a:cubicBezTo>
                      <a:pt x="25908" y="115732"/>
                      <a:pt x="0" y="89825"/>
                      <a:pt x="0" y="57866"/>
                    </a:cubicBezTo>
                    <a:lnTo>
                      <a:pt x="0" y="57866"/>
                    </a:lnTo>
                    <a:cubicBezTo>
                      <a:pt x="0" y="25908"/>
                      <a:pt x="25908" y="0"/>
                      <a:pt x="57866" y="0"/>
                    </a:cubicBezTo>
                    <a:close/>
                  </a:path>
                </a:pathLst>
              </a:custGeom>
              <a:solidFill>
                <a:srgbClr val="F6676D"/>
              </a:solidFill>
              <a:ln w="47625" cap="rnd">
                <a:solidFill>
                  <a:srgbClr val="FF0000"/>
                </a:solidFill>
                <a:prstDash val="solid"/>
                <a:round/>
              </a:ln>
            </p:spPr>
          </p:sp>
          <p:sp>
            <p:nvSpPr>
              <p:cNvPr name="TextBox 26" id="26"/>
              <p:cNvSpPr txBox="true"/>
              <p:nvPr/>
            </p:nvSpPr>
            <p:spPr>
              <a:xfrm>
                <a:off x="0" y="-28575"/>
                <a:ext cx="964363" cy="144307"/>
              </a:xfrm>
              <a:prstGeom prst="rect">
                <a:avLst/>
              </a:prstGeom>
            </p:spPr>
            <p:txBody>
              <a:bodyPr anchor="ctr" rtlCol="false" tIns="64438" lIns="64438" bIns="64438" rIns="64438"/>
              <a:lstStyle/>
              <a:p>
                <a:pPr algn="ctr">
                  <a:lnSpc>
                    <a:spcPts val="1876"/>
                  </a:lnSpc>
                </a:pPr>
              </a:p>
            </p:txBody>
          </p:sp>
        </p:grpSp>
        <p:sp>
          <p:nvSpPr>
            <p:cNvPr name="TextBox 27" id="27"/>
            <p:cNvSpPr txBox="true"/>
            <p:nvPr/>
          </p:nvSpPr>
          <p:spPr>
            <a:xfrm rot="0">
              <a:off x="0" y="134709"/>
              <a:ext cx="6831940" cy="428347"/>
            </a:xfrm>
            <a:prstGeom prst="rect">
              <a:avLst/>
            </a:prstGeom>
          </p:spPr>
          <p:txBody>
            <a:bodyPr anchor="t" rtlCol="false" tIns="0" lIns="0" bIns="0" rIns="0">
              <a:spAutoFit/>
            </a:bodyPr>
            <a:lstStyle/>
            <a:p>
              <a:pPr algn="ctr">
                <a:lnSpc>
                  <a:spcPts val="2767"/>
                </a:lnSpc>
                <a:spcBef>
                  <a:spcPct val="0"/>
                </a:spcBef>
              </a:pPr>
              <a:r>
                <a:rPr lang="en-US" b="true" sz="1976">
                  <a:solidFill>
                    <a:srgbClr val="FFFFFF"/>
                  </a:solidFill>
                  <a:latin typeface="Open Sans Bold"/>
                  <a:ea typeface="Open Sans Bold"/>
                  <a:cs typeface="Open Sans Bold"/>
                  <a:sym typeface="Open Sans Bold"/>
                </a:rPr>
                <a:t>TRA CỨU PHONG THỦY VÀ DỰ TOÁN</a:t>
              </a:r>
            </a:p>
          </p:txBody>
        </p:sp>
        <p:sp>
          <p:nvSpPr>
            <p:cNvPr name="TextBox 28" id="28"/>
            <p:cNvSpPr txBox="true"/>
            <p:nvPr/>
          </p:nvSpPr>
          <p:spPr>
            <a:xfrm rot="0">
              <a:off x="474526" y="894910"/>
              <a:ext cx="3775778" cy="370352"/>
            </a:xfrm>
            <a:prstGeom prst="rect">
              <a:avLst/>
            </a:prstGeom>
          </p:spPr>
          <p:txBody>
            <a:bodyPr anchor="t" rtlCol="false" tIns="0" lIns="0" bIns="0" rIns="0">
              <a:spAutoFit/>
            </a:bodyPr>
            <a:lstStyle/>
            <a:p>
              <a:pPr algn="ctr">
                <a:lnSpc>
                  <a:spcPts val="2181"/>
                </a:lnSpc>
              </a:pPr>
            </a:p>
          </p:txBody>
        </p:sp>
      </p:grpSp>
      <p:grpSp>
        <p:nvGrpSpPr>
          <p:cNvPr name="Group 29" id="29"/>
          <p:cNvGrpSpPr/>
          <p:nvPr/>
        </p:nvGrpSpPr>
        <p:grpSpPr>
          <a:xfrm rot="0">
            <a:off x="13424314" y="4163991"/>
            <a:ext cx="3390579" cy="583104"/>
            <a:chOff x="0" y="0"/>
            <a:chExt cx="4520772" cy="777472"/>
          </a:xfrm>
        </p:grpSpPr>
        <p:grpSp>
          <p:nvGrpSpPr>
            <p:cNvPr name="Group 30" id="30"/>
            <p:cNvGrpSpPr/>
            <p:nvPr/>
          </p:nvGrpSpPr>
          <p:grpSpPr>
            <a:xfrm rot="0">
              <a:off x="0" y="0"/>
              <a:ext cx="4520772" cy="777472"/>
              <a:chOff x="0" y="0"/>
              <a:chExt cx="672950" cy="115732"/>
            </a:xfrm>
          </p:grpSpPr>
          <p:sp>
            <p:nvSpPr>
              <p:cNvPr name="Freeform 31" id="31"/>
              <p:cNvSpPr/>
              <p:nvPr/>
            </p:nvSpPr>
            <p:spPr>
              <a:xfrm flipH="false" flipV="false" rot="0">
                <a:off x="0" y="0"/>
                <a:ext cx="672950" cy="115732"/>
              </a:xfrm>
              <a:custGeom>
                <a:avLst/>
                <a:gdLst/>
                <a:ahLst/>
                <a:cxnLst/>
                <a:rect r="r" b="b" t="t" l="l"/>
                <a:pathLst>
                  <a:path h="115732" w="672950">
                    <a:moveTo>
                      <a:pt x="57866" y="0"/>
                    </a:moveTo>
                    <a:lnTo>
                      <a:pt x="615083" y="0"/>
                    </a:lnTo>
                    <a:cubicBezTo>
                      <a:pt x="647042" y="0"/>
                      <a:pt x="672950" y="25908"/>
                      <a:pt x="672950" y="57866"/>
                    </a:cubicBezTo>
                    <a:lnTo>
                      <a:pt x="672950" y="57866"/>
                    </a:lnTo>
                    <a:cubicBezTo>
                      <a:pt x="672950" y="73213"/>
                      <a:pt x="666853" y="87932"/>
                      <a:pt x="656001" y="98784"/>
                    </a:cubicBezTo>
                    <a:cubicBezTo>
                      <a:pt x="645149" y="109636"/>
                      <a:pt x="630431" y="115732"/>
                      <a:pt x="615083" y="115732"/>
                    </a:cubicBezTo>
                    <a:lnTo>
                      <a:pt x="57866" y="115732"/>
                    </a:lnTo>
                    <a:cubicBezTo>
                      <a:pt x="25908" y="115732"/>
                      <a:pt x="0" y="89825"/>
                      <a:pt x="0" y="57866"/>
                    </a:cubicBezTo>
                    <a:lnTo>
                      <a:pt x="0" y="57866"/>
                    </a:lnTo>
                    <a:cubicBezTo>
                      <a:pt x="0" y="25908"/>
                      <a:pt x="25908" y="0"/>
                      <a:pt x="57866" y="0"/>
                    </a:cubicBezTo>
                    <a:close/>
                  </a:path>
                </a:pathLst>
              </a:custGeom>
              <a:solidFill>
                <a:srgbClr val="ED84B3"/>
              </a:solidFill>
              <a:ln w="47625" cap="rnd">
                <a:solidFill>
                  <a:srgbClr val="FF0000"/>
                </a:solidFill>
                <a:prstDash val="solid"/>
                <a:round/>
              </a:ln>
            </p:spPr>
          </p:sp>
          <p:sp>
            <p:nvSpPr>
              <p:cNvPr name="TextBox 32" id="32"/>
              <p:cNvSpPr txBox="true"/>
              <p:nvPr/>
            </p:nvSpPr>
            <p:spPr>
              <a:xfrm>
                <a:off x="0" y="-28575"/>
                <a:ext cx="672950" cy="144307"/>
              </a:xfrm>
              <a:prstGeom prst="rect">
                <a:avLst/>
              </a:prstGeom>
            </p:spPr>
            <p:txBody>
              <a:bodyPr anchor="ctr" rtlCol="false" tIns="64438" lIns="64438" bIns="64438" rIns="64438"/>
              <a:lstStyle/>
              <a:p>
                <a:pPr algn="ctr">
                  <a:lnSpc>
                    <a:spcPts val="1876"/>
                  </a:lnSpc>
                </a:pPr>
              </a:p>
            </p:txBody>
          </p:sp>
        </p:grpSp>
        <p:sp>
          <p:nvSpPr>
            <p:cNvPr name="TextBox 33" id="33"/>
            <p:cNvSpPr txBox="true"/>
            <p:nvPr/>
          </p:nvSpPr>
          <p:spPr>
            <a:xfrm rot="0">
              <a:off x="166963" y="134709"/>
              <a:ext cx="4186846" cy="47237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SẢN PHẨM</a:t>
              </a:r>
            </a:p>
          </p:txBody>
        </p:sp>
      </p:grpSp>
      <p:sp>
        <p:nvSpPr>
          <p:cNvPr name="AutoShape 34" id="34"/>
          <p:cNvSpPr/>
          <p:nvPr/>
        </p:nvSpPr>
        <p:spPr>
          <a:xfrm flipV="true">
            <a:off x="10030799" y="2831353"/>
            <a:ext cx="831537" cy="2276759"/>
          </a:xfrm>
          <a:prstGeom prst="line">
            <a:avLst/>
          </a:prstGeom>
          <a:ln cap="flat" w="38100">
            <a:solidFill>
              <a:srgbClr val="0000D3"/>
            </a:solidFill>
            <a:prstDash val="lgDash"/>
            <a:headEnd type="none" len="sm" w="sm"/>
            <a:tailEnd type="oval" len="lg" w="lg"/>
          </a:ln>
        </p:spPr>
      </p:sp>
      <p:sp>
        <p:nvSpPr>
          <p:cNvPr name="AutoShape 35" id="35"/>
          <p:cNvSpPr/>
          <p:nvPr/>
        </p:nvSpPr>
        <p:spPr>
          <a:xfrm flipV="true">
            <a:off x="10569132" y="4287860"/>
            <a:ext cx="2855181" cy="1436062"/>
          </a:xfrm>
          <a:prstGeom prst="line">
            <a:avLst/>
          </a:prstGeom>
          <a:ln cap="flat" w="38100">
            <a:solidFill>
              <a:srgbClr val="0000D3"/>
            </a:solidFill>
            <a:prstDash val="lgDash"/>
            <a:headEnd type="none" len="sm" w="sm"/>
            <a:tailEnd type="oval" len="lg" w="lg"/>
          </a:ln>
        </p:spPr>
      </p:sp>
      <p:sp>
        <p:nvSpPr>
          <p:cNvPr name="AutoShape 36" id="36"/>
          <p:cNvSpPr/>
          <p:nvPr/>
        </p:nvSpPr>
        <p:spPr>
          <a:xfrm>
            <a:off x="3900579" y="5989686"/>
            <a:ext cx="3638550" cy="151799"/>
          </a:xfrm>
          <a:prstGeom prst="line">
            <a:avLst/>
          </a:prstGeom>
          <a:ln cap="flat" w="38100">
            <a:solidFill>
              <a:srgbClr val="0000D3"/>
            </a:solidFill>
            <a:prstDash val="lgDash"/>
            <a:headEnd type="oval" len="lg" w="lg"/>
            <a:tailEnd type="none" len="sm" w="sm"/>
          </a:ln>
        </p:spPr>
      </p:sp>
      <p:sp>
        <p:nvSpPr>
          <p:cNvPr name="AutoShape 37" id="37"/>
          <p:cNvSpPr/>
          <p:nvPr/>
        </p:nvSpPr>
        <p:spPr>
          <a:xfrm flipV="true">
            <a:off x="4211053" y="7029186"/>
            <a:ext cx="3414384" cy="540840"/>
          </a:xfrm>
          <a:prstGeom prst="line">
            <a:avLst/>
          </a:prstGeom>
          <a:ln cap="flat" w="38100">
            <a:solidFill>
              <a:srgbClr val="0000D3"/>
            </a:solidFill>
            <a:prstDash val="lgDash"/>
            <a:headEnd type="oval" len="lg" w="lg"/>
            <a:tailEnd type="none" len="sm" w="sm"/>
          </a:ln>
        </p:spPr>
      </p:sp>
      <p:sp>
        <p:nvSpPr>
          <p:cNvPr name="AutoShape 38" id="38"/>
          <p:cNvSpPr/>
          <p:nvPr/>
        </p:nvSpPr>
        <p:spPr>
          <a:xfrm flipH="true" flipV="true">
            <a:off x="6640998" y="3118419"/>
            <a:ext cx="2188451" cy="1739331"/>
          </a:xfrm>
          <a:prstGeom prst="line">
            <a:avLst/>
          </a:prstGeom>
          <a:ln cap="flat" w="38100">
            <a:solidFill>
              <a:srgbClr val="0000D3"/>
            </a:solidFill>
            <a:prstDash val="lgDash"/>
            <a:headEnd type="none" len="sm" w="sm"/>
            <a:tailEnd type="oval" len="lg" w="lg"/>
          </a:ln>
        </p:spPr>
      </p:sp>
      <p:sp>
        <p:nvSpPr>
          <p:cNvPr name="AutoShape 39" id="39"/>
          <p:cNvSpPr/>
          <p:nvPr/>
        </p:nvSpPr>
        <p:spPr>
          <a:xfrm flipH="true" flipV="true">
            <a:off x="4502549" y="4455543"/>
            <a:ext cx="3438028" cy="808938"/>
          </a:xfrm>
          <a:prstGeom prst="line">
            <a:avLst/>
          </a:prstGeom>
          <a:ln cap="flat" w="38100">
            <a:solidFill>
              <a:srgbClr val="0000D3"/>
            </a:solidFill>
            <a:prstDash val="lgDash"/>
            <a:headEnd type="none" len="sm" w="sm"/>
            <a:tailEnd type="oval" len="lg" w="lg"/>
          </a:ln>
        </p:spPr>
      </p:sp>
      <p:sp>
        <p:nvSpPr>
          <p:cNvPr name="TextBox 40" id="40"/>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41" id="41"/>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10</a:t>
            </a:r>
          </a:p>
        </p:txBody>
      </p:sp>
      <p:sp>
        <p:nvSpPr>
          <p:cNvPr name="TextBox 42" id="42"/>
          <p:cNvSpPr txBox="true"/>
          <p:nvPr/>
        </p:nvSpPr>
        <p:spPr>
          <a:xfrm rot="0">
            <a:off x="1028700" y="615069"/>
            <a:ext cx="13316908"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HIỆN THỰC HÓA NGHIÊN CỨU</a:t>
            </a:r>
          </a:p>
        </p:txBody>
      </p:sp>
      <p:sp>
        <p:nvSpPr>
          <p:cNvPr name="TextBox 43" id="43"/>
          <p:cNvSpPr txBox="true"/>
          <p:nvPr/>
        </p:nvSpPr>
        <p:spPr>
          <a:xfrm rot="0">
            <a:off x="654200" y="4255498"/>
            <a:ext cx="3709995" cy="361990"/>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CHUYỂN ĐỔI NGÔN NGỮ</a:t>
            </a:r>
          </a:p>
        </p:txBody>
      </p:sp>
      <p:sp>
        <p:nvSpPr>
          <p:cNvPr name="TextBox 44" id="44"/>
          <p:cNvSpPr txBox="true"/>
          <p:nvPr/>
        </p:nvSpPr>
        <p:spPr>
          <a:xfrm rot="0">
            <a:off x="2900841" y="2918374"/>
            <a:ext cx="3740156" cy="361990"/>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 XEM NỘI DUNG WEBSITE </a:t>
            </a:r>
          </a:p>
        </p:txBody>
      </p:sp>
      <p:sp>
        <p:nvSpPr>
          <p:cNvPr name="TextBox 45" id="45"/>
          <p:cNvSpPr txBox="true"/>
          <p:nvPr/>
        </p:nvSpPr>
        <p:spPr>
          <a:xfrm rot="0">
            <a:off x="5046186" y="8449065"/>
            <a:ext cx="8057649" cy="402569"/>
          </a:xfrm>
          <a:prstGeom prst="rect">
            <a:avLst/>
          </a:prstGeom>
        </p:spPr>
        <p:txBody>
          <a:bodyPr anchor="t" rtlCol="false" tIns="0" lIns="0" bIns="0" rIns="0">
            <a:spAutoFit/>
          </a:bodyPr>
          <a:lstStyle/>
          <a:p>
            <a:pPr algn="ctr">
              <a:lnSpc>
                <a:spcPts val="3087"/>
              </a:lnSpc>
            </a:pPr>
            <a:r>
              <a:rPr lang="en-US" b="true" sz="3026">
                <a:solidFill>
                  <a:srgbClr val="000000"/>
                </a:solidFill>
                <a:latin typeface="Open Sans Ultra-Bold"/>
                <a:ea typeface="Open Sans Ultra-Bold"/>
                <a:cs typeface="Open Sans Ultra-Bold"/>
                <a:sym typeface="Open Sans Ultra-Bold"/>
              </a:rPr>
              <a:t>CHỨC NĂNG NGƯỜI DÙNG</a:t>
            </a:r>
          </a:p>
        </p:txBody>
      </p:sp>
      <p:grpSp>
        <p:nvGrpSpPr>
          <p:cNvPr name="Group 46" id="46"/>
          <p:cNvGrpSpPr/>
          <p:nvPr/>
        </p:nvGrpSpPr>
        <p:grpSpPr>
          <a:xfrm rot="0">
            <a:off x="14113230" y="5586039"/>
            <a:ext cx="3146070" cy="948946"/>
            <a:chOff x="0" y="0"/>
            <a:chExt cx="4194760" cy="1265262"/>
          </a:xfrm>
        </p:grpSpPr>
        <p:grpSp>
          <p:nvGrpSpPr>
            <p:cNvPr name="Group 47" id="47"/>
            <p:cNvGrpSpPr/>
            <p:nvPr/>
          </p:nvGrpSpPr>
          <p:grpSpPr>
            <a:xfrm rot="0">
              <a:off x="0" y="0"/>
              <a:ext cx="4194760" cy="777472"/>
              <a:chOff x="0" y="0"/>
              <a:chExt cx="624420" cy="115732"/>
            </a:xfrm>
          </p:grpSpPr>
          <p:sp>
            <p:nvSpPr>
              <p:cNvPr name="Freeform 48" id="48"/>
              <p:cNvSpPr/>
              <p:nvPr/>
            </p:nvSpPr>
            <p:spPr>
              <a:xfrm flipH="false" flipV="false" rot="0">
                <a:off x="0" y="0"/>
                <a:ext cx="624420" cy="115732"/>
              </a:xfrm>
              <a:custGeom>
                <a:avLst/>
                <a:gdLst/>
                <a:ahLst/>
                <a:cxnLst/>
                <a:rect r="r" b="b" t="t" l="l"/>
                <a:pathLst>
                  <a:path h="115732" w="624420">
                    <a:moveTo>
                      <a:pt x="57866" y="0"/>
                    </a:moveTo>
                    <a:lnTo>
                      <a:pt x="566554" y="0"/>
                    </a:lnTo>
                    <a:cubicBezTo>
                      <a:pt x="581901" y="0"/>
                      <a:pt x="596620" y="6097"/>
                      <a:pt x="607472" y="16949"/>
                    </a:cubicBezTo>
                    <a:cubicBezTo>
                      <a:pt x="618324" y="27801"/>
                      <a:pt x="624420" y="42519"/>
                      <a:pt x="624420" y="57866"/>
                    </a:cubicBezTo>
                    <a:lnTo>
                      <a:pt x="624420" y="57866"/>
                    </a:lnTo>
                    <a:cubicBezTo>
                      <a:pt x="624420" y="89825"/>
                      <a:pt x="598513" y="115732"/>
                      <a:pt x="566554" y="115732"/>
                    </a:cubicBezTo>
                    <a:lnTo>
                      <a:pt x="57866" y="115732"/>
                    </a:lnTo>
                    <a:cubicBezTo>
                      <a:pt x="25908" y="115732"/>
                      <a:pt x="0" y="89825"/>
                      <a:pt x="0" y="57866"/>
                    </a:cubicBezTo>
                    <a:lnTo>
                      <a:pt x="0" y="57866"/>
                    </a:lnTo>
                    <a:cubicBezTo>
                      <a:pt x="0" y="25908"/>
                      <a:pt x="25908" y="0"/>
                      <a:pt x="57866" y="0"/>
                    </a:cubicBezTo>
                    <a:close/>
                  </a:path>
                </a:pathLst>
              </a:custGeom>
              <a:solidFill>
                <a:srgbClr val="8C52FF"/>
              </a:solidFill>
              <a:ln w="47625" cap="rnd">
                <a:solidFill>
                  <a:srgbClr val="FF0000"/>
                </a:solidFill>
                <a:prstDash val="solid"/>
                <a:round/>
              </a:ln>
            </p:spPr>
          </p:sp>
          <p:sp>
            <p:nvSpPr>
              <p:cNvPr name="TextBox 49" id="49"/>
              <p:cNvSpPr txBox="true"/>
              <p:nvPr/>
            </p:nvSpPr>
            <p:spPr>
              <a:xfrm>
                <a:off x="0" y="-28575"/>
                <a:ext cx="624420" cy="144307"/>
              </a:xfrm>
              <a:prstGeom prst="rect">
                <a:avLst/>
              </a:prstGeom>
            </p:spPr>
            <p:txBody>
              <a:bodyPr anchor="ctr" rtlCol="false" tIns="64438" lIns="64438" bIns="64438" rIns="64438"/>
              <a:lstStyle/>
              <a:p>
                <a:pPr algn="ctr">
                  <a:lnSpc>
                    <a:spcPts val="1876"/>
                  </a:lnSpc>
                </a:pPr>
              </a:p>
            </p:txBody>
          </p:sp>
        </p:grpSp>
        <p:sp>
          <p:nvSpPr>
            <p:cNvPr name="TextBox 50" id="50"/>
            <p:cNvSpPr txBox="true"/>
            <p:nvPr/>
          </p:nvSpPr>
          <p:spPr>
            <a:xfrm rot="0">
              <a:off x="154923" y="134709"/>
              <a:ext cx="3861281" cy="47237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ĐẶT HÀNG</a:t>
              </a:r>
            </a:p>
          </p:txBody>
        </p:sp>
        <p:sp>
          <p:nvSpPr>
            <p:cNvPr name="TextBox 51" id="51"/>
            <p:cNvSpPr txBox="true"/>
            <p:nvPr/>
          </p:nvSpPr>
          <p:spPr>
            <a:xfrm rot="0">
              <a:off x="345634" y="894910"/>
              <a:ext cx="3503491" cy="370352"/>
            </a:xfrm>
            <a:prstGeom prst="rect">
              <a:avLst/>
            </a:prstGeom>
          </p:spPr>
          <p:txBody>
            <a:bodyPr anchor="t" rtlCol="false" tIns="0" lIns="0" bIns="0" rIns="0">
              <a:spAutoFit/>
            </a:bodyPr>
            <a:lstStyle/>
            <a:p>
              <a:pPr algn="ctr">
                <a:lnSpc>
                  <a:spcPts val="2181"/>
                </a:lnSpc>
              </a:pPr>
            </a:p>
          </p:txBody>
        </p:sp>
      </p:grpSp>
      <p:sp>
        <p:nvSpPr>
          <p:cNvPr name="AutoShape 52" id="52"/>
          <p:cNvSpPr/>
          <p:nvPr/>
        </p:nvSpPr>
        <p:spPr>
          <a:xfrm flipV="true">
            <a:off x="10715540" y="5850903"/>
            <a:ext cx="3397690" cy="1031983"/>
          </a:xfrm>
          <a:prstGeom prst="line">
            <a:avLst/>
          </a:prstGeom>
          <a:ln cap="flat" w="38100">
            <a:solidFill>
              <a:srgbClr val="0000D3"/>
            </a:solidFill>
            <a:prstDash val="lgDash"/>
            <a:headEnd type="none" len="sm" w="sm"/>
            <a:tailEnd type="oval" len="lg" w="lg"/>
          </a:ln>
        </p:spPr>
      </p:sp>
      <p:grpSp>
        <p:nvGrpSpPr>
          <p:cNvPr name="Group 53" id="53"/>
          <p:cNvGrpSpPr/>
          <p:nvPr/>
        </p:nvGrpSpPr>
        <p:grpSpPr>
          <a:xfrm rot="0">
            <a:off x="13868721" y="7373929"/>
            <a:ext cx="3390579" cy="583104"/>
            <a:chOff x="0" y="0"/>
            <a:chExt cx="4520772" cy="777472"/>
          </a:xfrm>
        </p:grpSpPr>
        <p:grpSp>
          <p:nvGrpSpPr>
            <p:cNvPr name="Group 54" id="54"/>
            <p:cNvGrpSpPr/>
            <p:nvPr/>
          </p:nvGrpSpPr>
          <p:grpSpPr>
            <a:xfrm rot="0">
              <a:off x="0" y="0"/>
              <a:ext cx="4520772" cy="777472"/>
              <a:chOff x="0" y="0"/>
              <a:chExt cx="672950" cy="115732"/>
            </a:xfrm>
          </p:grpSpPr>
          <p:sp>
            <p:nvSpPr>
              <p:cNvPr name="Freeform 55" id="55"/>
              <p:cNvSpPr/>
              <p:nvPr/>
            </p:nvSpPr>
            <p:spPr>
              <a:xfrm flipH="false" flipV="false" rot="0">
                <a:off x="0" y="0"/>
                <a:ext cx="672950" cy="115732"/>
              </a:xfrm>
              <a:custGeom>
                <a:avLst/>
                <a:gdLst/>
                <a:ahLst/>
                <a:cxnLst/>
                <a:rect r="r" b="b" t="t" l="l"/>
                <a:pathLst>
                  <a:path h="115732" w="672950">
                    <a:moveTo>
                      <a:pt x="57866" y="0"/>
                    </a:moveTo>
                    <a:lnTo>
                      <a:pt x="615083" y="0"/>
                    </a:lnTo>
                    <a:cubicBezTo>
                      <a:pt x="647042" y="0"/>
                      <a:pt x="672950" y="25908"/>
                      <a:pt x="672950" y="57866"/>
                    </a:cubicBezTo>
                    <a:lnTo>
                      <a:pt x="672950" y="57866"/>
                    </a:lnTo>
                    <a:cubicBezTo>
                      <a:pt x="672950" y="73213"/>
                      <a:pt x="666853" y="87932"/>
                      <a:pt x="656001" y="98784"/>
                    </a:cubicBezTo>
                    <a:cubicBezTo>
                      <a:pt x="645149" y="109636"/>
                      <a:pt x="630431" y="115732"/>
                      <a:pt x="615083" y="115732"/>
                    </a:cubicBezTo>
                    <a:lnTo>
                      <a:pt x="57866" y="115732"/>
                    </a:lnTo>
                    <a:cubicBezTo>
                      <a:pt x="25908" y="115732"/>
                      <a:pt x="0" y="89825"/>
                      <a:pt x="0" y="57866"/>
                    </a:cubicBezTo>
                    <a:lnTo>
                      <a:pt x="0" y="57866"/>
                    </a:lnTo>
                    <a:cubicBezTo>
                      <a:pt x="0" y="25908"/>
                      <a:pt x="25908" y="0"/>
                      <a:pt x="57866" y="0"/>
                    </a:cubicBezTo>
                    <a:close/>
                  </a:path>
                </a:pathLst>
              </a:custGeom>
              <a:solidFill>
                <a:srgbClr val="3CD6FF"/>
              </a:solidFill>
              <a:ln w="47625" cap="rnd">
                <a:solidFill>
                  <a:srgbClr val="FF0000"/>
                </a:solidFill>
                <a:prstDash val="solid"/>
                <a:round/>
              </a:ln>
            </p:spPr>
          </p:sp>
          <p:sp>
            <p:nvSpPr>
              <p:cNvPr name="TextBox 56" id="56"/>
              <p:cNvSpPr txBox="true"/>
              <p:nvPr/>
            </p:nvSpPr>
            <p:spPr>
              <a:xfrm>
                <a:off x="0" y="-28575"/>
                <a:ext cx="672950" cy="144307"/>
              </a:xfrm>
              <a:prstGeom prst="rect">
                <a:avLst/>
              </a:prstGeom>
            </p:spPr>
            <p:txBody>
              <a:bodyPr anchor="ctr" rtlCol="false" tIns="64438" lIns="64438" bIns="64438" rIns="64438"/>
              <a:lstStyle/>
              <a:p>
                <a:pPr algn="ctr">
                  <a:lnSpc>
                    <a:spcPts val="1876"/>
                  </a:lnSpc>
                </a:pPr>
              </a:p>
            </p:txBody>
          </p:sp>
        </p:grpSp>
        <p:sp>
          <p:nvSpPr>
            <p:cNvPr name="TextBox 57" id="57"/>
            <p:cNvSpPr txBox="true"/>
            <p:nvPr/>
          </p:nvSpPr>
          <p:spPr>
            <a:xfrm rot="0">
              <a:off x="166963" y="134709"/>
              <a:ext cx="4186846"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LIÊN HỆ </a:t>
              </a:r>
            </a:p>
          </p:txBody>
        </p:sp>
      </p:grpSp>
      <p:sp>
        <p:nvSpPr>
          <p:cNvPr name="AutoShape 58" id="58"/>
          <p:cNvSpPr/>
          <p:nvPr/>
        </p:nvSpPr>
        <p:spPr>
          <a:xfrm>
            <a:off x="10242614" y="7505151"/>
            <a:ext cx="3626107" cy="208737"/>
          </a:xfrm>
          <a:prstGeom prst="line">
            <a:avLst/>
          </a:prstGeom>
          <a:ln cap="flat" w="38100">
            <a:solidFill>
              <a:srgbClr val="0000D3"/>
            </a:solidFill>
            <a:prstDash val="lgDash"/>
            <a:headEnd type="none" len="sm" w="sm"/>
            <a:tailEnd type="oval" len="lg" w="lg"/>
          </a:ln>
        </p:spPr>
      </p:sp>
      <p:grpSp>
        <p:nvGrpSpPr>
          <p:cNvPr name="Group 59" id="59"/>
          <p:cNvGrpSpPr/>
          <p:nvPr/>
        </p:nvGrpSpPr>
        <p:grpSpPr>
          <a:xfrm rot="0">
            <a:off x="7539129" y="4857750"/>
            <a:ext cx="3209742" cy="3209742"/>
            <a:chOff x="0" y="0"/>
            <a:chExt cx="812800" cy="812800"/>
          </a:xfrm>
        </p:grpSpPr>
        <p:sp>
          <p:nvSpPr>
            <p:cNvPr name="Freeform 60" id="6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FFF"/>
            </a:solidFill>
            <a:ln w="104775" cap="sq">
              <a:solidFill>
                <a:srgbClr val="FFFFFF"/>
              </a:solidFill>
              <a:prstDash val="solid"/>
              <a:miter/>
            </a:ln>
          </p:spPr>
        </p:sp>
        <p:sp>
          <p:nvSpPr>
            <p:cNvPr name="TextBox 61" id="61"/>
            <p:cNvSpPr txBox="true"/>
            <p:nvPr/>
          </p:nvSpPr>
          <p:spPr>
            <a:xfrm>
              <a:off x="76200" y="47625"/>
              <a:ext cx="660400" cy="688975"/>
            </a:xfrm>
            <a:prstGeom prst="rect">
              <a:avLst/>
            </a:prstGeom>
          </p:spPr>
          <p:txBody>
            <a:bodyPr anchor="ctr" rtlCol="false" tIns="50800" lIns="50800" bIns="50800" rIns="50800"/>
            <a:lstStyle/>
            <a:p>
              <a:pPr algn="ctr">
                <a:lnSpc>
                  <a:spcPts val="1876"/>
                </a:lnSpc>
              </a:pPr>
            </a:p>
          </p:txBody>
        </p:sp>
      </p:grpSp>
      <p:grpSp>
        <p:nvGrpSpPr>
          <p:cNvPr name="Group 62" id="62"/>
          <p:cNvGrpSpPr/>
          <p:nvPr/>
        </p:nvGrpSpPr>
        <p:grpSpPr>
          <a:xfrm rot="0">
            <a:off x="7820776" y="5143500"/>
            <a:ext cx="2649849" cy="2649849"/>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64" id="64"/>
            <p:cNvSpPr txBox="true"/>
            <p:nvPr/>
          </p:nvSpPr>
          <p:spPr>
            <a:xfrm>
              <a:off x="76200" y="38100"/>
              <a:ext cx="660400" cy="698500"/>
            </a:xfrm>
            <a:prstGeom prst="rect">
              <a:avLst/>
            </a:prstGeom>
          </p:spPr>
          <p:txBody>
            <a:bodyPr anchor="ctr" rtlCol="false" tIns="50800" lIns="50800" bIns="50800" rIns="50800"/>
            <a:lstStyle/>
            <a:p>
              <a:pPr algn="ctr">
                <a:lnSpc>
                  <a:spcPts val="3047"/>
                </a:lnSpc>
              </a:pPr>
            </a:p>
          </p:txBody>
        </p:sp>
      </p:grpSp>
      <p:grpSp>
        <p:nvGrpSpPr>
          <p:cNvPr name="Group 65" id="65"/>
          <p:cNvGrpSpPr/>
          <p:nvPr/>
        </p:nvGrpSpPr>
        <p:grpSpPr>
          <a:xfrm rot="0">
            <a:off x="7820776" y="5108112"/>
            <a:ext cx="2649849" cy="2649849"/>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053" t="-3017" r="-5532" b="-11568"/>
              </a:stretch>
            </a:blipFill>
          </p:spPr>
        </p:sp>
      </p:grpSp>
      <p:sp>
        <p:nvSpPr>
          <p:cNvPr name="TextBox 67" id="67"/>
          <p:cNvSpPr txBox="true"/>
          <p:nvPr/>
        </p:nvSpPr>
        <p:spPr>
          <a:xfrm rot="0">
            <a:off x="1455731" y="1531160"/>
            <a:ext cx="1066914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3.2 – Yêu cầu chức năng người dùng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grpSp>
        <p:nvGrpSpPr>
          <p:cNvPr name="Group 7" id="7"/>
          <p:cNvGrpSpPr/>
          <p:nvPr/>
        </p:nvGrpSpPr>
        <p:grpSpPr>
          <a:xfrm rot="0">
            <a:off x="7539129" y="5191125"/>
            <a:ext cx="3209742" cy="320974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FFF"/>
            </a:solidFill>
            <a:ln w="104775" cap="sq">
              <a:solidFill>
                <a:srgbClr val="FFFFFF"/>
              </a:solidFill>
              <a:prstDash val="solid"/>
              <a:miter/>
            </a:ln>
          </p:spPr>
        </p:sp>
        <p:sp>
          <p:nvSpPr>
            <p:cNvPr name="TextBox 9" id="9"/>
            <p:cNvSpPr txBox="true"/>
            <p:nvPr/>
          </p:nvSpPr>
          <p:spPr>
            <a:xfrm>
              <a:off x="76200" y="47625"/>
              <a:ext cx="660400" cy="688975"/>
            </a:xfrm>
            <a:prstGeom prst="rect">
              <a:avLst/>
            </a:prstGeom>
          </p:spPr>
          <p:txBody>
            <a:bodyPr anchor="ctr" rtlCol="false" tIns="50800" lIns="50800" bIns="50800" rIns="50800"/>
            <a:lstStyle/>
            <a:p>
              <a:pPr algn="ctr">
                <a:lnSpc>
                  <a:spcPts val="1876"/>
                </a:lnSpc>
              </a:pPr>
            </a:p>
          </p:txBody>
        </p:sp>
      </p:grpSp>
      <p:grpSp>
        <p:nvGrpSpPr>
          <p:cNvPr name="Group 10" id="10"/>
          <p:cNvGrpSpPr/>
          <p:nvPr/>
        </p:nvGrpSpPr>
        <p:grpSpPr>
          <a:xfrm rot="0">
            <a:off x="763324" y="7543620"/>
            <a:ext cx="3390579" cy="583104"/>
            <a:chOff x="0" y="0"/>
            <a:chExt cx="4520772" cy="777472"/>
          </a:xfrm>
        </p:grpSpPr>
        <p:grpSp>
          <p:nvGrpSpPr>
            <p:cNvPr name="Group 11" id="11"/>
            <p:cNvGrpSpPr/>
            <p:nvPr/>
          </p:nvGrpSpPr>
          <p:grpSpPr>
            <a:xfrm rot="0">
              <a:off x="0" y="0"/>
              <a:ext cx="4520772" cy="777472"/>
              <a:chOff x="0" y="0"/>
              <a:chExt cx="672950" cy="115732"/>
            </a:xfrm>
          </p:grpSpPr>
          <p:sp>
            <p:nvSpPr>
              <p:cNvPr name="Freeform 12" id="12"/>
              <p:cNvSpPr/>
              <p:nvPr/>
            </p:nvSpPr>
            <p:spPr>
              <a:xfrm flipH="false" flipV="false" rot="0">
                <a:off x="0" y="0"/>
                <a:ext cx="672950" cy="115732"/>
              </a:xfrm>
              <a:custGeom>
                <a:avLst/>
                <a:gdLst/>
                <a:ahLst/>
                <a:cxnLst/>
                <a:rect r="r" b="b" t="t" l="l"/>
                <a:pathLst>
                  <a:path h="115732" w="672950">
                    <a:moveTo>
                      <a:pt x="57866" y="0"/>
                    </a:moveTo>
                    <a:lnTo>
                      <a:pt x="615083" y="0"/>
                    </a:lnTo>
                    <a:cubicBezTo>
                      <a:pt x="647042" y="0"/>
                      <a:pt x="672950" y="25908"/>
                      <a:pt x="672950" y="57866"/>
                    </a:cubicBezTo>
                    <a:lnTo>
                      <a:pt x="672950" y="57866"/>
                    </a:lnTo>
                    <a:cubicBezTo>
                      <a:pt x="672950" y="73213"/>
                      <a:pt x="666853" y="87932"/>
                      <a:pt x="656001" y="98784"/>
                    </a:cubicBezTo>
                    <a:cubicBezTo>
                      <a:pt x="645149" y="109636"/>
                      <a:pt x="630431" y="115732"/>
                      <a:pt x="615083" y="115732"/>
                    </a:cubicBezTo>
                    <a:lnTo>
                      <a:pt x="57866" y="115732"/>
                    </a:lnTo>
                    <a:cubicBezTo>
                      <a:pt x="25908" y="115732"/>
                      <a:pt x="0" y="89825"/>
                      <a:pt x="0" y="57866"/>
                    </a:cubicBezTo>
                    <a:lnTo>
                      <a:pt x="0" y="57866"/>
                    </a:lnTo>
                    <a:cubicBezTo>
                      <a:pt x="0" y="25908"/>
                      <a:pt x="25908" y="0"/>
                      <a:pt x="57866" y="0"/>
                    </a:cubicBezTo>
                    <a:close/>
                  </a:path>
                </a:pathLst>
              </a:custGeom>
              <a:solidFill>
                <a:srgbClr val="00C9FF"/>
              </a:solidFill>
              <a:ln w="47625" cap="rnd">
                <a:solidFill>
                  <a:srgbClr val="00FFFF"/>
                </a:solidFill>
                <a:prstDash val="solid"/>
                <a:round/>
              </a:ln>
            </p:spPr>
          </p:sp>
          <p:sp>
            <p:nvSpPr>
              <p:cNvPr name="TextBox 13" id="13"/>
              <p:cNvSpPr txBox="true"/>
              <p:nvPr/>
            </p:nvSpPr>
            <p:spPr>
              <a:xfrm>
                <a:off x="0" y="-28575"/>
                <a:ext cx="672950" cy="144307"/>
              </a:xfrm>
              <a:prstGeom prst="rect">
                <a:avLst/>
              </a:prstGeom>
            </p:spPr>
            <p:txBody>
              <a:bodyPr anchor="ctr" rtlCol="false" tIns="64438" lIns="64438" bIns="64438" rIns="64438"/>
              <a:lstStyle/>
              <a:p>
                <a:pPr algn="ctr">
                  <a:lnSpc>
                    <a:spcPts val="1876"/>
                  </a:lnSpc>
                </a:pPr>
              </a:p>
            </p:txBody>
          </p:sp>
        </p:grpSp>
        <p:sp>
          <p:nvSpPr>
            <p:cNvPr name="TextBox 14" id="14"/>
            <p:cNvSpPr txBox="true"/>
            <p:nvPr/>
          </p:nvSpPr>
          <p:spPr>
            <a:xfrm rot="0">
              <a:off x="166963" y="134709"/>
              <a:ext cx="4186846"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ĐĂNG NHẬP</a:t>
              </a:r>
            </a:p>
          </p:txBody>
        </p:sp>
      </p:grpSp>
      <p:grpSp>
        <p:nvGrpSpPr>
          <p:cNvPr name="Group 15" id="15"/>
          <p:cNvGrpSpPr/>
          <p:nvPr/>
        </p:nvGrpSpPr>
        <p:grpSpPr>
          <a:xfrm rot="0">
            <a:off x="922785" y="4297341"/>
            <a:ext cx="3304949" cy="583104"/>
            <a:chOff x="0" y="0"/>
            <a:chExt cx="655954" cy="115732"/>
          </a:xfrm>
        </p:grpSpPr>
        <p:sp>
          <p:nvSpPr>
            <p:cNvPr name="Freeform 16" id="16"/>
            <p:cNvSpPr/>
            <p:nvPr/>
          </p:nvSpPr>
          <p:spPr>
            <a:xfrm flipH="false" flipV="false" rot="0">
              <a:off x="0" y="0"/>
              <a:ext cx="655954" cy="115732"/>
            </a:xfrm>
            <a:custGeom>
              <a:avLst/>
              <a:gdLst/>
              <a:ahLst/>
              <a:cxnLst/>
              <a:rect r="r" b="b" t="t" l="l"/>
              <a:pathLst>
                <a:path h="115732" w="655954">
                  <a:moveTo>
                    <a:pt x="57866" y="0"/>
                  </a:moveTo>
                  <a:lnTo>
                    <a:pt x="598088" y="0"/>
                  </a:lnTo>
                  <a:cubicBezTo>
                    <a:pt x="613435" y="0"/>
                    <a:pt x="628153" y="6097"/>
                    <a:pt x="639005" y="16949"/>
                  </a:cubicBezTo>
                  <a:cubicBezTo>
                    <a:pt x="649857" y="27801"/>
                    <a:pt x="655954" y="42519"/>
                    <a:pt x="655954" y="57866"/>
                  </a:cubicBezTo>
                  <a:lnTo>
                    <a:pt x="655954" y="57866"/>
                  </a:lnTo>
                  <a:cubicBezTo>
                    <a:pt x="655954" y="89825"/>
                    <a:pt x="630046" y="115732"/>
                    <a:pt x="598088" y="115732"/>
                  </a:cubicBezTo>
                  <a:lnTo>
                    <a:pt x="57866" y="115732"/>
                  </a:lnTo>
                  <a:cubicBezTo>
                    <a:pt x="25908" y="115732"/>
                    <a:pt x="0" y="89825"/>
                    <a:pt x="0" y="57866"/>
                  </a:cubicBezTo>
                  <a:lnTo>
                    <a:pt x="0" y="57866"/>
                  </a:lnTo>
                  <a:cubicBezTo>
                    <a:pt x="0" y="25908"/>
                    <a:pt x="25908" y="0"/>
                    <a:pt x="57866" y="0"/>
                  </a:cubicBezTo>
                  <a:close/>
                </a:path>
              </a:pathLst>
            </a:custGeom>
            <a:solidFill>
              <a:srgbClr val="05C1B0"/>
            </a:solidFill>
            <a:ln w="47625" cap="rnd">
              <a:solidFill>
                <a:srgbClr val="00FFFF"/>
              </a:solidFill>
              <a:prstDash val="solid"/>
              <a:round/>
            </a:ln>
          </p:spPr>
        </p:sp>
        <p:sp>
          <p:nvSpPr>
            <p:cNvPr name="TextBox 17" id="17"/>
            <p:cNvSpPr txBox="true"/>
            <p:nvPr/>
          </p:nvSpPr>
          <p:spPr>
            <a:xfrm>
              <a:off x="0" y="-28575"/>
              <a:ext cx="655954" cy="144307"/>
            </a:xfrm>
            <a:prstGeom prst="rect">
              <a:avLst/>
            </a:prstGeom>
          </p:spPr>
          <p:txBody>
            <a:bodyPr anchor="ctr" rtlCol="false" tIns="64438" lIns="64438" bIns="64438" rIns="64438"/>
            <a:lstStyle/>
            <a:p>
              <a:pPr algn="ctr">
                <a:lnSpc>
                  <a:spcPts val="1876"/>
                </a:lnSpc>
              </a:pPr>
            </a:p>
          </p:txBody>
        </p:sp>
      </p:grpSp>
      <p:grpSp>
        <p:nvGrpSpPr>
          <p:cNvPr name="Group 18" id="18"/>
          <p:cNvGrpSpPr/>
          <p:nvPr/>
        </p:nvGrpSpPr>
        <p:grpSpPr>
          <a:xfrm rot="0">
            <a:off x="763324" y="5843505"/>
            <a:ext cx="3203930" cy="615271"/>
            <a:chOff x="0" y="0"/>
            <a:chExt cx="4271907" cy="820361"/>
          </a:xfrm>
        </p:grpSpPr>
        <p:grpSp>
          <p:nvGrpSpPr>
            <p:cNvPr name="Group 19" id="19"/>
            <p:cNvGrpSpPr/>
            <p:nvPr/>
          </p:nvGrpSpPr>
          <p:grpSpPr>
            <a:xfrm rot="0">
              <a:off x="0" y="0"/>
              <a:ext cx="4271907" cy="820361"/>
              <a:chOff x="0" y="0"/>
              <a:chExt cx="635904" cy="122117"/>
            </a:xfrm>
          </p:grpSpPr>
          <p:sp>
            <p:nvSpPr>
              <p:cNvPr name="Freeform 20" id="20"/>
              <p:cNvSpPr/>
              <p:nvPr/>
            </p:nvSpPr>
            <p:spPr>
              <a:xfrm flipH="false" flipV="false" rot="0">
                <a:off x="0" y="0"/>
                <a:ext cx="635904" cy="122117"/>
              </a:xfrm>
              <a:custGeom>
                <a:avLst/>
                <a:gdLst/>
                <a:ahLst/>
                <a:cxnLst/>
                <a:rect r="r" b="b" t="t" l="l"/>
                <a:pathLst>
                  <a:path h="122117" w="635904">
                    <a:moveTo>
                      <a:pt x="61058" y="0"/>
                    </a:moveTo>
                    <a:lnTo>
                      <a:pt x="574846" y="0"/>
                    </a:lnTo>
                    <a:cubicBezTo>
                      <a:pt x="608568" y="0"/>
                      <a:pt x="635904" y="27337"/>
                      <a:pt x="635904" y="61058"/>
                    </a:cubicBezTo>
                    <a:lnTo>
                      <a:pt x="635904" y="61058"/>
                    </a:lnTo>
                    <a:cubicBezTo>
                      <a:pt x="635904" y="77252"/>
                      <a:pt x="629471" y="92782"/>
                      <a:pt x="618021" y="104233"/>
                    </a:cubicBezTo>
                    <a:cubicBezTo>
                      <a:pt x="606570" y="115684"/>
                      <a:pt x="591040" y="122117"/>
                      <a:pt x="574846" y="122117"/>
                    </a:cubicBezTo>
                    <a:lnTo>
                      <a:pt x="61058" y="122117"/>
                    </a:lnTo>
                    <a:cubicBezTo>
                      <a:pt x="44865" y="122117"/>
                      <a:pt x="29334" y="115684"/>
                      <a:pt x="17884" y="104233"/>
                    </a:cubicBezTo>
                    <a:cubicBezTo>
                      <a:pt x="6433" y="92782"/>
                      <a:pt x="0" y="77252"/>
                      <a:pt x="0" y="61058"/>
                    </a:cubicBezTo>
                    <a:lnTo>
                      <a:pt x="0" y="61058"/>
                    </a:lnTo>
                    <a:cubicBezTo>
                      <a:pt x="0" y="44865"/>
                      <a:pt x="6433" y="29334"/>
                      <a:pt x="17884" y="17884"/>
                    </a:cubicBezTo>
                    <a:cubicBezTo>
                      <a:pt x="29334" y="6433"/>
                      <a:pt x="44865" y="0"/>
                      <a:pt x="61058" y="0"/>
                    </a:cubicBezTo>
                    <a:close/>
                  </a:path>
                </a:pathLst>
              </a:custGeom>
              <a:solidFill>
                <a:srgbClr val="2DB8D9"/>
              </a:solidFill>
              <a:ln w="47625" cap="rnd">
                <a:solidFill>
                  <a:srgbClr val="00FFFF"/>
                </a:solidFill>
                <a:prstDash val="solid"/>
                <a:round/>
              </a:ln>
            </p:spPr>
          </p:sp>
          <p:sp>
            <p:nvSpPr>
              <p:cNvPr name="TextBox 21" id="21"/>
              <p:cNvSpPr txBox="true"/>
              <p:nvPr/>
            </p:nvSpPr>
            <p:spPr>
              <a:xfrm>
                <a:off x="0" y="-28575"/>
                <a:ext cx="635904" cy="150692"/>
              </a:xfrm>
              <a:prstGeom prst="rect">
                <a:avLst/>
              </a:prstGeom>
            </p:spPr>
            <p:txBody>
              <a:bodyPr anchor="ctr" rtlCol="false" tIns="64438" lIns="64438" bIns="64438" rIns="64438"/>
              <a:lstStyle/>
              <a:p>
                <a:pPr algn="ctr">
                  <a:lnSpc>
                    <a:spcPts val="1876"/>
                  </a:lnSpc>
                </a:pPr>
              </a:p>
            </p:txBody>
          </p:sp>
        </p:grpSp>
        <p:sp>
          <p:nvSpPr>
            <p:cNvPr name="TextBox 22" id="22"/>
            <p:cNvSpPr txBox="true"/>
            <p:nvPr/>
          </p:nvSpPr>
          <p:spPr>
            <a:xfrm rot="0">
              <a:off x="146032" y="156154"/>
              <a:ext cx="3979842"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NỘI DUNG</a:t>
              </a:r>
            </a:p>
          </p:txBody>
        </p:sp>
      </p:grpSp>
      <p:grpSp>
        <p:nvGrpSpPr>
          <p:cNvPr name="Group 23" id="23"/>
          <p:cNvGrpSpPr/>
          <p:nvPr/>
        </p:nvGrpSpPr>
        <p:grpSpPr>
          <a:xfrm rot="0">
            <a:off x="2764600" y="3018913"/>
            <a:ext cx="3756439" cy="583104"/>
            <a:chOff x="0" y="0"/>
            <a:chExt cx="745564" cy="115732"/>
          </a:xfrm>
        </p:grpSpPr>
        <p:sp>
          <p:nvSpPr>
            <p:cNvPr name="Freeform 24" id="24"/>
            <p:cNvSpPr/>
            <p:nvPr/>
          </p:nvSpPr>
          <p:spPr>
            <a:xfrm flipH="false" flipV="false" rot="0">
              <a:off x="0" y="0"/>
              <a:ext cx="745564" cy="115732"/>
            </a:xfrm>
            <a:custGeom>
              <a:avLst/>
              <a:gdLst/>
              <a:ahLst/>
              <a:cxnLst/>
              <a:rect r="r" b="b" t="t" l="l"/>
              <a:pathLst>
                <a:path h="115732" w="745564">
                  <a:moveTo>
                    <a:pt x="57866" y="0"/>
                  </a:moveTo>
                  <a:lnTo>
                    <a:pt x="687698" y="0"/>
                  </a:lnTo>
                  <a:cubicBezTo>
                    <a:pt x="719657" y="0"/>
                    <a:pt x="745564" y="25908"/>
                    <a:pt x="745564" y="57866"/>
                  </a:cubicBezTo>
                  <a:lnTo>
                    <a:pt x="745564" y="57866"/>
                  </a:lnTo>
                  <a:cubicBezTo>
                    <a:pt x="745564" y="89825"/>
                    <a:pt x="719657" y="115732"/>
                    <a:pt x="687698" y="115732"/>
                  </a:cubicBezTo>
                  <a:lnTo>
                    <a:pt x="57866" y="115732"/>
                  </a:lnTo>
                  <a:cubicBezTo>
                    <a:pt x="25908" y="115732"/>
                    <a:pt x="0" y="89825"/>
                    <a:pt x="0" y="57866"/>
                  </a:cubicBezTo>
                  <a:lnTo>
                    <a:pt x="0" y="57866"/>
                  </a:lnTo>
                  <a:cubicBezTo>
                    <a:pt x="0" y="25908"/>
                    <a:pt x="25908" y="0"/>
                    <a:pt x="57866" y="0"/>
                  </a:cubicBezTo>
                  <a:close/>
                </a:path>
              </a:pathLst>
            </a:custGeom>
            <a:solidFill>
              <a:srgbClr val="FEB101"/>
            </a:solidFill>
            <a:ln w="47625" cap="rnd">
              <a:solidFill>
                <a:srgbClr val="00FFFF"/>
              </a:solidFill>
              <a:prstDash val="solid"/>
              <a:round/>
            </a:ln>
          </p:spPr>
        </p:sp>
        <p:sp>
          <p:nvSpPr>
            <p:cNvPr name="TextBox 25" id="25"/>
            <p:cNvSpPr txBox="true"/>
            <p:nvPr/>
          </p:nvSpPr>
          <p:spPr>
            <a:xfrm>
              <a:off x="0" y="-28575"/>
              <a:ext cx="745564" cy="144307"/>
            </a:xfrm>
            <a:prstGeom prst="rect">
              <a:avLst/>
            </a:prstGeom>
          </p:spPr>
          <p:txBody>
            <a:bodyPr anchor="ctr" rtlCol="false" tIns="64438" lIns="64438" bIns="64438" rIns="64438"/>
            <a:lstStyle/>
            <a:p>
              <a:pPr algn="ctr">
                <a:lnSpc>
                  <a:spcPts val="1876"/>
                </a:lnSpc>
              </a:pPr>
            </a:p>
          </p:txBody>
        </p:sp>
      </p:grpSp>
      <p:grpSp>
        <p:nvGrpSpPr>
          <p:cNvPr name="Group 26" id="26"/>
          <p:cNvGrpSpPr/>
          <p:nvPr/>
        </p:nvGrpSpPr>
        <p:grpSpPr>
          <a:xfrm rot="0">
            <a:off x="11573842" y="2629613"/>
            <a:ext cx="3711114" cy="948946"/>
            <a:chOff x="0" y="0"/>
            <a:chExt cx="4948153" cy="1265262"/>
          </a:xfrm>
        </p:grpSpPr>
        <p:grpSp>
          <p:nvGrpSpPr>
            <p:cNvPr name="Group 27" id="27"/>
            <p:cNvGrpSpPr/>
            <p:nvPr/>
          </p:nvGrpSpPr>
          <p:grpSpPr>
            <a:xfrm rot="0">
              <a:off x="73897" y="0"/>
              <a:ext cx="4692124" cy="777472"/>
              <a:chOff x="0" y="0"/>
              <a:chExt cx="698457" cy="115732"/>
            </a:xfrm>
          </p:grpSpPr>
          <p:sp>
            <p:nvSpPr>
              <p:cNvPr name="Freeform 28" id="28"/>
              <p:cNvSpPr/>
              <p:nvPr/>
            </p:nvSpPr>
            <p:spPr>
              <a:xfrm flipH="false" flipV="false" rot="0">
                <a:off x="0" y="0"/>
                <a:ext cx="698457" cy="115732"/>
              </a:xfrm>
              <a:custGeom>
                <a:avLst/>
                <a:gdLst/>
                <a:ahLst/>
                <a:cxnLst/>
                <a:rect r="r" b="b" t="t" l="l"/>
                <a:pathLst>
                  <a:path h="115732" w="698457">
                    <a:moveTo>
                      <a:pt x="57866" y="0"/>
                    </a:moveTo>
                    <a:lnTo>
                      <a:pt x="640591" y="0"/>
                    </a:lnTo>
                    <a:cubicBezTo>
                      <a:pt x="672549" y="0"/>
                      <a:pt x="698457" y="25908"/>
                      <a:pt x="698457" y="57866"/>
                    </a:cubicBezTo>
                    <a:lnTo>
                      <a:pt x="698457" y="57866"/>
                    </a:lnTo>
                    <a:cubicBezTo>
                      <a:pt x="698457" y="73213"/>
                      <a:pt x="692360" y="87932"/>
                      <a:pt x="681508" y="98784"/>
                    </a:cubicBezTo>
                    <a:cubicBezTo>
                      <a:pt x="670656" y="109636"/>
                      <a:pt x="655938" y="115732"/>
                      <a:pt x="640591" y="115732"/>
                    </a:cubicBezTo>
                    <a:lnTo>
                      <a:pt x="57866" y="115732"/>
                    </a:lnTo>
                    <a:cubicBezTo>
                      <a:pt x="25908" y="115732"/>
                      <a:pt x="0" y="89825"/>
                      <a:pt x="0" y="57866"/>
                    </a:cubicBezTo>
                    <a:lnTo>
                      <a:pt x="0" y="57866"/>
                    </a:lnTo>
                    <a:cubicBezTo>
                      <a:pt x="0" y="25908"/>
                      <a:pt x="25908" y="0"/>
                      <a:pt x="57866" y="0"/>
                    </a:cubicBezTo>
                    <a:close/>
                  </a:path>
                </a:pathLst>
              </a:custGeom>
              <a:solidFill>
                <a:srgbClr val="F6676D"/>
              </a:solidFill>
              <a:ln w="47625" cap="rnd">
                <a:solidFill>
                  <a:srgbClr val="00FFFF"/>
                </a:solidFill>
                <a:prstDash val="solid"/>
                <a:round/>
              </a:ln>
            </p:spPr>
          </p:sp>
          <p:sp>
            <p:nvSpPr>
              <p:cNvPr name="TextBox 29" id="29"/>
              <p:cNvSpPr txBox="true"/>
              <p:nvPr/>
            </p:nvSpPr>
            <p:spPr>
              <a:xfrm>
                <a:off x="0" y="-28575"/>
                <a:ext cx="698457" cy="144307"/>
              </a:xfrm>
              <a:prstGeom prst="rect">
                <a:avLst/>
              </a:prstGeom>
            </p:spPr>
            <p:txBody>
              <a:bodyPr anchor="ctr" rtlCol="false" tIns="64438" lIns="64438" bIns="64438" rIns="64438"/>
              <a:lstStyle/>
              <a:p>
                <a:pPr algn="ctr">
                  <a:lnSpc>
                    <a:spcPts val="1876"/>
                  </a:lnSpc>
                </a:pPr>
              </a:p>
            </p:txBody>
          </p:sp>
        </p:grpSp>
        <p:sp>
          <p:nvSpPr>
            <p:cNvPr name="TextBox 30" id="30"/>
            <p:cNvSpPr txBox="true"/>
            <p:nvPr/>
          </p:nvSpPr>
          <p:spPr>
            <a:xfrm rot="0">
              <a:off x="0" y="134709"/>
              <a:ext cx="4948153" cy="428347"/>
            </a:xfrm>
            <a:prstGeom prst="rect">
              <a:avLst/>
            </a:prstGeom>
          </p:spPr>
          <p:txBody>
            <a:bodyPr anchor="t" rtlCol="false" tIns="0" lIns="0" bIns="0" rIns="0">
              <a:spAutoFit/>
            </a:bodyPr>
            <a:lstStyle/>
            <a:p>
              <a:pPr algn="ctr">
                <a:lnSpc>
                  <a:spcPts val="2767"/>
                </a:lnSpc>
                <a:spcBef>
                  <a:spcPct val="0"/>
                </a:spcBef>
              </a:pPr>
              <a:r>
                <a:rPr lang="en-US" b="true" sz="1976">
                  <a:solidFill>
                    <a:srgbClr val="FFFFFF"/>
                  </a:solidFill>
                  <a:latin typeface="Open Sans Bold"/>
                  <a:ea typeface="Open Sans Bold"/>
                  <a:cs typeface="Open Sans Bold"/>
                  <a:sym typeface="Open Sans Bold"/>
                </a:rPr>
                <a:t>QUẢN LÝ ĐÁNH GIÁ</a:t>
              </a:r>
            </a:p>
          </p:txBody>
        </p:sp>
        <p:sp>
          <p:nvSpPr>
            <p:cNvPr name="TextBox 31" id="31"/>
            <p:cNvSpPr txBox="true"/>
            <p:nvPr/>
          </p:nvSpPr>
          <p:spPr>
            <a:xfrm rot="0">
              <a:off x="343684" y="894910"/>
              <a:ext cx="2734674" cy="370352"/>
            </a:xfrm>
            <a:prstGeom prst="rect">
              <a:avLst/>
            </a:prstGeom>
          </p:spPr>
          <p:txBody>
            <a:bodyPr anchor="t" rtlCol="false" tIns="0" lIns="0" bIns="0" rIns="0">
              <a:spAutoFit/>
            </a:bodyPr>
            <a:lstStyle/>
            <a:p>
              <a:pPr algn="ctr">
                <a:lnSpc>
                  <a:spcPts val="2181"/>
                </a:lnSpc>
              </a:pPr>
            </a:p>
          </p:txBody>
        </p:sp>
      </p:grpSp>
      <p:grpSp>
        <p:nvGrpSpPr>
          <p:cNvPr name="Group 32" id="32"/>
          <p:cNvGrpSpPr/>
          <p:nvPr/>
        </p:nvGrpSpPr>
        <p:grpSpPr>
          <a:xfrm rot="0">
            <a:off x="13211239" y="3743346"/>
            <a:ext cx="3390579" cy="583104"/>
            <a:chOff x="0" y="0"/>
            <a:chExt cx="4520772" cy="777472"/>
          </a:xfrm>
        </p:grpSpPr>
        <p:grpSp>
          <p:nvGrpSpPr>
            <p:cNvPr name="Group 33" id="33"/>
            <p:cNvGrpSpPr/>
            <p:nvPr/>
          </p:nvGrpSpPr>
          <p:grpSpPr>
            <a:xfrm rot="0">
              <a:off x="0" y="0"/>
              <a:ext cx="4520772" cy="777472"/>
              <a:chOff x="0" y="0"/>
              <a:chExt cx="672950" cy="115732"/>
            </a:xfrm>
          </p:grpSpPr>
          <p:sp>
            <p:nvSpPr>
              <p:cNvPr name="Freeform 34" id="34"/>
              <p:cNvSpPr/>
              <p:nvPr/>
            </p:nvSpPr>
            <p:spPr>
              <a:xfrm flipH="false" flipV="false" rot="0">
                <a:off x="0" y="0"/>
                <a:ext cx="672950" cy="115732"/>
              </a:xfrm>
              <a:custGeom>
                <a:avLst/>
                <a:gdLst/>
                <a:ahLst/>
                <a:cxnLst/>
                <a:rect r="r" b="b" t="t" l="l"/>
                <a:pathLst>
                  <a:path h="115732" w="672950">
                    <a:moveTo>
                      <a:pt x="57866" y="0"/>
                    </a:moveTo>
                    <a:lnTo>
                      <a:pt x="615083" y="0"/>
                    </a:lnTo>
                    <a:cubicBezTo>
                      <a:pt x="647042" y="0"/>
                      <a:pt x="672950" y="25908"/>
                      <a:pt x="672950" y="57866"/>
                    </a:cubicBezTo>
                    <a:lnTo>
                      <a:pt x="672950" y="57866"/>
                    </a:lnTo>
                    <a:cubicBezTo>
                      <a:pt x="672950" y="73213"/>
                      <a:pt x="666853" y="87932"/>
                      <a:pt x="656001" y="98784"/>
                    </a:cubicBezTo>
                    <a:cubicBezTo>
                      <a:pt x="645149" y="109636"/>
                      <a:pt x="630431" y="115732"/>
                      <a:pt x="615083" y="115732"/>
                    </a:cubicBezTo>
                    <a:lnTo>
                      <a:pt x="57866" y="115732"/>
                    </a:lnTo>
                    <a:cubicBezTo>
                      <a:pt x="25908" y="115732"/>
                      <a:pt x="0" y="89825"/>
                      <a:pt x="0" y="57866"/>
                    </a:cubicBezTo>
                    <a:lnTo>
                      <a:pt x="0" y="57866"/>
                    </a:lnTo>
                    <a:cubicBezTo>
                      <a:pt x="0" y="25908"/>
                      <a:pt x="25908" y="0"/>
                      <a:pt x="57866" y="0"/>
                    </a:cubicBezTo>
                    <a:close/>
                  </a:path>
                </a:pathLst>
              </a:custGeom>
              <a:solidFill>
                <a:srgbClr val="ED84B3"/>
              </a:solidFill>
              <a:ln w="47625" cap="rnd">
                <a:solidFill>
                  <a:srgbClr val="00FFFF"/>
                </a:solidFill>
                <a:prstDash val="solid"/>
                <a:round/>
              </a:ln>
            </p:spPr>
          </p:sp>
          <p:sp>
            <p:nvSpPr>
              <p:cNvPr name="TextBox 35" id="35"/>
              <p:cNvSpPr txBox="true"/>
              <p:nvPr/>
            </p:nvSpPr>
            <p:spPr>
              <a:xfrm>
                <a:off x="0" y="-28575"/>
                <a:ext cx="672950" cy="144307"/>
              </a:xfrm>
              <a:prstGeom prst="rect">
                <a:avLst/>
              </a:prstGeom>
            </p:spPr>
            <p:txBody>
              <a:bodyPr anchor="ctr" rtlCol="false" tIns="64438" lIns="64438" bIns="64438" rIns="64438"/>
              <a:lstStyle/>
              <a:p>
                <a:pPr algn="ctr">
                  <a:lnSpc>
                    <a:spcPts val="1876"/>
                  </a:lnSpc>
                </a:pPr>
              </a:p>
            </p:txBody>
          </p:sp>
        </p:grpSp>
        <p:sp>
          <p:nvSpPr>
            <p:cNvPr name="TextBox 36" id="36"/>
            <p:cNvSpPr txBox="true"/>
            <p:nvPr/>
          </p:nvSpPr>
          <p:spPr>
            <a:xfrm rot="0">
              <a:off x="166963" y="134709"/>
              <a:ext cx="4186846" cy="47237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SẢN PHẨM</a:t>
              </a:r>
            </a:p>
          </p:txBody>
        </p:sp>
      </p:grpSp>
      <p:sp>
        <p:nvSpPr>
          <p:cNvPr name="AutoShape 37" id="37"/>
          <p:cNvSpPr/>
          <p:nvPr/>
        </p:nvSpPr>
        <p:spPr>
          <a:xfrm flipV="true">
            <a:off x="9663619" y="2918323"/>
            <a:ext cx="1910223" cy="2358789"/>
          </a:xfrm>
          <a:prstGeom prst="line">
            <a:avLst/>
          </a:prstGeom>
          <a:ln cap="flat" w="38100">
            <a:solidFill>
              <a:srgbClr val="0000D3"/>
            </a:solidFill>
            <a:prstDash val="lgDash"/>
            <a:headEnd type="none" len="sm" w="sm"/>
            <a:tailEnd type="oval" len="lg" w="lg"/>
          </a:ln>
        </p:spPr>
      </p:sp>
      <p:sp>
        <p:nvSpPr>
          <p:cNvPr name="AutoShape 38" id="38"/>
          <p:cNvSpPr/>
          <p:nvPr/>
        </p:nvSpPr>
        <p:spPr>
          <a:xfrm flipV="true">
            <a:off x="10380177" y="4034898"/>
            <a:ext cx="2831062" cy="1737568"/>
          </a:xfrm>
          <a:prstGeom prst="line">
            <a:avLst/>
          </a:prstGeom>
          <a:ln cap="flat" w="38100">
            <a:solidFill>
              <a:srgbClr val="0000D3"/>
            </a:solidFill>
            <a:prstDash val="lgDash"/>
            <a:headEnd type="none" len="sm" w="sm"/>
            <a:tailEnd type="oval" len="lg" w="lg"/>
          </a:ln>
        </p:spPr>
      </p:sp>
      <p:sp>
        <p:nvSpPr>
          <p:cNvPr name="AutoShape 39" id="39"/>
          <p:cNvSpPr/>
          <p:nvPr/>
        </p:nvSpPr>
        <p:spPr>
          <a:xfrm>
            <a:off x="3967254" y="6151140"/>
            <a:ext cx="3600374" cy="342187"/>
          </a:xfrm>
          <a:prstGeom prst="line">
            <a:avLst/>
          </a:prstGeom>
          <a:ln cap="flat" w="38100">
            <a:solidFill>
              <a:srgbClr val="0000D3"/>
            </a:solidFill>
            <a:prstDash val="lgDash"/>
            <a:headEnd type="oval" len="lg" w="lg"/>
            <a:tailEnd type="none" len="sm" w="sm"/>
          </a:ln>
        </p:spPr>
      </p:sp>
      <p:sp>
        <p:nvSpPr>
          <p:cNvPr name="AutoShape 40" id="40"/>
          <p:cNvSpPr/>
          <p:nvPr/>
        </p:nvSpPr>
        <p:spPr>
          <a:xfrm flipV="true">
            <a:off x="4153903" y="7679289"/>
            <a:ext cx="3649957" cy="12020"/>
          </a:xfrm>
          <a:prstGeom prst="line">
            <a:avLst/>
          </a:prstGeom>
          <a:ln cap="flat" w="38100">
            <a:solidFill>
              <a:srgbClr val="0000D3"/>
            </a:solidFill>
            <a:prstDash val="lgDash"/>
            <a:headEnd type="oval" len="lg" w="lg"/>
            <a:tailEnd type="none" len="sm" w="sm"/>
          </a:ln>
        </p:spPr>
      </p:sp>
      <p:sp>
        <p:nvSpPr>
          <p:cNvPr name="AutoShape 41" id="41"/>
          <p:cNvSpPr/>
          <p:nvPr/>
        </p:nvSpPr>
        <p:spPr>
          <a:xfrm flipH="true" flipV="true">
            <a:off x="6521039" y="3310464"/>
            <a:ext cx="2335066" cy="1906411"/>
          </a:xfrm>
          <a:prstGeom prst="line">
            <a:avLst/>
          </a:prstGeom>
          <a:ln cap="flat" w="38100">
            <a:solidFill>
              <a:srgbClr val="0000D3"/>
            </a:solidFill>
            <a:prstDash val="lgDash"/>
            <a:headEnd type="none" len="sm" w="sm"/>
            <a:tailEnd type="oval" len="lg" w="lg"/>
          </a:ln>
        </p:spPr>
      </p:sp>
      <p:sp>
        <p:nvSpPr>
          <p:cNvPr name="AutoShape 42" id="42"/>
          <p:cNvSpPr/>
          <p:nvPr/>
        </p:nvSpPr>
        <p:spPr>
          <a:xfrm flipH="true" flipV="true">
            <a:off x="4227734" y="4588893"/>
            <a:ext cx="3659529" cy="1208893"/>
          </a:xfrm>
          <a:prstGeom prst="line">
            <a:avLst/>
          </a:prstGeom>
          <a:ln cap="flat" w="38100">
            <a:solidFill>
              <a:srgbClr val="0000D3"/>
            </a:solidFill>
            <a:prstDash val="lgDash"/>
            <a:headEnd type="none" len="sm" w="sm"/>
            <a:tailEnd type="oval" len="lg" w="lg"/>
          </a:ln>
        </p:spPr>
      </p:sp>
      <p:grpSp>
        <p:nvGrpSpPr>
          <p:cNvPr name="Group 43" id="43"/>
          <p:cNvGrpSpPr/>
          <p:nvPr/>
        </p:nvGrpSpPr>
        <p:grpSpPr>
          <a:xfrm rot="0">
            <a:off x="7820776" y="5476875"/>
            <a:ext cx="2649849" cy="2649849"/>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3047"/>
                </a:lnSpc>
              </a:pPr>
            </a:p>
          </p:txBody>
        </p:sp>
      </p:grpSp>
      <p:grpSp>
        <p:nvGrpSpPr>
          <p:cNvPr name="Group 46" id="46"/>
          <p:cNvGrpSpPr/>
          <p:nvPr/>
        </p:nvGrpSpPr>
        <p:grpSpPr>
          <a:xfrm rot="0">
            <a:off x="7820776" y="5441487"/>
            <a:ext cx="2649849" cy="2649849"/>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9053" t="-3017" r="-5532" b="-11568"/>
              </a:stretch>
            </a:blipFill>
          </p:spPr>
        </p:sp>
      </p:grpSp>
      <p:sp>
        <p:nvSpPr>
          <p:cNvPr name="TextBox 48" id="48"/>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49" id="49"/>
          <p:cNvSpPr txBox="true"/>
          <p:nvPr/>
        </p:nvSpPr>
        <p:spPr>
          <a:xfrm rot="0">
            <a:off x="17259300" y="9360113"/>
            <a:ext cx="44489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11</a:t>
            </a:r>
          </a:p>
        </p:txBody>
      </p:sp>
      <p:sp>
        <p:nvSpPr>
          <p:cNvPr name="TextBox 50" id="50"/>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PHƯƠNG PHÁP THỰC HIỆN</a:t>
            </a:r>
          </a:p>
        </p:txBody>
      </p:sp>
      <p:sp>
        <p:nvSpPr>
          <p:cNvPr name="TextBox 51" id="51"/>
          <p:cNvSpPr txBox="true"/>
          <p:nvPr/>
        </p:nvSpPr>
        <p:spPr>
          <a:xfrm rot="0">
            <a:off x="670881" y="4388848"/>
            <a:ext cx="3709995" cy="361990"/>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TIN TỨC</a:t>
            </a:r>
          </a:p>
        </p:txBody>
      </p:sp>
      <p:sp>
        <p:nvSpPr>
          <p:cNvPr name="TextBox 52" id="52"/>
          <p:cNvSpPr txBox="true"/>
          <p:nvPr/>
        </p:nvSpPr>
        <p:spPr>
          <a:xfrm rot="0">
            <a:off x="2780883" y="3110419"/>
            <a:ext cx="3740156" cy="361990"/>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KHÁCH HÀNG</a:t>
            </a:r>
          </a:p>
        </p:txBody>
      </p:sp>
      <p:sp>
        <p:nvSpPr>
          <p:cNvPr name="TextBox 53" id="53"/>
          <p:cNvSpPr txBox="true"/>
          <p:nvPr/>
        </p:nvSpPr>
        <p:spPr>
          <a:xfrm rot="0">
            <a:off x="5006200" y="8562792"/>
            <a:ext cx="8057649" cy="402569"/>
          </a:xfrm>
          <a:prstGeom prst="rect">
            <a:avLst/>
          </a:prstGeom>
        </p:spPr>
        <p:txBody>
          <a:bodyPr anchor="t" rtlCol="false" tIns="0" lIns="0" bIns="0" rIns="0">
            <a:spAutoFit/>
          </a:bodyPr>
          <a:lstStyle/>
          <a:p>
            <a:pPr algn="ctr">
              <a:lnSpc>
                <a:spcPts val="3087"/>
              </a:lnSpc>
            </a:pPr>
            <a:r>
              <a:rPr lang="en-US" b="true" sz="3026">
                <a:solidFill>
                  <a:srgbClr val="000000"/>
                </a:solidFill>
                <a:latin typeface="Open Sans Ultra-Bold"/>
                <a:ea typeface="Open Sans Ultra-Bold"/>
                <a:cs typeface="Open Sans Ultra-Bold"/>
                <a:sym typeface="Open Sans Ultra-Bold"/>
              </a:rPr>
              <a:t>CHỨC NĂNG QUẢN TRỊ</a:t>
            </a:r>
          </a:p>
        </p:txBody>
      </p:sp>
      <p:grpSp>
        <p:nvGrpSpPr>
          <p:cNvPr name="Group 54" id="54"/>
          <p:cNvGrpSpPr/>
          <p:nvPr/>
        </p:nvGrpSpPr>
        <p:grpSpPr>
          <a:xfrm rot="0">
            <a:off x="13834176" y="4848840"/>
            <a:ext cx="3146070" cy="948946"/>
            <a:chOff x="0" y="0"/>
            <a:chExt cx="4194760" cy="1265262"/>
          </a:xfrm>
        </p:grpSpPr>
        <p:grpSp>
          <p:nvGrpSpPr>
            <p:cNvPr name="Group 55" id="55"/>
            <p:cNvGrpSpPr/>
            <p:nvPr/>
          </p:nvGrpSpPr>
          <p:grpSpPr>
            <a:xfrm rot="0">
              <a:off x="0" y="0"/>
              <a:ext cx="4194760" cy="777472"/>
              <a:chOff x="0" y="0"/>
              <a:chExt cx="624420" cy="115732"/>
            </a:xfrm>
          </p:grpSpPr>
          <p:sp>
            <p:nvSpPr>
              <p:cNvPr name="Freeform 56" id="56"/>
              <p:cNvSpPr/>
              <p:nvPr/>
            </p:nvSpPr>
            <p:spPr>
              <a:xfrm flipH="false" flipV="false" rot="0">
                <a:off x="0" y="0"/>
                <a:ext cx="624420" cy="115732"/>
              </a:xfrm>
              <a:custGeom>
                <a:avLst/>
                <a:gdLst/>
                <a:ahLst/>
                <a:cxnLst/>
                <a:rect r="r" b="b" t="t" l="l"/>
                <a:pathLst>
                  <a:path h="115732" w="624420">
                    <a:moveTo>
                      <a:pt x="57866" y="0"/>
                    </a:moveTo>
                    <a:lnTo>
                      <a:pt x="566554" y="0"/>
                    </a:lnTo>
                    <a:cubicBezTo>
                      <a:pt x="581901" y="0"/>
                      <a:pt x="596620" y="6097"/>
                      <a:pt x="607472" y="16949"/>
                    </a:cubicBezTo>
                    <a:cubicBezTo>
                      <a:pt x="618324" y="27801"/>
                      <a:pt x="624420" y="42519"/>
                      <a:pt x="624420" y="57866"/>
                    </a:cubicBezTo>
                    <a:lnTo>
                      <a:pt x="624420" y="57866"/>
                    </a:lnTo>
                    <a:cubicBezTo>
                      <a:pt x="624420" y="89825"/>
                      <a:pt x="598513" y="115732"/>
                      <a:pt x="566554" y="115732"/>
                    </a:cubicBezTo>
                    <a:lnTo>
                      <a:pt x="57866" y="115732"/>
                    </a:lnTo>
                    <a:cubicBezTo>
                      <a:pt x="25908" y="115732"/>
                      <a:pt x="0" y="89825"/>
                      <a:pt x="0" y="57866"/>
                    </a:cubicBezTo>
                    <a:lnTo>
                      <a:pt x="0" y="57866"/>
                    </a:lnTo>
                    <a:cubicBezTo>
                      <a:pt x="0" y="25908"/>
                      <a:pt x="25908" y="0"/>
                      <a:pt x="57866" y="0"/>
                    </a:cubicBezTo>
                    <a:close/>
                  </a:path>
                </a:pathLst>
              </a:custGeom>
              <a:solidFill>
                <a:srgbClr val="8C52FF"/>
              </a:solidFill>
              <a:ln w="47625" cap="rnd">
                <a:solidFill>
                  <a:srgbClr val="00FFFF"/>
                </a:solidFill>
                <a:prstDash val="solid"/>
                <a:round/>
              </a:ln>
            </p:spPr>
          </p:sp>
          <p:sp>
            <p:nvSpPr>
              <p:cNvPr name="TextBox 57" id="57"/>
              <p:cNvSpPr txBox="true"/>
              <p:nvPr/>
            </p:nvSpPr>
            <p:spPr>
              <a:xfrm>
                <a:off x="0" y="-28575"/>
                <a:ext cx="624420" cy="144307"/>
              </a:xfrm>
              <a:prstGeom prst="rect">
                <a:avLst/>
              </a:prstGeom>
            </p:spPr>
            <p:txBody>
              <a:bodyPr anchor="ctr" rtlCol="false" tIns="64438" lIns="64438" bIns="64438" rIns="64438"/>
              <a:lstStyle/>
              <a:p>
                <a:pPr algn="ctr">
                  <a:lnSpc>
                    <a:spcPts val="1876"/>
                  </a:lnSpc>
                </a:pPr>
              </a:p>
            </p:txBody>
          </p:sp>
        </p:grpSp>
        <p:sp>
          <p:nvSpPr>
            <p:cNvPr name="TextBox 58" id="58"/>
            <p:cNvSpPr txBox="true"/>
            <p:nvPr/>
          </p:nvSpPr>
          <p:spPr>
            <a:xfrm rot="0">
              <a:off x="154923" y="134709"/>
              <a:ext cx="3861281" cy="47237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ĐƠN HÀNG</a:t>
              </a:r>
            </a:p>
          </p:txBody>
        </p:sp>
        <p:sp>
          <p:nvSpPr>
            <p:cNvPr name="TextBox 59" id="59"/>
            <p:cNvSpPr txBox="true"/>
            <p:nvPr/>
          </p:nvSpPr>
          <p:spPr>
            <a:xfrm rot="0">
              <a:off x="345634" y="894910"/>
              <a:ext cx="3503491" cy="370352"/>
            </a:xfrm>
            <a:prstGeom prst="rect">
              <a:avLst/>
            </a:prstGeom>
          </p:spPr>
          <p:txBody>
            <a:bodyPr anchor="t" rtlCol="false" tIns="0" lIns="0" bIns="0" rIns="0">
              <a:spAutoFit/>
            </a:bodyPr>
            <a:lstStyle/>
            <a:p>
              <a:pPr algn="ctr">
                <a:lnSpc>
                  <a:spcPts val="2181"/>
                </a:lnSpc>
              </a:pPr>
            </a:p>
          </p:txBody>
        </p:sp>
      </p:grpSp>
      <p:sp>
        <p:nvSpPr>
          <p:cNvPr name="AutoShape 60" id="60"/>
          <p:cNvSpPr/>
          <p:nvPr/>
        </p:nvSpPr>
        <p:spPr>
          <a:xfrm flipV="true">
            <a:off x="10645574" y="5113704"/>
            <a:ext cx="3188602" cy="1114593"/>
          </a:xfrm>
          <a:prstGeom prst="line">
            <a:avLst/>
          </a:prstGeom>
          <a:ln cap="flat" w="38100">
            <a:solidFill>
              <a:srgbClr val="0000D3"/>
            </a:solidFill>
            <a:prstDash val="lgDash"/>
            <a:headEnd type="none" len="sm" w="sm"/>
            <a:tailEnd type="oval" len="lg" w="lg"/>
          </a:ln>
        </p:spPr>
      </p:sp>
      <p:grpSp>
        <p:nvGrpSpPr>
          <p:cNvPr name="Group 61" id="61"/>
          <p:cNvGrpSpPr/>
          <p:nvPr/>
        </p:nvGrpSpPr>
        <p:grpSpPr>
          <a:xfrm rot="0">
            <a:off x="13429399" y="6044511"/>
            <a:ext cx="4163643" cy="583104"/>
            <a:chOff x="0" y="0"/>
            <a:chExt cx="5551524" cy="777472"/>
          </a:xfrm>
        </p:grpSpPr>
        <p:grpSp>
          <p:nvGrpSpPr>
            <p:cNvPr name="Group 62" id="62"/>
            <p:cNvGrpSpPr/>
            <p:nvPr/>
          </p:nvGrpSpPr>
          <p:grpSpPr>
            <a:xfrm rot="0">
              <a:off x="0" y="0"/>
              <a:ext cx="5551524" cy="777472"/>
              <a:chOff x="0" y="0"/>
              <a:chExt cx="826384" cy="115732"/>
            </a:xfrm>
          </p:grpSpPr>
          <p:sp>
            <p:nvSpPr>
              <p:cNvPr name="Freeform 63" id="63"/>
              <p:cNvSpPr/>
              <p:nvPr/>
            </p:nvSpPr>
            <p:spPr>
              <a:xfrm flipH="false" flipV="false" rot="0">
                <a:off x="0" y="0"/>
                <a:ext cx="826384" cy="115732"/>
              </a:xfrm>
              <a:custGeom>
                <a:avLst/>
                <a:gdLst/>
                <a:ahLst/>
                <a:cxnLst/>
                <a:rect r="r" b="b" t="t" l="l"/>
                <a:pathLst>
                  <a:path h="115732" w="826384">
                    <a:moveTo>
                      <a:pt x="57866" y="0"/>
                    </a:moveTo>
                    <a:lnTo>
                      <a:pt x="768518" y="0"/>
                    </a:lnTo>
                    <a:cubicBezTo>
                      <a:pt x="800477" y="0"/>
                      <a:pt x="826384" y="25908"/>
                      <a:pt x="826384" y="57866"/>
                    </a:cubicBezTo>
                    <a:lnTo>
                      <a:pt x="826384" y="57866"/>
                    </a:lnTo>
                    <a:cubicBezTo>
                      <a:pt x="826384" y="89825"/>
                      <a:pt x="800477" y="115732"/>
                      <a:pt x="768518" y="115732"/>
                    </a:cubicBezTo>
                    <a:lnTo>
                      <a:pt x="57866" y="115732"/>
                    </a:lnTo>
                    <a:cubicBezTo>
                      <a:pt x="25908" y="115732"/>
                      <a:pt x="0" y="89825"/>
                      <a:pt x="0" y="57866"/>
                    </a:cubicBezTo>
                    <a:lnTo>
                      <a:pt x="0" y="57866"/>
                    </a:lnTo>
                    <a:cubicBezTo>
                      <a:pt x="0" y="25908"/>
                      <a:pt x="25908" y="0"/>
                      <a:pt x="57866" y="0"/>
                    </a:cubicBezTo>
                    <a:close/>
                  </a:path>
                </a:pathLst>
              </a:custGeom>
              <a:solidFill>
                <a:srgbClr val="87BAFF"/>
              </a:solidFill>
              <a:ln w="47625" cap="rnd">
                <a:solidFill>
                  <a:srgbClr val="00FFFF"/>
                </a:solidFill>
                <a:prstDash val="solid"/>
                <a:round/>
              </a:ln>
            </p:spPr>
          </p:sp>
          <p:sp>
            <p:nvSpPr>
              <p:cNvPr name="TextBox 64" id="64"/>
              <p:cNvSpPr txBox="true"/>
              <p:nvPr/>
            </p:nvSpPr>
            <p:spPr>
              <a:xfrm>
                <a:off x="0" y="-28575"/>
                <a:ext cx="826384" cy="144307"/>
              </a:xfrm>
              <a:prstGeom prst="rect">
                <a:avLst/>
              </a:prstGeom>
            </p:spPr>
            <p:txBody>
              <a:bodyPr anchor="ctr" rtlCol="false" tIns="64438" lIns="64438" bIns="64438" rIns="64438"/>
              <a:lstStyle/>
              <a:p>
                <a:pPr algn="ctr">
                  <a:lnSpc>
                    <a:spcPts val="1876"/>
                  </a:lnSpc>
                </a:pPr>
              </a:p>
            </p:txBody>
          </p:sp>
        </p:grpSp>
        <p:sp>
          <p:nvSpPr>
            <p:cNvPr name="TextBox 65" id="65"/>
            <p:cNvSpPr txBox="true"/>
            <p:nvPr/>
          </p:nvSpPr>
          <p:spPr>
            <a:xfrm rot="0">
              <a:off x="205031" y="134709"/>
              <a:ext cx="5141461"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NGÔN NGỮ DỊCH</a:t>
              </a:r>
            </a:p>
          </p:txBody>
        </p:sp>
      </p:grpSp>
      <p:sp>
        <p:nvSpPr>
          <p:cNvPr name="AutoShape 66" id="66"/>
          <p:cNvSpPr/>
          <p:nvPr/>
        </p:nvSpPr>
        <p:spPr>
          <a:xfrm flipV="true">
            <a:off x="10700966" y="6336063"/>
            <a:ext cx="2728433" cy="850686"/>
          </a:xfrm>
          <a:prstGeom prst="line">
            <a:avLst/>
          </a:prstGeom>
          <a:ln cap="flat" w="38100">
            <a:solidFill>
              <a:srgbClr val="0000D3"/>
            </a:solidFill>
            <a:prstDash val="lgDash"/>
            <a:headEnd type="none" len="sm" w="sm"/>
            <a:tailEnd type="oval" len="lg" w="lg"/>
          </a:ln>
        </p:spPr>
      </p:sp>
      <p:grpSp>
        <p:nvGrpSpPr>
          <p:cNvPr name="Group 67" id="67"/>
          <p:cNvGrpSpPr/>
          <p:nvPr/>
        </p:nvGrpSpPr>
        <p:grpSpPr>
          <a:xfrm rot="0">
            <a:off x="12900777" y="7387737"/>
            <a:ext cx="4803420" cy="583104"/>
            <a:chOff x="0" y="0"/>
            <a:chExt cx="6404560" cy="777472"/>
          </a:xfrm>
        </p:grpSpPr>
        <p:grpSp>
          <p:nvGrpSpPr>
            <p:cNvPr name="Group 68" id="68"/>
            <p:cNvGrpSpPr/>
            <p:nvPr/>
          </p:nvGrpSpPr>
          <p:grpSpPr>
            <a:xfrm rot="0">
              <a:off x="0" y="0"/>
              <a:ext cx="6404560" cy="777472"/>
              <a:chOff x="0" y="0"/>
              <a:chExt cx="953365" cy="115732"/>
            </a:xfrm>
          </p:grpSpPr>
          <p:sp>
            <p:nvSpPr>
              <p:cNvPr name="Freeform 69" id="69"/>
              <p:cNvSpPr/>
              <p:nvPr/>
            </p:nvSpPr>
            <p:spPr>
              <a:xfrm flipH="false" flipV="false" rot="0">
                <a:off x="0" y="0"/>
                <a:ext cx="953365" cy="115732"/>
              </a:xfrm>
              <a:custGeom>
                <a:avLst/>
                <a:gdLst/>
                <a:ahLst/>
                <a:cxnLst/>
                <a:rect r="r" b="b" t="t" l="l"/>
                <a:pathLst>
                  <a:path h="115732" w="953365">
                    <a:moveTo>
                      <a:pt x="57866" y="0"/>
                    </a:moveTo>
                    <a:lnTo>
                      <a:pt x="895499" y="0"/>
                    </a:lnTo>
                    <a:cubicBezTo>
                      <a:pt x="927458" y="0"/>
                      <a:pt x="953365" y="25908"/>
                      <a:pt x="953365" y="57866"/>
                    </a:cubicBezTo>
                    <a:lnTo>
                      <a:pt x="953365" y="57866"/>
                    </a:lnTo>
                    <a:cubicBezTo>
                      <a:pt x="953365" y="89825"/>
                      <a:pt x="927458" y="115732"/>
                      <a:pt x="895499" y="115732"/>
                    </a:cubicBezTo>
                    <a:lnTo>
                      <a:pt x="57866" y="115732"/>
                    </a:lnTo>
                    <a:cubicBezTo>
                      <a:pt x="25908" y="115732"/>
                      <a:pt x="0" y="89825"/>
                      <a:pt x="0" y="57866"/>
                    </a:cubicBezTo>
                    <a:lnTo>
                      <a:pt x="0" y="57866"/>
                    </a:lnTo>
                    <a:cubicBezTo>
                      <a:pt x="0" y="25908"/>
                      <a:pt x="25908" y="0"/>
                      <a:pt x="57866" y="0"/>
                    </a:cubicBezTo>
                    <a:close/>
                  </a:path>
                </a:pathLst>
              </a:custGeom>
              <a:solidFill>
                <a:srgbClr val="5170FF"/>
              </a:solidFill>
              <a:ln w="47625" cap="rnd">
                <a:solidFill>
                  <a:srgbClr val="00FFFF"/>
                </a:solidFill>
                <a:prstDash val="solid"/>
                <a:round/>
              </a:ln>
            </p:spPr>
          </p:sp>
          <p:sp>
            <p:nvSpPr>
              <p:cNvPr name="TextBox 70" id="70"/>
              <p:cNvSpPr txBox="true"/>
              <p:nvPr/>
            </p:nvSpPr>
            <p:spPr>
              <a:xfrm>
                <a:off x="0" y="-28575"/>
                <a:ext cx="953365" cy="144307"/>
              </a:xfrm>
              <a:prstGeom prst="rect">
                <a:avLst/>
              </a:prstGeom>
            </p:spPr>
            <p:txBody>
              <a:bodyPr anchor="ctr" rtlCol="false" tIns="64438" lIns="64438" bIns="64438" rIns="64438"/>
              <a:lstStyle/>
              <a:p>
                <a:pPr algn="ctr">
                  <a:lnSpc>
                    <a:spcPts val="1876"/>
                  </a:lnSpc>
                </a:pPr>
              </a:p>
            </p:txBody>
          </p:sp>
        </p:grpSp>
        <p:sp>
          <p:nvSpPr>
            <p:cNvPr name="TextBox 71" id="71"/>
            <p:cNvSpPr txBox="true"/>
            <p:nvPr/>
          </p:nvSpPr>
          <p:spPr>
            <a:xfrm rot="0">
              <a:off x="236536" y="134709"/>
              <a:ext cx="5931488" cy="469954"/>
            </a:xfrm>
            <a:prstGeom prst="rect">
              <a:avLst/>
            </a:prstGeom>
          </p:spPr>
          <p:txBody>
            <a:bodyPr anchor="t" rtlCol="false" tIns="0" lIns="0" bIns="0" rIns="0">
              <a:spAutoFit/>
            </a:bodyPr>
            <a:lstStyle/>
            <a:p>
              <a:pPr algn="ctr">
                <a:lnSpc>
                  <a:spcPts val="3047"/>
                </a:lnSpc>
                <a:spcBef>
                  <a:spcPct val="0"/>
                </a:spcBef>
              </a:pPr>
              <a:r>
                <a:rPr lang="en-US" b="true" sz="2176">
                  <a:solidFill>
                    <a:srgbClr val="FFFFFF"/>
                  </a:solidFill>
                  <a:latin typeface="Open Sans Bold"/>
                  <a:ea typeface="Open Sans Bold"/>
                  <a:cs typeface="Open Sans Bold"/>
                  <a:sym typeface="Open Sans Bold"/>
                </a:rPr>
                <a:t>QUẢN LÝ PLUGIN PHONG THỦY</a:t>
              </a:r>
            </a:p>
          </p:txBody>
        </p:sp>
      </p:grpSp>
      <p:sp>
        <p:nvSpPr>
          <p:cNvPr name="AutoShape 72" id="72"/>
          <p:cNvSpPr/>
          <p:nvPr/>
        </p:nvSpPr>
        <p:spPr>
          <a:xfrm flipV="true">
            <a:off x="10459126" y="7679289"/>
            <a:ext cx="2441651" cy="36759"/>
          </a:xfrm>
          <a:prstGeom prst="line">
            <a:avLst/>
          </a:prstGeom>
          <a:ln cap="flat" w="38100">
            <a:solidFill>
              <a:srgbClr val="0000D3"/>
            </a:solidFill>
            <a:prstDash val="lgDash"/>
            <a:headEnd type="none" len="sm" w="sm"/>
            <a:tailEnd type="oval" len="lg" w="lg"/>
          </a:ln>
        </p:spPr>
      </p:sp>
      <p:sp>
        <p:nvSpPr>
          <p:cNvPr name="TextBox 73" id="73"/>
          <p:cNvSpPr txBox="true"/>
          <p:nvPr/>
        </p:nvSpPr>
        <p:spPr>
          <a:xfrm rot="0">
            <a:off x="1455731" y="1599079"/>
            <a:ext cx="10669140"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3.2 – Yêu cầu chức năng quản trị</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63324" y="228472"/>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9935975" y="1832205"/>
            <a:ext cx="5729921" cy="6870326"/>
          </a:xfrm>
          <a:custGeom>
            <a:avLst/>
            <a:gdLst/>
            <a:ahLst/>
            <a:cxnLst/>
            <a:rect r="r" b="b" t="t" l="l"/>
            <a:pathLst>
              <a:path h="6870326" w="5729921">
                <a:moveTo>
                  <a:pt x="0" y="0"/>
                </a:moveTo>
                <a:lnTo>
                  <a:pt x="5729921" y="0"/>
                </a:lnTo>
                <a:lnTo>
                  <a:pt x="5729921" y="6870326"/>
                </a:lnTo>
                <a:lnTo>
                  <a:pt x="0" y="6870326"/>
                </a:lnTo>
                <a:lnTo>
                  <a:pt x="0" y="0"/>
                </a:lnTo>
                <a:close/>
              </a:path>
            </a:pathLst>
          </a:custGeom>
          <a:blipFill>
            <a:blip r:embed="rId3"/>
            <a:stretch>
              <a:fillRect l="0" t="-546" r="-1091" b="-546"/>
            </a:stretch>
          </a:blipFill>
          <a:ln w="28575" cap="sq">
            <a:solidFill>
              <a:srgbClr val="FF0000"/>
            </a:solidFill>
            <a:prstDash val="solid"/>
            <a:miter/>
          </a:ln>
        </p:spPr>
      </p:sp>
      <p:sp>
        <p:nvSpPr>
          <p:cNvPr name="Freeform 8" id="8"/>
          <p:cNvSpPr/>
          <p:nvPr/>
        </p:nvSpPr>
        <p:spPr>
          <a:xfrm flipH="false" flipV="false" rot="0">
            <a:off x="1520098" y="1832205"/>
            <a:ext cx="6485928" cy="6870326"/>
          </a:xfrm>
          <a:custGeom>
            <a:avLst/>
            <a:gdLst/>
            <a:ahLst/>
            <a:cxnLst/>
            <a:rect r="r" b="b" t="t" l="l"/>
            <a:pathLst>
              <a:path h="6870326" w="6485928">
                <a:moveTo>
                  <a:pt x="0" y="0"/>
                </a:moveTo>
                <a:lnTo>
                  <a:pt x="6485928" y="0"/>
                </a:lnTo>
                <a:lnTo>
                  <a:pt x="6485928" y="6870326"/>
                </a:lnTo>
                <a:lnTo>
                  <a:pt x="0" y="6870326"/>
                </a:lnTo>
                <a:lnTo>
                  <a:pt x="0" y="0"/>
                </a:lnTo>
                <a:close/>
              </a:path>
            </a:pathLst>
          </a:custGeom>
          <a:blipFill>
            <a:blip r:embed="rId4"/>
            <a:stretch>
              <a:fillRect l="0" t="0" r="-1859" b="-1092"/>
            </a:stretch>
          </a:blipFill>
          <a:ln w="28575" cap="sq">
            <a:solidFill>
              <a:srgbClr val="FF0000"/>
            </a:solidFill>
            <a:prstDash val="solid"/>
            <a:miter/>
          </a:ln>
        </p:spPr>
      </p:sp>
      <p:sp>
        <p:nvSpPr>
          <p:cNvPr name="TextBox 9" id="9"/>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0" id="10"/>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12</a:t>
            </a:r>
          </a:p>
        </p:txBody>
      </p:sp>
      <p:sp>
        <p:nvSpPr>
          <p:cNvPr name="TextBox 11" id="11"/>
          <p:cNvSpPr txBox="true"/>
          <p:nvPr/>
        </p:nvSpPr>
        <p:spPr>
          <a:xfrm rot="0">
            <a:off x="1085850" y="184020"/>
            <a:ext cx="11931422"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3. HIỆN THỰC HÓA NGHIÊN CỨU</a:t>
            </a:r>
          </a:p>
        </p:txBody>
      </p:sp>
      <p:sp>
        <p:nvSpPr>
          <p:cNvPr name="TextBox 12" id="12"/>
          <p:cNvSpPr txBox="true"/>
          <p:nvPr/>
        </p:nvSpPr>
        <p:spPr>
          <a:xfrm rot="0">
            <a:off x="2332664" y="8740543"/>
            <a:ext cx="5177187" cy="852932"/>
          </a:xfrm>
          <a:prstGeom prst="rect">
            <a:avLst/>
          </a:prstGeom>
        </p:spPr>
        <p:txBody>
          <a:bodyPr anchor="t" rtlCol="false" tIns="0" lIns="0" bIns="0" rIns="0">
            <a:spAutoFit/>
          </a:bodyPr>
          <a:lstStyle/>
          <a:p>
            <a:pPr algn="ctr">
              <a:lnSpc>
                <a:spcPts val="3387"/>
              </a:lnSpc>
              <a:spcBef>
                <a:spcPct val="0"/>
              </a:spcBef>
            </a:pPr>
            <a:r>
              <a:rPr lang="en-US" b="true" sz="2419">
                <a:solidFill>
                  <a:srgbClr val="000000"/>
                </a:solidFill>
                <a:latin typeface="Roboto Bold"/>
                <a:ea typeface="Roboto Bold"/>
                <a:cs typeface="Roboto Bold"/>
                <a:sym typeface="Roboto Bold"/>
              </a:rPr>
              <a:t>Hình 3.2 Sơ đồ Usecase quản trị </a:t>
            </a:r>
          </a:p>
          <a:p>
            <a:pPr algn="ctr">
              <a:lnSpc>
                <a:spcPts val="3387"/>
              </a:lnSpc>
              <a:spcBef>
                <a:spcPct val="0"/>
              </a:spcBef>
            </a:pPr>
          </a:p>
        </p:txBody>
      </p:sp>
      <p:sp>
        <p:nvSpPr>
          <p:cNvPr name="TextBox 13" id="13"/>
          <p:cNvSpPr txBox="true"/>
          <p:nvPr/>
        </p:nvSpPr>
        <p:spPr>
          <a:xfrm rot="0">
            <a:off x="9144000" y="8712771"/>
            <a:ext cx="7853839" cy="852932"/>
          </a:xfrm>
          <a:prstGeom prst="rect">
            <a:avLst/>
          </a:prstGeom>
        </p:spPr>
        <p:txBody>
          <a:bodyPr anchor="t" rtlCol="false" tIns="0" lIns="0" bIns="0" rIns="0">
            <a:spAutoFit/>
          </a:bodyPr>
          <a:lstStyle/>
          <a:p>
            <a:pPr algn="ctr">
              <a:lnSpc>
                <a:spcPts val="3387"/>
              </a:lnSpc>
              <a:spcBef>
                <a:spcPct val="0"/>
              </a:spcBef>
            </a:pPr>
            <a:r>
              <a:rPr lang="en-US" b="true" sz="2419">
                <a:solidFill>
                  <a:srgbClr val="000000"/>
                </a:solidFill>
                <a:latin typeface="Roboto Bold"/>
                <a:ea typeface="Roboto Bold"/>
                <a:cs typeface="Roboto Bold"/>
                <a:sym typeface="Roboto Bold"/>
              </a:rPr>
              <a:t>Hình 3.3 Sơ đồ Usecase người dùng </a:t>
            </a:r>
          </a:p>
          <a:p>
            <a:pPr algn="ctr">
              <a:lnSpc>
                <a:spcPts val="3387"/>
              </a:lnSpc>
              <a:spcBef>
                <a:spcPct val="0"/>
              </a:spcBef>
            </a:pPr>
          </a:p>
        </p:txBody>
      </p:sp>
      <p:sp>
        <p:nvSpPr>
          <p:cNvPr name="TextBox 14" id="14"/>
          <p:cNvSpPr txBox="true"/>
          <p:nvPr/>
        </p:nvSpPr>
        <p:spPr>
          <a:xfrm rot="0">
            <a:off x="1586773" y="1039797"/>
            <a:ext cx="12761452"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3.4 – Sơ đồ Usecase quản trị và người dùng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13</a:t>
            </a:r>
          </a:p>
        </p:txBody>
      </p:sp>
      <p:sp>
        <p:nvSpPr>
          <p:cNvPr name="TextBox 9" id="9"/>
          <p:cNvSpPr txBox="true"/>
          <p:nvPr/>
        </p:nvSpPr>
        <p:spPr>
          <a:xfrm rot="0">
            <a:off x="1671734" y="4270057"/>
            <a:ext cx="15587566" cy="1556385"/>
          </a:xfrm>
          <a:prstGeom prst="rect">
            <a:avLst/>
          </a:prstGeom>
        </p:spPr>
        <p:txBody>
          <a:bodyPr anchor="t" rtlCol="false" tIns="0" lIns="0" bIns="0" rIns="0">
            <a:spAutoFit/>
          </a:bodyPr>
          <a:lstStyle/>
          <a:p>
            <a:pPr algn="ctr">
              <a:lnSpc>
                <a:spcPts val="12869"/>
              </a:lnSpc>
            </a:pPr>
            <a:r>
              <a:rPr lang="en-US" b="true" sz="9000" spc="719">
                <a:solidFill>
                  <a:srgbClr val="0345E4"/>
                </a:solidFill>
                <a:latin typeface="Garet Bold"/>
                <a:ea typeface="Garet Bold"/>
                <a:cs typeface="Garet Bold"/>
                <a:sym typeface="Garet Bold"/>
              </a:rPr>
              <a:t>4. KẾT QUẢ THỰC HIỆN</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17743" y="1958255"/>
            <a:ext cx="8654546" cy="6370489"/>
          </a:xfrm>
          <a:custGeom>
            <a:avLst/>
            <a:gdLst/>
            <a:ahLst/>
            <a:cxnLst/>
            <a:rect r="r" b="b" t="t" l="l"/>
            <a:pathLst>
              <a:path h="6370489" w="8654546">
                <a:moveTo>
                  <a:pt x="0" y="0"/>
                </a:moveTo>
                <a:lnTo>
                  <a:pt x="8654546" y="0"/>
                </a:lnTo>
                <a:lnTo>
                  <a:pt x="8654546" y="6370490"/>
                </a:lnTo>
                <a:lnTo>
                  <a:pt x="0" y="6370490"/>
                </a:lnTo>
                <a:lnTo>
                  <a:pt x="0" y="0"/>
                </a:lnTo>
                <a:close/>
              </a:path>
            </a:pathLst>
          </a:custGeom>
          <a:blipFill>
            <a:blip r:embed="rId3"/>
            <a:stretch>
              <a:fillRect l="-2577" t="0" r="-2577" b="0"/>
            </a:stretch>
          </a:blipFill>
        </p:spPr>
      </p:sp>
      <p:sp>
        <p:nvSpPr>
          <p:cNvPr name="Freeform 8" id="8"/>
          <p:cNvSpPr/>
          <p:nvPr/>
        </p:nvSpPr>
        <p:spPr>
          <a:xfrm flipH="false" flipV="false" rot="0">
            <a:off x="9269279" y="1958255"/>
            <a:ext cx="8817561" cy="4154428"/>
          </a:xfrm>
          <a:custGeom>
            <a:avLst/>
            <a:gdLst/>
            <a:ahLst/>
            <a:cxnLst/>
            <a:rect r="r" b="b" t="t" l="l"/>
            <a:pathLst>
              <a:path h="4154428" w="8817561">
                <a:moveTo>
                  <a:pt x="0" y="0"/>
                </a:moveTo>
                <a:lnTo>
                  <a:pt x="8817561" y="0"/>
                </a:lnTo>
                <a:lnTo>
                  <a:pt x="8817561" y="4154428"/>
                </a:lnTo>
                <a:lnTo>
                  <a:pt x="0" y="4154428"/>
                </a:lnTo>
                <a:lnTo>
                  <a:pt x="0" y="0"/>
                </a:lnTo>
                <a:close/>
              </a:path>
            </a:pathLst>
          </a:custGeom>
          <a:blipFill>
            <a:blip r:embed="rId4"/>
            <a:stretch>
              <a:fillRect l="-219" t="0" r="-219" b="0"/>
            </a:stretch>
          </a:blipFill>
        </p:spPr>
      </p:sp>
      <p:sp>
        <p:nvSpPr>
          <p:cNvPr name="Freeform 9" id="9"/>
          <p:cNvSpPr/>
          <p:nvPr/>
        </p:nvSpPr>
        <p:spPr>
          <a:xfrm flipH="false" flipV="false" rot="0">
            <a:off x="9269279" y="6012836"/>
            <a:ext cx="8817561" cy="2315909"/>
          </a:xfrm>
          <a:custGeom>
            <a:avLst/>
            <a:gdLst/>
            <a:ahLst/>
            <a:cxnLst/>
            <a:rect r="r" b="b" t="t" l="l"/>
            <a:pathLst>
              <a:path h="2315909" w="8817561">
                <a:moveTo>
                  <a:pt x="0" y="0"/>
                </a:moveTo>
                <a:lnTo>
                  <a:pt x="8817561" y="0"/>
                </a:lnTo>
                <a:lnTo>
                  <a:pt x="8817561" y="2315909"/>
                </a:lnTo>
                <a:lnTo>
                  <a:pt x="0" y="2315909"/>
                </a:lnTo>
                <a:lnTo>
                  <a:pt x="0" y="0"/>
                </a:lnTo>
                <a:close/>
              </a:path>
            </a:pathLst>
          </a:custGeom>
          <a:blipFill>
            <a:blip r:embed="rId5"/>
            <a:stretch>
              <a:fillRect l="0" t="0" r="0" b="-77216"/>
            </a:stretch>
          </a:blipFill>
        </p:spPr>
      </p:sp>
      <p:sp>
        <p:nvSpPr>
          <p:cNvPr name="TextBox 10" id="10"/>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1" id="11"/>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14</a:t>
            </a:r>
          </a:p>
        </p:txBody>
      </p:sp>
      <p:sp>
        <p:nvSpPr>
          <p:cNvPr name="TextBox 12" id="12"/>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3" id="13"/>
          <p:cNvSpPr txBox="true"/>
          <p:nvPr/>
        </p:nvSpPr>
        <p:spPr>
          <a:xfrm rot="0">
            <a:off x="454449"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5.1 Giao diện trang chủ</a:t>
            </a:r>
          </a:p>
          <a:p>
            <a:pPr algn="ctr">
              <a:lnSpc>
                <a:spcPts val="3247"/>
              </a:lnSpc>
              <a:spcBef>
                <a:spcPct val="0"/>
              </a:spcBef>
            </a:pPr>
          </a:p>
        </p:txBody>
      </p:sp>
      <p:sp>
        <p:nvSpPr>
          <p:cNvPr name="TextBox 14" id="14"/>
          <p:cNvSpPr txBox="true"/>
          <p:nvPr/>
        </p:nvSpPr>
        <p:spPr>
          <a:xfrm rot="0">
            <a:off x="9850358"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5.2 Giao diện trang giới thiệu</a:t>
            </a:r>
          </a:p>
          <a:p>
            <a:pPr algn="ctr">
              <a:lnSpc>
                <a:spcPts val="3247"/>
              </a:lnSpc>
              <a:spcBef>
                <a:spcPct val="0"/>
              </a:spcBef>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35970" y="1680175"/>
            <a:ext cx="8583574" cy="5676235"/>
          </a:xfrm>
          <a:custGeom>
            <a:avLst/>
            <a:gdLst/>
            <a:ahLst/>
            <a:cxnLst/>
            <a:rect r="r" b="b" t="t" l="l"/>
            <a:pathLst>
              <a:path h="5676235" w="8583574">
                <a:moveTo>
                  <a:pt x="0" y="0"/>
                </a:moveTo>
                <a:lnTo>
                  <a:pt x="8583575" y="0"/>
                </a:lnTo>
                <a:lnTo>
                  <a:pt x="8583575" y="5676235"/>
                </a:lnTo>
                <a:lnTo>
                  <a:pt x="0" y="5676235"/>
                </a:lnTo>
                <a:lnTo>
                  <a:pt x="0" y="0"/>
                </a:lnTo>
                <a:close/>
              </a:path>
            </a:pathLst>
          </a:custGeom>
          <a:blipFill>
            <a:blip r:embed="rId3"/>
            <a:stretch>
              <a:fillRect l="0" t="0" r="0" b="0"/>
            </a:stretch>
          </a:blipFill>
        </p:spPr>
      </p:sp>
      <p:sp>
        <p:nvSpPr>
          <p:cNvPr name="Freeform 8" id="8"/>
          <p:cNvSpPr/>
          <p:nvPr/>
        </p:nvSpPr>
        <p:spPr>
          <a:xfrm flipH="false" flipV="false" rot="0">
            <a:off x="253802" y="7319043"/>
            <a:ext cx="8640534" cy="1185597"/>
          </a:xfrm>
          <a:custGeom>
            <a:avLst/>
            <a:gdLst/>
            <a:ahLst/>
            <a:cxnLst/>
            <a:rect r="r" b="b" t="t" l="l"/>
            <a:pathLst>
              <a:path h="1185597" w="8640534">
                <a:moveTo>
                  <a:pt x="0" y="0"/>
                </a:moveTo>
                <a:lnTo>
                  <a:pt x="8640535" y="0"/>
                </a:lnTo>
                <a:lnTo>
                  <a:pt x="8640535" y="1185597"/>
                </a:lnTo>
                <a:lnTo>
                  <a:pt x="0" y="1185597"/>
                </a:lnTo>
                <a:lnTo>
                  <a:pt x="0" y="0"/>
                </a:lnTo>
                <a:close/>
              </a:path>
            </a:pathLst>
          </a:custGeom>
          <a:blipFill>
            <a:blip r:embed="rId4"/>
            <a:stretch>
              <a:fillRect l="0" t="0" r="0" b="-378096"/>
            </a:stretch>
          </a:blipFill>
        </p:spPr>
      </p:sp>
      <p:sp>
        <p:nvSpPr>
          <p:cNvPr name="Freeform 9" id="9"/>
          <p:cNvSpPr/>
          <p:nvPr/>
        </p:nvSpPr>
        <p:spPr>
          <a:xfrm flipH="false" flipV="false" rot="0">
            <a:off x="9142300" y="1680175"/>
            <a:ext cx="8963799" cy="3403719"/>
          </a:xfrm>
          <a:custGeom>
            <a:avLst/>
            <a:gdLst/>
            <a:ahLst/>
            <a:cxnLst/>
            <a:rect r="r" b="b" t="t" l="l"/>
            <a:pathLst>
              <a:path h="3403719" w="8963799">
                <a:moveTo>
                  <a:pt x="0" y="0"/>
                </a:moveTo>
                <a:lnTo>
                  <a:pt x="8963799" y="0"/>
                </a:lnTo>
                <a:lnTo>
                  <a:pt x="8963799" y="3403719"/>
                </a:lnTo>
                <a:lnTo>
                  <a:pt x="0" y="3403719"/>
                </a:lnTo>
                <a:lnTo>
                  <a:pt x="0" y="0"/>
                </a:lnTo>
                <a:close/>
              </a:path>
            </a:pathLst>
          </a:custGeom>
          <a:blipFill>
            <a:blip r:embed="rId5"/>
            <a:stretch>
              <a:fillRect l="0" t="0" r="0" b="0"/>
            </a:stretch>
          </a:blipFill>
        </p:spPr>
      </p:sp>
      <p:sp>
        <p:nvSpPr>
          <p:cNvPr name="Freeform 10" id="10"/>
          <p:cNvSpPr/>
          <p:nvPr/>
        </p:nvSpPr>
        <p:spPr>
          <a:xfrm flipH="false" flipV="false" rot="0">
            <a:off x="9142300" y="5083894"/>
            <a:ext cx="8963799" cy="3420747"/>
          </a:xfrm>
          <a:custGeom>
            <a:avLst/>
            <a:gdLst/>
            <a:ahLst/>
            <a:cxnLst/>
            <a:rect r="r" b="b" t="t" l="l"/>
            <a:pathLst>
              <a:path h="3420747" w="8963799">
                <a:moveTo>
                  <a:pt x="0" y="0"/>
                </a:moveTo>
                <a:lnTo>
                  <a:pt x="8963799" y="0"/>
                </a:lnTo>
                <a:lnTo>
                  <a:pt x="8963799" y="3420746"/>
                </a:lnTo>
                <a:lnTo>
                  <a:pt x="0" y="3420746"/>
                </a:lnTo>
                <a:lnTo>
                  <a:pt x="0" y="0"/>
                </a:lnTo>
                <a:close/>
              </a:path>
            </a:pathLst>
          </a:custGeom>
          <a:blipFill>
            <a:blip r:embed="rId6"/>
            <a:stretch>
              <a:fillRect l="0" t="0" r="0" b="-3956"/>
            </a:stretch>
          </a:blipFill>
        </p:spPr>
      </p:sp>
      <p:sp>
        <p:nvSpPr>
          <p:cNvPr name="TextBox 11" id="11"/>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2" id="12"/>
          <p:cNvSpPr txBox="true"/>
          <p:nvPr/>
        </p:nvSpPr>
        <p:spPr>
          <a:xfrm rot="0">
            <a:off x="17268825"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15</a:t>
            </a:r>
          </a:p>
        </p:txBody>
      </p:sp>
      <p:sp>
        <p:nvSpPr>
          <p:cNvPr name="TextBox 13" id="13"/>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4" id="14"/>
          <p:cNvSpPr txBox="true"/>
          <p:nvPr/>
        </p:nvSpPr>
        <p:spPr>
          <a:xfrm rot="0">
            <a:off x="454449"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5.3 Giao diện trang sản phẩm</a:t>
            </a:r>
          </a:p>
          <a:p>
            <a:pPr algn="ctr">
              <a:lnSpc>
                <a:spcPts val="3247"/>
              </a:lnSpc>
              <a:spcBef>
                <a:spcPct val="0"/>
              </a:spcBef>
            </a:pPr>
          </a:p>
        </p:txBody>
      </p:sp>
      <p:sp>
        <p:nvSpPr>
          <p:cNvPr name="TextBox 15" id="15"/>
          <p:cNvSpPr txBox="true"/>
          <p:nvPr/>
        </p:nvSpPr>
        <p:spPr>
          <a:xfrm rot="0">
            <a:off x="9850358"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5.4 Giao diện trang đánh giá</a:t>
            </a:r>
          </a:p>
          <a:p>
            <a:pPr algn="ctr">
              <a:lnSpc>
                <a:spcPts val="3247"/>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91442" y="1870740"/>
            <a:ext cx="8562382" cy="3161996"/>
          </a:xfrm>
          <a:custGeom>
            <a:avLst/>
            <a:gdLst/>
            <a:ahLst/>
            <a:cxnLst/>
            <a:rect r="r" b="b" t="t" l="l"/>
            <a:pathLst>
              <a:path h="3161996" w="8562382">
                <a:moveTo>
                  <a:pt x="0" y="0"/>
                </a:moveTo>
                <a:lnTo>
                  <a:pt x="8562382" y="0"/>
                </a:lnTo>
                <a:lnTo>
                  <a:pt x="8562382" y="3161996"/>
                </a:lnTo>
                <a:lnTo>
                  <a:pt x="0" y="3161996"/>
                </a:lnTo>
                <a:lnTo>
                  <a:pt x="0" y="0"/>
                </a:lnTo>
                <a:close/>
              </a:path>
            </a:pathLst>
          </a:custGeom>
          <a:blipFill>
            <a:blip r:embed="rId3"/>
            <a:stretch>
              <a:fillRect l="0" t="0" r="0" b="0"/>
            </a:stretch>
          </a:blipFill>
        </p:spPr>
      </p:sp>
      <p:sp>
        <p:nvSpPr>
          <p:cNvPr name="Freeform 8" id="8"/>
          <p:cNvSpPr/>
          <p:nvPr/>
        </p:nvSpPr>
        <p:spPr>
          <a:xfrm flipH="false" flipV="false" rot="0">
            <a:off x="291442" y="5032736"/>
            <a:ext cx="8562382" cy="3424353"/>
          </a:xfrm>
          <a:custGeom>
            <a:avLst/>
            <a:gdLst/>
            <a:ahLst/>
            <a:cxnLst/>
            <a:rect r="r" b="b" t="t" l="l"/>
            <a:pathLst>
              <a:path h="3424353" w="8562382">
                <a:moveTo>
                  <a:pt x="0" y="0"/>
                </a:moveTo>
                <a:lnTo>
                  <a:pt x="8562382" y="0"/>
                </a:lnTo>
                <a:lnTo>
                  <a:pt x="8562382" y="3424353"/>
                </a:lnTo>
                <a:lnTo>
                  <a:pt x="0" y="3424353"/>
                </a:lnTo>
                <a:lnTo>
                  <a:pt x="0" y="0"/>
                </a:lnTo>
                <a:close/>
              </a:path>
            </a:pathLst>
          </a:custGeom>
          <a:blipFill>
            <a:blip r:embed="rId4"/>
            <a:stretch>
              <a:fillRect l="0" t="-1388" r="0" b="-24341"/>
            </a:stretch>
          </a:blipFill>
        </p:spPr>
      </p:sp>
      <p:sp>
        <p:nvSpPr>
          <p:cNvPr name="Freeform 9" id="9"/>
          <p:cNvSpPr/>
          <p:nvPr/>
        </p:nvSpPr>
        <p:spPr>
          <a:xfrm flipH="false" flipV="false" rot="0">
            <a:off x="9279468" y="1870740"/>
            <a:ext cx="8712267" cy="5090169"/>
          </a:xfrm>
          <a:custGeom>
            <a:avLst/>
            <a:gdLst/>
            <a:ahLst/>
            <a:cxnLst/>
            <a:rect r="r" b="b" t="t" l="l"/>
            <a:pathLst>
              <a:path h="5090169" w="8712267">
                <a:moveTo>
                  <a:pt x="0" y="0"/>
                </a:moveTo>
                <a:lnTo>
                  <a:pt x="8712267" y="0"/>
                </a:lnTo>
                <a:lnTo>
                  <a:pt x="8712267" y="5090169"/>
                </a:lnTo>
                <a:lnTo>
                  <a:pt x="0" y="5090169"/>
                </a:lnTo>
                <a:lnTo>
                  <a:pt x="0" y="0"/>
                </a:lnTo>
                <a:close/>
              </a:path>
            </a:pathLst>
          </a:custGeom>
          <a:blipFill>
            <a:blip r:embed="rId5"/>
            <a:stretch>
              <a:fillRect l="0" t="0" r="0" b="0"/>
            </a:stretch>
          </a:blipFill>
        </p:spPr>
      </p:sp>
      <p:sp>
        <p:nvSpPr>
          <p:cNvPr name="TextBox 10" id="10"/>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1" id="11"/>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16</a:t>
            </a:r>
          </a:p>
        </p:txBody>
      </p:sp>
      <p:sp>
        <p:nvSpPr>
          <p:cNvPr name="TextBox 12" id="12"/>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3" id="13"/>
          <p:cNvSpPr txBox="true"/>
          <p:nvPr/>
        </p:nvSpPr>
        <p:spPr>
          <a:xfrm rot="0">
            <a:off x="454449"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5.5 Giao diện trang tin tức</a:t>
            </a:r>
          </a:p>
          <a:p>
            <a:pPr algn="ctr">
              <a:lnSpc>
                <a:spcPts val="3247"/>
              </a:lnSpc>
              <a:spcBef>
                <a:spcPct val="0"/>
              </a:spcBef>
            </a:pPr>
          </a:p>
        </p:txBody>
      </p:sp>
      <p:sp>
        <p:nvSpPr>
          <p:cNvPr name="TextBox 14" id="14"/>
          <p:cNvSpPr txBox="true"/>
          <p:nvPr/>
        </p:nvSpPr>
        <p:spPr>
          <a:xfrm rot="0">
            <a:off x="9850358" y="8552265"/>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5.6 Giao diện trang liên hệ</a:t>
            </a:r>
          </a:p>
          <a:p>
            <a:pPr algn="ctr">
              <a:lnSpc>
                <a:spcPts val="3247"/>
              </a:lnSpc>
              <a:spcBef>
                <a:spcPct val="0"/>
              </a:spcBef>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76004" y="230082"/>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11602" y="1748430"/>
            <a:ext cx="8338276" cy="6945572"/>
          </a:xfrm>
          <a:custGeom>
            <a:avLst/>
            <a:gdLst/>
            <a:ahLst/>
            <a:cxnLst/>
            <a:rect r="r" b="b" t="t" l="l"/>
            <a:pathLst>
              <a:path h="6945572" w="8338276">
                <a:moveTo>
                  <a:pt x="0" y="0"/>
                </a:moveTo>
                <a:lnTo>
                  <a:pt x="8338277" y="0"/>
                </a:lnTo>
                <a:lnTo>
                  <a:pt x="8338277" y="6945572"/>
                </a:lnTo>
                <a:lnTo>
                  <a:pt x="0" y="6945572"/>
                </a:lnTo>
                <a:lnTo>
                  <a:pt x="0" y="0"/>
                </a:lnTo>
                <a:close/>
              </a:path>
            </a:pathLst>
          </a:custGeom>
          <a:blipFill>
            <a:blip r:embed="rId3"/>
            <a:stretch>
              <a:fillRect l="-13316" t="-2334" r="-46694" b="0"/>
            </a:stretch>
          </a:blipFill>
        </p:spPr>
      </p:sp>
      <p:sp>
        <p:nvSpPr>
          <p:cNvPr name="Freeform 8" id="8"/>
          <p:cNvSpPr/>
          <p:nvPr/>
        </p:nvSpPr>
        <p:spPr>
          <a:xfrm flipH="false" flipV="false" rot="0">
            <a:off x="9289667" y="1672317"/>
            <a:ext cx="8541576" cy="6945572"/>
          </a:xfrm>
          <a:custGeom>
            <a:avLst/>
            <a:gdLst/>
            <a:ahLst/>
            <a:cxnLst/>
            <a:rect r="r" b="b" t="t" l="l"/>
            <a:pathLst>
              <a:path h="6945572" w="8541576">
                <a:moveTo>
                  <a:pt x="0" y="0"/>
                </a:moveTo>
                <a:lnTo>
                  <a:pt x="8541575" y="0"/>
                </a:lnTo>
                <a:lnTo>
                  <a:pt x="8541575" y="6945572"/>
                </a:lnTo>
                <a:lnTo>
                  <a:pt x="0" y="6945572"/>
                </a:lnTo>
                <a:lnTo>
                  <a:pt x="0" y="0"/>
                </a:lnTo>
                <a:close/>
              </a:path>
            </a:pathLst>
          </a:custGeom>
          <a:blipFill>
            <a:blip r:embed="rId4"/>
            <a:stretch>
              <a:fillRect l="-10562" t="-9750" r="-39758" b="0"/>
            </a:stretch>
          </a:blipFill>
        </p:spPr>
      </p:sp>
      <p:sp>
        <p:nvSpPr>
          <p:cNvPr name="TextBox 9" id="9"/>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0" id="10"/>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17</a:t>
            </a:r>
          </a:p>
        </p:txBody>
      </p:sp>
      <p:sp>
        <p:nvSpPr>
          <p:cNvPr name="TextBox 11" id="11"/>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2" id="12"/>
          <p:cNvSpPr txBox="true"/>
          <p:nvPr/>
        </p:nvSpPr>
        <p:spPr>
          <a:xfrm rot="0">
            <a:off x="453821" y="8741627"/>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5.7 Giao diện tra cứu màu nội thất</a:t>
            </a:r>
          </a:p>
          <a:p>
            <a:pPr algn="ctr">
              <a:lnSpc>
                <a:spcPts val="3247"/>
              </a:lnSpc>
              <a:spcBef>
                <a:spcPct val="0"/>
              </a:spcBef>
            </a:pPr>
          </a:p>
        </p:txBody>
      </p:sp>
      <p:sp>
        <p:nvSpPr>
          <p:cNvPr name="TextBox 13" id="13"/>
          <p:cNvSpPr txBox="true"/>
          <p:nvPr/>
        </p:nvSpPr>
        <p:spPr>
          <a:xfrm rot="0">
            <a:off x="9734112" y="8744860"/>
            <a:ext cx="7853839" cy="407797"/>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5.8 Giao diện đánh giá hướng nhà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76004" y="230082"/>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453821" y="1634282"/>
            <a:ext cx="7750711" cy="7075559"/>
          </a:xfrm>
          <a:custGeom>
            <a:avLst/>
            <a:gdLst/>
            <a:ahLst/>
            <a:cxnLst/>
            <a:rect r="r" b="b" t="t" l="l"/>
            <a:pathLst>
              <a:path h="7075559" w="7750711">
                <a:moveTo>
                  <a:pt x="0" y="0"/>
                </a:moveTo>
                <a:lnTo>
                  <a:pt x="7750711" y="0"/>
                </a:lnTo>
                <a:lnTo>
                  <a:pt x="7750711" y="7075558"/>
                </a:lnTo>
                <a:lnTo>
                  <a:pt x="0" y="7075558"/>
                </a:lnTo>
                <a:lnTo>
                  <a:pt x="0" y="0"/>
                </a:lnTo>
                <a:close/>
              </a:path>
            </a:pathLst>
          </a:custGeom>
          <a:blipFill>
            <a:blip r:embed="rId3"/>
            <a:stretch>
              <a:fillRect l="-10351" t="0" r="-41652" b="0"/>
            </a:stretch>
          </a:blipFill>
        </p:spPr>
      </p:sp>
      <p:sp>
        <p:nvSpPr>
          <p:cNvPr name="Freeform 8" id="8"/>
          <p:cNvSpPr/>
          <p:nvPr/>
        </p:nvSpPr>
        <p:spPr>
          <a:xfrm flipH="false" flipV="false" rot="0">
            <a:off x="8572526" y="1634282"/>
            <a:ext cx="9296392" cy="7075559"/>
          </a:xfrm>
          <a:custGeom>
            <a:avLst/>
            <a:gdLst/>
            <a:ahLst/>
            <a:cxnLst/>
            <a:rect r="r" b="b" t="t" l="l"/>
            <a:pathLst>
              <a:path h="7075559" w="9296392">
                <a:moveTo>
                  <a:pt x="0" y="0"/>
                </a:moveTo>
                <a:lnTo>
                  <a:pt x="9296393" y="0"/>
                </a:lnTo>
                <a:lnTo>
                  <a:pt x="9296393" y="7075558"/>
                </a:lnTo>
                <a:lnTo>
                  <a:pt x="0" y="7075558"/>
                </a:lnTo>
                <a:lnTo>
                  <a:pt x="0" y="0"/>
                </a:lnTo>
                <a:close/>
              </a:path>
            </a:pathLst>
          </a:custGeom>
          <a:blipFill>
            <a:blip r:embed="rId4"/>
            <a:stretch>
              <a:fillRect l="-11384" t="-4727" r="-39618" b="-6185"/>
            </a:stretch>
          </a:blipFill>
        </p:spPr>
      </p:sp>
      <p:sp>
        <p:nvSpPr>
          <p:cNvPr name="TextBox 9" id="9"/>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0" id="10"/>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18</a:t>
            </a:r>
          </a:p>
        </p:txBody>
      </p:sp>
      <p:sp>
        <p:nvSpPr>
          <p:cNvPr name="TextBox 11" id="11"/>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2" id="12"/>
          <p:cNvSpPr txBox="true"/>
          <p:nvPr/>
        </p:nvSpPr>
        <p:spPr>
          <a:xfrm rot="0">
            <a:off x="453821" y="8741627"/>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5.9 Giao diện xem tuổi xây dựng</a:t>
            </a:r>
          </a:p>
          <a:p>
            <a:pPr algn="ctr">
              <a:lnSpc>
                <a:spcPts val="3247"/>
              </a:lnSpc>
              <a:spcBef>
                <a:spcPct val="0"/>
              </a:spcBef>
            </a:pPr>
          </a:p>
        </p:txBody>
      </p:sp>
      <p:sp>
        <p:nvSpPr>
          <p:cNvPr name="TextBox 13" id="13"/>
          <p:cNvSpPr txBox="true"/>
          <p:nvPr/>
        </p:nvSpPr>
        <p:spPr>
          <a:xfrm rot="0">
            <a:off x="9293803" y="8746834"/>
            <a:ext cx="7853839" cy="407797"/>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5.10 Giao diện dự toán chi phí xây dựng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76004" y="230082"/>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2067511" y="1651603"/>
            <a:ext cx="4718422" cy="3453310"/>
          </a:xfrm>
          <a:custGeom>
            <a:avLst/>
            <a:gdLst/>
            <a:ahLst/>
            <a:cxnLst/>
            <a:rect r="r" b="b" t="t" l="l"/>
            <a:pathLst>
              <a:path h="3453310" w="4718422">
                <a:moveTo>
                  <a:pt x="0" y="0"/>
                </a:moveTo>
                <a:lnTo>
                  <a:pt x="4718423" y="0"/>
                </a:lnTo>
                <a:lnTo>
                  <a:pt x="4718423" y="3453310"/>
                </a:lnTo>
                <a:lnTo>
                  <a:pt x="0" y="3453310"/>
                </a:lnTo>
                <a:lnTo>
                  <a:pt x="0" y="0"/>
                </a:lnTo>
                <a:close/>
              </a:path>
            </a:pathLst>
          </a:custGeom>
          <a:blipFill>
            <a:blip r:embed="rId3"/>
            <a:stretch>
              <a:fillRect l="-9442" t="-10892" r="-47832" b="0"/>
            </a:stretch>
          </a:blipFill>
        </p:spPr>
      </p:sp>
      <p:sp>
        <p:nvSpPr>
          <p:cNvPr name="Freeform 8" id="8"/>
          <p:cNvSpPr/>
          <p:nvPr/>
        </p:nvSpPr>
        <p:spPr>
          <a:xfrm flipH="false" flipV="false" rot="0">
            <a:off x="2147827" y="5144123"/>
            <a:ext cx="4638107" cy="3439483"/>
          </a:xfrm>
          <a:custGeom>
            <a:avLst/>
            <a:gdLst/>
            <a:ahLst/>
            <a:cxnLst/>
            <a:rect r="r" b="b" t="t" l="l"/>
            <a:pathLst>
              <a:path h="3439483" w="4638107">
                <a:moveTo>
                  <a:pt x="0" y="0"/>
                </a:moveTo>
                <a:lnTo>
                  <a:pt x="4638107" y="0"/>
                </a:lnTo>
                <a:lnTo>
                  <a:pt x="4638107" y="3439483"/>
                </a:lnTo>
                <a:lnTo>
                  <a:pt x="0" y="3439483"/>
                </a:lnTo>
                <a:lnTo>
                  <a:pt x="0" y="0"/>
                </a:lnTo>
                <a:close/>
              </a:path>
            </a:pathLst>
          </a:custGeom>
          <a:blipFill>
            <a:blip r:embed="rId4"/>
            <a:stretch>
              <a:fillRect l="-11956" t="0" r="-46453" b="-17726"/>
            </a:stretch>
          </a:blipFill>
        </p:spPr>
      </p:sp>
      <p:sp>
        <p:nvSpPr>
          <p:cNvPr name="Freeform 9" id="9"/>
          <p:cNvSpPr/>
          <p:nvPr/>
        </p:nvSpPr>
        <p:spPr>
          <a:xfrm flipH="false" flipV="false" rot="0">
            <a:off x="11371570" y="1651603"/>
            <a:ext cx="4578922" cy="3383351"/>
          </a:xfrm>
          <a:custGeom>
            <a:avLst/>
            <a:gdLst/>
            <a:ahLst/>
            <a:cxnLst/>
            <a:rect r="r" b="b" t="t" l="l"/>
            <a:pathLst>
              <a:path h="3383351" w="4578922">
                <a:moveTo>
                  <a:pt x="0" y="0"/>
                </a:moveTo>
                <a:lnTo>
                  <a:pt x="4578922" y="0"/>
                </a:lnTo>
                <a:lnTo>
                  <a:pt x="4578922" y="3383351"/>
                </a:lnTo>
                <a:lnTo>
                  <a:pt x="0" y="3383351"/>
                </a:lnTo>
                <a:lnTo>
                  <a:pt x="0" y="0"/>
                </a:lnTo>
                <a:close/>
              </a:path>
            </a:pathLst>
          </a:custGeom>
          <a:blipFill>
            <a:blip r:embed="rId5"/>
            <a:stretch>
              <a:fillRect l="-10759" t="-12180" r="-51407" b="0"/>
            </a:stretch>
          </a:blipFill>
        </p:spPr>
      </p:sp>
      <p:sp>
        <p:nvSpPr>
          <p:cNvPr name="Freeform 10" id="10"/>
          <p:cNvSpPr/>
          <p:nvPr/>
        </p:nvSpPr>
        <p:spPr>
          <a:xfrm flipH="false" flipV="false" rot="0">
            <a:off x="11371570" y="5012896"/>
            <a:ext cx="4478600" cy="3693864"/>
          </a:xfrm>
          <a:custGeom>
            <a:avLst/>
            <a:gdLst/>
            <a:ahLst/>
            <a:cxnLst/>
            <a:rect r="r" b="b" t="t" l="l"/>
            <a:pathLst>
              <a:path h="3693864" w="4478600">
                <a:moveTo>
                  <a:pt x="0" y="0"/>
                </a:moveTo>
                <a:lnTo>
                  <a:pt x="4478600" y="0"/>
                </a:lnTo>
                <a:lnTo>
                  <a:pt x="4478600" y="3693864"/>
                </a:lnTo>
                <a:lnTo>
                  <a:pt x="0" y="3693864"/>
                </a:lnTo>
                <a:lnTo>
                  <a:pt x="0" y="0"/>
                </a:lnTo>
                <a:close/>
              </a:path>
            </a:pathLst>
          </a:custGeom>
          <a:blipFill>
            <a:blip r:embed="rId6"/>
            <a:stretch>
              <a:fillRect l="-10988" t="0" r="-51441" b="0"/>
            </a:stretch>
          </a:blipFill>
        </p:spPr>
      </p:sp>
      <p:sp>
        <p:nvSpPr>
          <p:cNvPr name="TextBox 11" id="11"/>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12" id="12"/>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19</a:t>
            </a:r>
          </a:p>
        </p:txBody>
      </p:sp>
      <p:sp>
        <p:nvSpPr>
          <p:cNvPr name="TextBox 13" id="13"/>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4" id="14"/>
          <p:cNvSpPr txBox="true"/>
          <p:nvPr/>
        </p:nvSpPr>
        <p:spPr>
          <a:xfrm rot="0">
            <a:off x="453821" y="8741627"/>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5.11 Giao diện tra cứu lịch Can Chi</a:t>
            </a:r>
          </a:p>
          <a:p>
            <a:pPr algn="ctr">
              <a:lnSpc>
                <a:spcPts val="3247"/>
              </a:lnSpc>
              <a:spcBef>
                <a:spcPct val="0"/>
              </a:spcBef>
            </a:pPr>
          </a:p>
        </p:txBody>
      </p:sp>
      <p:sp>
        <p:nvSpPr>
          <p:cNvPr name="TextBox 15" id="15"/>
          <p:cNvSpPr txBox="true"/>
          <p:nvPr/>
        </p:nvSpPr>
        <p:spPr>
          <a:xfrm rot="0">
            <a:off x="9734112" y="8744860"/>
            <a:ext cx="7853839" cy="407797"/>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5.12 Giao diện tra cứu thước Lỗ Ban</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76004" y="230082"/>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Freeform 7" id="7"/>
          <p:cNvSpPr/>
          <p:nvPr/>
        </p:nvSpPr>
        <p:spPr>
          <a:xfrm flipH="false" flipV="false" rot="0">
            <a:off x="4161757" y="1545346"/>
            <a:ext cx="9961086" cy="7091506"/>
          </a:xfrm>
          <a:custGeom>
            <a:avLst/>
            <a:gdLst/>
            <a:ahLst/>
            <a:cxnLst/>
            <a:rect r="r" b="b" t="t" l="l"/>
            <a:pathLst>
              <a:path h="7091506" w="9961086">
                <a:moveTo>
                  <a:pt x="0" y="0"/>
                </a:moveTo>
                <a:lnTo>
                  <a:pt x="9961086" y="0"/>
                </a:lnTo>
                <a:lnTo>
                  <a:pt x="9961086" y="7091506"/>
                </a:lnTo>
                <a:lnTo>
                  <a:pt x="0" y="7091506"/>
                </a:lnTo>
                <a:lnTo>
                  <a:pt x="0" y="0"/>
                </a:lnTo>
                <a:close/>
              </a:path>
            </a:pathLst>
          </a:custGeom>
          <a:blipFill>
            <a:blip r:embed="rId3"/>
            <a:stretch>
              <a:fillRect l="-7319" t="-805" r="-13684" b="0"/>
            </a:stretch>
          </a:blipFill>
        </p:spPr>
      </p:sp>
      <p:sp>
        <p:nvSpPr>
          <p:cNvPr name="TextBox 8" id="8"/>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9" id="9"/>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20</a:t>
            </a:r>
          </a:p>
        </p:txBody>
      </p:sp>
      <p:sp>
        <p:nvSpPr>
          <p:cNvPr name="TextBox 10" id="10"/>
          <p:cNvSpPr txBox="true"/>
          <p:nvPr/>
        </p:nvSpPr>
        <p:spPr>
          <a:xfrm rot="0">
            <a:off x="1028700" y="615069"/>
            <a:ext cx="11224595"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4. KẾT QUẢ THỰC HIỆN</a:t>
            </a:r>
          </a:p>
        </p:txBody>
      </p:sp>
      <p:sp>
        <p:nvSpPr>
          <p:cNvPr name="TextBox 11" id="11"/>
          <p:cNvSpPr txBox="true"/>
          <p:nvPr/>
        </p:nvSpPr>
        <p:spPr>
          <a:xfrm rot="0">
            <a:off x="5215380" y="8747528"/>
            <a:ext cx="7853839" cy="817372"/>
          </a:xfrm>
          <a:prstGeom prst="rect">
            <a:avLst/>
          </a:prstGeom>
        </p:spPr>
        <p:txBody>
          <a:bodyPr anchor="t" rtlCol="false" tIns="0" lIns="0" bIns="0" rIns="0">
            <a:spAutoFit/>
          </a:bodyPr>
          <a:lstStyle/>
          <a:p>
            <a:pPr algn="ctr">
              <a:lnSpc>
                <a:spcPts val="3247"/>
              </a:lnSpc>
              <a:spcBef>
                <a:spcPct val="0"/>
              </a:spcBef>
            </a:pPr>
            <a:r>
              <a:rPr lang="en-US" b="true" sz="2319">
                <a:solidFill>
                  <a:srgbClr val="000000"/>
                </a:solidFill>
                <a:latin typeface="Roboto Bold"/>
                <a:ea typeface="Roboto Bold"/>
                <a:cs typeface="Roboto Bold"/>
                <a:sym typeface="Roboto Bold"/>
              </a:rPr>
              <a:t>Hình 5.13 Giao diện tra cứu hướng đặt bàn thờ</a:t>
            </a:r>
          </a:p>
          <a:p>
            <a:pPr algn="ctr">
              <a:lnSpc>
                <a:spcPts val="3247"/>
              </a:lnSpc>
              <a:spcBef>
                <a:spcPct val="0"/>
              </a:spcBef>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21</a:t>
            </a:r>
          </a:p>
        </p:txBody>
      </p:sp>
      <p:sp>
        <p:nvSpPr>
          <p:cNvPr name="TextBox 9" id="9"/>
          <p:cNvSpPr txBox="true"/>
          <p:nvPr/>
        </p:nvSpPr>
        <p:spPr>
          <a:xfrm rot="0">
            <a:off x="2455555" y="3081255"/>
            <a:ext cx="13376890" cy="3185160"/>
          </a:xfrm>
          <a:prstGeom prst="rect">
            <a:avLst/>
          </a:prstGeom>
        </p:spPr>
        <p:txBody>
          <a:bodyPr anchor="t" rtlCol="false" tIns="0" lIns="0" bIns="0" rIns="0">
            <a:spAutoFit/>
          </a:bodyPr>
          <a:lstStyle/>
          <a:p>
            <a:pPr algn="ctr">
              <a:lnSpc>
                <a:spcPts val="12869"/>
              </a:lnSpc>
            </a:pPr>
            <a:r>
              <a:rPr lang="en-US" b="true" sz="9000" spc="719">
                <a:solidFill>
                  <a:srgbClr val="0345E4"/>
                </a:solidFill>
                <a:latin typeface="Garet Bold"/>
                <a:ea typeface="Garet Bold"/>
                <a:cs typeface="Garet Bold"/>
                <a:sym typeface="Garet Bold"/>
              </a:rPr>
              <a:t>5. KẾT LUẬN VÀ HƯỚNG PHÁT TRIỂN </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22</a:t>
            </a:r>
          </a:p>
        </p:txBody>
      </p:sp>
      <p:sp>
        <p:nvSpPr>
          <p:cNvPr name="TextBox 9" id="9"/>
          <p:cNvSpPr txBox="true"/>
          <p:nvPr/>
        </p:nvSpPr>
        <p:spPr>
          <a:xfrm rot="0">
            <a:off x="1028700" y="615069"/>
            <a:ext cx="13716404"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5. KẾT LUẬN VÀ HƯỚNG PHÁT TRIỂN</a:t>
            </a:r>
          </a:p>
        </p:txBody>
      </p:sp>
      <p:sp>
        <p:nvSpPr>
          <p:cNvPr name="TextBox 10" id="10"/>
          <p:cNvSpPr txBox="true"/>
          <p:nvPr/>
        </p:nvSpPr>
        <p:spPr>
          <a:xfrm rot="0">
            <a:off x="1129728" y="1634791"/>
            <a:ext cx="12979626"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5.1 – Kết luận</a:t>
            </a:r>
          </a:p>
        </p:txBody>
      </p:sp>
      <p:grpSp>
        <p:nvGrpSpPr>
          <p:cNvPr name="Group 11" id="11"/>
          <p:cNvGrpSpPr/>
          <p:nvPr/>
        </p:nvGrpSpPr>
        <p:grpSpPr>
          <a:xfrm rot="0">
            <a:off x="1027000" y="5995295"/>
            <a:ext cx="2705100" cy="3086100"/>
            <a:chOff x="0" y="0"/>
            <a:chExt cx="712454" cy="812800"/>
          </a:xfrm>
        </p:grpSpPr>
        <p:sp>
          <p:nvSpPr>
            <p:cNvPr name="Freeform 12" id="12"/>
            <p:cNvSpPr/>
            <p:nvPr/>
          </p:nvSpPr>
          <p:spPr>
            <a:xfrm flipH="false" flipV="false" rot="0">
              <a:off x="0" y="0"/>
              <a:ext cx="712454" cy="812800"/>
            </a:xfrm>
            <a:custGeom>
              <a:avLst/>
              <a:gdLst/>
              <a:ahLst/>
              <a:cxnLst/>
              <a:rect r="r" b="b" t="t" l="l"/>
              <a:pathLst>
                <a:path h="812800" w="712454">
                  <a:moveTo>
                    <a:pt x="0" y="0"/>
                  </a:moveTo>
                  <a:lnTo>
                    <a:pt x="712454" y="0"/>
                  </a:lnTo>
                  <a:lnTo>
                    <a:pt x="712454" y="812800"/>
                  </a:lnTo>
                  <a:lnTo>
                    <a:pt x="0" y="812800"/>
                  </a:lnTo>
                  <a:close/>
                </a:path>
              </a:pathLst>
            </a:custGeom>
            <a:solidFill>
              <a:srgbClr val="36B580"/>
            </a:solidFill>
          </p:spPr>
        </p:sp>
        <p:sp>
          <p:nvSpPr>
            <p:cNvPr name="TextBox 13" id="13"/>
            <p:cNvSpPr txBox="true"/>
            <p:nvPr/>
          </p:nvSpPr>
          <p:spPr>
            <a:xfrm>
              <a:off x="0" y="-28575"/>
              <a:ext cx="712454" cy="841375"/>
            </a:xfrm>
            <a:prstGeom prst="rect">
              <a:avLst/>
            </a:prstGeom>
          </p:spPr>
          <p:txBody>
            <a:bodyPr anchor="ctr" rtlCol="false" tIns="50800" lIns="50800" bIns="50800" rIns="50800"/>
            <a:lstStyle/>
            <a:p>
              <a:pPr algn="ctr">
                <a:lnSpc>
                  <a:spcPts val="2519"/>
                </a:lnSpc>
              </a:pPr>
            </a:p>
          </p:txBody>
        </p:sp>
      </p:grpSp>
      <p:grpSp>
        <p:nvGrpSpPr>
          <p:cNvPr name="Group 14" id="14"/>
          <p:cNvGrpSpPr/>
          <p:nvPr/>
        </p:nvGrpSpPr>
        <p:grpSpPr>
          <a:xfrm rot="0">
            <a:off x="3732100" y="5324996"/>
            <a:ext cx="2705100" cy="3756399"/>
            <a:chOff x="0" y="0"/>
            <a:chExt cx="712454" cy="989340"/>
          </a:xfrm>
        </p:grpSpPr>
        <p:sp>
          <p:nvSpPr>
            <p:cNvPr name="Freeform 15" id="15"/>
            <p:cNvSpPr/>
            <p:nvPr/>
          </p:nvSpPr>
          <p:spPr>
            <a:xfrm flipH="false" flipV="false" rot="0">
              <a:off x="0" y="0"/>
              <a:ext cx="712454" cy="989340"/>
            </a:xfrm>
            <a:custGeom>
              <a:avLst/>
              <a:gdLst/>
              <a:ahLst/>
              <a:cxnLst/>
              <a:rect r="r" b="b" t="t" l="l"/>
              <a:pathLst>
                <a:path h="989340" w="712454">
                  <a:moveTo>
                    <a:pt x="0" y="0"/>
                  </a:moveTo>
                  <a:lnTo>
                    <a:pt x="712454" y="0"/>
                  </a:lnTo>
                  <a:lnTo>
                    <a:pt x="712454" y="989340"/>
                  </a:lnTo>
                  <a:lnTo>
                    <a:pt x="0" y="989340"/>
                  </a:lnTo>
                  <a:close/>
                </a:path>
              </a:pathLst>
            </a:custGeom>
            <a:solidFill>
              <a:srgbClr val="00A994"/>
            </a:solidFill>
          </p:spPr>
        </p:sp>
        <p:sp>
          <p:nvSpPr>
            <p:cNvPr name="TextBox 16" id="16"/>
            <p:cNvSpPr txBox="true"/>
            <p:nvPr/>
          </p:nvSpPr>
          <p:spPr>
            <a:xfrm>
              <a:off x="0" y="-28575"/>
              <a:ext cx="712454" cy="1017915"/>
            </a:xfrm>
            <a:prstGeom prst="rect">
              <a:avLst/>
            </a:prstGeom>
          </p:spPr>
          <p:txBody>
            <a:bodyPr anchor="ctr" rtlCol="false" tIns="50800" lIns="50800" bIns="50800" rIns="50800"/>
            <a:lstStyle/>
            <a:p>
              <a:pPr algn="ctr">
                <a:lnSpc>
                  <a:spcPts val="2519"/>
                </a:lnSpc>
              </a:pPr>
            </a:p>
          </p:txBody>
        </p:sp>
      </p:grpSp>
      <p:grpSp>
        <p:nvGrpSpPr>
          <p:cNvPr name="Group 17" id="17"/>
          <p:cNvGrpSpPr/>
          <p:nvPr/>
        </p:nvGrpSpPr>
        <p:grpSpPr>
          <a:xfrm rot="0">
            <a:off x="6437200" y="4656471"/>
            <a:ext cx="2705100" cy="4424924"/>
            <a:chOff x="0" y="0"/>
            <a:chExt cx="712454" cy="1165412"/>
          </a:xfrm>
        </p:grpSpPr>
        <p:sp>
          <p:nvSpPr>
            <p:cNvPr name="Freeform 18" id="18"/>
            <p:cNvSpPr/>
            <p:nvPr/>
          </p:nvSpPr>
          <p:spPr>
            <a:xfrm flipH="false" flipV="false" rot="0">
              <a:off x="0" y="0"/>
              <a:ext cx="712454" cy="1165412"/>
            </a:xfrm>
            <a:custGeom>
              <a:avLst/>
              <a:gdLst/>
              <a:ahLst/>
              <a:cxnLst/>
              <a:rect r="r" b="b" t="t" l="l"/>
              <a:pathLst>
                <a:path h="1165412" w="712454">
                  <a:moveTo>
                    <a:pt x="0" y="0"/>
                  </a:moveTo>
                  <a:lnTo>
                    <a:pt x="712454" y="0"/>
                  </a:lnTo>
                  <a:lnTo>
                    <a:pt x="712454" y="1165412"/>
                  </a:lnTo>
                  <a:lnTo>
                    <a:pt x="0" y="1165412"/>
                  </a:lnTo>
                  <a:close/>
                </a:path>
              </a:pathLst>
            </a:custGeom>
            <a:solidFill>
              <a:srgbClr val="0097A0"/>
            </a:solidFill>
          </p:spPr>
        </p:sp>
        <p:sp>
          <p:nvSpPr>
            <p:cNvPr name="TextBox 19" id="19"/>
            <p:cNvSpPr txBox="true"/>
            <p:nvPr/>
          </p:nvSpPr>
          <p:spPr>
            <a:xfrm>
              <a:off x="0" y="-28575"/>
              <a:ext cx="712454" cy="1193987"/>
            </a:xfrm>
            <a:prstGeom prst="rect">
              <a:avLst/>
            </a:prstGeom>
          </p:spPr>
          <p:txBody>
            <a:bodyPr anchor="ctr" rtlCol="false" tIns="50800" lIns="50800" bIns="50800" rIns="50800"/>
            <a:lstStyle/>
            <a:p>
              <a:pPr algn="ctr">
                <a:lnSpc>
                  <a:spcPts val="2519"/>
                </a:lnSpc>
              </a:pPr>
            </a:p>
          </p:txBody>
        </p:sp>
      </p:grpSp>
      <p:sp>
        <p:nvSpPr>
          <p:cNvPr name="Freeform 20" id="20"/>
          <p:cNvSpPr/>
          <p:nvPr/>
        </p:nvSpPr>
        <p:spPr>
          <a:xfrm flipH="false" flipV="false" rot="0">
            <a:off x="4341541" y="4562996"/>
            <a:ext cx="1695608" cy="1692525"/>
          </a:xfrm>
          <a:custGeom>
            <a:avLst/>
            <a:gdLst/>
            <a:ahLst/>
            <a:cxnLst/>
            <a:rect r="r" b="b" t="t" l="l"/>
            <a:pathLst>
              <a:path h="1692525" w="1695608">
                <a:moveTo>
                  <a:pt x="0" y="0"/>
                </a:moveTo>
                <a:lnTo>
                  <a:pt x="1695609" y="0"/>
                </a:lnTo>
                <a:lnTo>
                  <a:pt x="1695609" y="1692525"/>
                </a:lnTo>
                <a:lnTo>
                  <a:pt x="0" y="1692525"/>
                </a:lnTo>
                <a:lnTo>
                  <a:pt x="0" y="0"/>
                </a:lnTo>
                <a:close/>
              </a:path>
            </a:pathLst>
          </a:custGeom>
          <a:blipFill>
            <a:blip r:embed="rId3"/>
            <a:stretch>
              <a:fillRect l="0" t="0" r="0" b="0"/>
            </a:stretch>
          </a:blipFill>
        </p:spPr>
      </p:sp>
      <p:sp>
        <p:nvSpPr>
          <p:cNvPr name="Freeform 21" id="21"/>
          <p:cNvSpPr/>
          <p:nvPr/>
        </p:nvSpPr>
        <p:spPr>
          <a:xfrm flipH="false" flipV="false" rot="0">
            <a:off x="1617550" y="5284906"/>
            <a:ext cx="1695608" cy="1692525"/>
          </a:xfrm>
          <a:custGeom>
            <a:avLst/>
            <a:gdLst/>
            <a:ahLst/>
            <a:cxnLst/>
            <a:rect r="r" b="b" t="t" l="l"/>
            <a:pathLst>
              <a:path h="1692525" w="1695608">
                <a:moveTo>
                  <a:pt x="0" y="0"/>
                </a:moveTo>
                <a:lnTo>
                  <a:pt x="1695608" y="0"/>
                </a:lnTo>
                <a:lnTo>
                  <a:pt x="1695608" y="1692526"/>
                </a:lnTo>
                <a:lnTo>
                  <a:pt x="0" y="1692526"/>
                </a:lnTo>
                <a:lnTo>
                  <a:pt x="0" y="0"/>
                </a:lnTo>
                <a:close/>
              </a:path>
            </a:pathLst>
          </a:custGeom>
          <a:blipFill>
            <a:blip r:embed="rId3"/>
            <a:stretch>
              <a:fillRect l="0" t="0" r="0" b="0"/>
            </a:stretch>
          </a:blipFill>
        </p:spPr>
      </p:sp>
      <p:sp>
        <p:nvSpPr>
          <p:cNvPr name="Freeform 22" id="22"/>
          <p:cNvSpPr/>
          <p:nvPr/>
        </p:nvSpPr>
        <p:spPr>
          <a:xfrm flipH="false" flipV="false" rot="0">
            <a:off x="7046641" y="3903684"/>
            <a:ext cx="1695608" cy="1692525"/>
          </a:xfrm>
          <a:custGeom>
            <a:avLst/>
            <a:gdLst/>
            <a:ahLst/>
            <a:cxnLst/>
            <a:rect r="r" b="b" t="t" l="l"/>
            <a:pathLst>
              <a:path h="1692525" w="1695608">
                <a:moveTo>
                  <a:pt x="0" y="0"/>
                </a:moveTo>
                <a:lnTo>
                  <a:pt x="1695609" y="0"/>
                </a:lnTo>
                <a:lnTo>
                  <a:pt x="1695609" y="1692526"/>
                </a:lnTo>
                <a:lnTo>
                  <a:pt x="0" y="1692526"/>
                </a:lnTo>
                <a:lnTo>
                  <a:pt x="0" y="0"/>
                </a:lnTo>
                <a:close/>
              </a:path>
            </a:pathLst>
          </a:custGeom>
          <a:blipFill>
            <a:blip r:embed="rId3"/>
            <a:stretch>
              <a:fillRect l="0" t="0" r="0" b="0"/>
            </a:stretch>
          </a:blipFill>
        </p:spPr>
      </p:sp>
      <p:grpSp>
        <p:nvGrpSpPr>
          <p:cNvPr name="Group 23" id="23"/>
          <p:cNvGrpSpPr/>
          <p:nvPr/>
        </p:nvGrpSpPr>
        <p:grpSpPr>
          <a:xfrm rot="0">
            <a:off x="1617550" y="5233295"/>
            <a:ext cx="1524000" cy="152400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25" id="25"/>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grpSp>
        <p:nvGrpSpPr>
          <p:cNvPr name="Group 26" id="26"/>
          <p:cNvGrpSpPr/>
          <p:nvPr/>
        </p:nvGrpSpPr>
        <p:grpSpPr>
          <a:xfrm rot="0">
            <a:off x="4322650" y="4562996"/>
            <a:ext cx="1524000" cy="1524000"/>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grpSp>
        <p:nvGrpSpPr>
          <p:cNvPr name="Group 29" id="29"/>
          <p:cNvGrpSpPr/>
          <p:nvPr/>
        </p:nvGrpSpPr>
        <p:grpSpPr>
          <a:xfrm rot="0">
            <a:off x="7027750" y="3894471"/>
            <a:ext cx="1524000" cy="1524000"/>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grpSp>
        <p:nvGrpSpPr>
          <p:cNvPr name="Group 32" id="32"/>
          <p:cNvGrpSpPr/>
          <p:nvPr/>
        </p:nvGrpSpPr>
        <p:grpSpPr>
          <a:xfrm rot="0">
            <a:off x="9142300" y="3987947"/>
            <a:ext cx="2705100" cy="5093448"/>
            <a:chOff x="0" y="0"/>
            <a:chExt cx="712454" cy="1341484"/>
          </a:xfrm>
        </p:grpSpPr>
        <p:sp>
          <p:nvSpPr>
            <p:cNvPr name="Freeform 33" id="33"/>
            <p:cNvSpPr/>
            <p:nvPr/>
          </p:nvSpPr>
          <p:spPr>
            <a:xfrm flipH="false" flipV="false" rot="0">
              <a:off x="0" y="0"/>
              <a:ext cx="712454" cy="1341484"/>
            </a:xfrm>
            <a:custGeom>
              <a:avLst/>
              <a:gdLst/>
              <a:ahLst/>
              <a:cxnLst/>
              <a:rect r="r" b="b" t="t" l="l"/>
              <a:pathLst>
                <a:path h="1341484" w="712454">
                  <a:moveTo>
                    <a:pt x="0" y="0"/>
                  </a:moveTo>
                  <a:lnTo>
                    <a:pt x="712454" y="0"/>
                  </a:lnTo>
                  <a:lnTo>
                    <a:pt x="712454" y="1341484"/>
                  </a:lnTo>
                  <a:lnTo>
                    <a:pt x="0" y="1341484"/>
                  </a:lnTo>
                  <a:close/>
                </a:path>
              </a:pathLst>
            </a:custGeom>
            <a:solidFill>
              <a:srgbClr val="0085A8"/>
            </a:solidFill>
          </p:spPr>
        </p:sp>
        <p:sp>
          <p:nvSpPr>
            <p:cNvPr name="TextBox 34" id="34"/>
            <p:cNvSpPr txBox="true"/>
            <p:nvPr/>
          </p:nvSpPr>
          <p:spPr>
            <a:xfrm>
              <a:off x="0" y="-28575"/>
              <a:ext cx="712454" cy="1370059"/>
            </a:xfrm>
            <a:prstGeom prst="rect">
              <a:avLst/>
            </a:prstGeom>
          </p:spPr>
          <p:txBody>
            <a:bodyPr anchor="ctr" rtlCol="false" tIns="50800" lIns="50800" bIns="50800" rIns="50800"/>
            <a:lstStyle/>
            <a:p>
              <a:pPr algn="ctr">
                <a:lnSpc>
                  <a:spcPts val="2519"/>
                </a:lnSpc>
              </a:pPr>
            </a:p>
          </p:txBody>
        </p:sp>
      </p:grpSp>
      <p:sp>
        <p:nvSpPr>
          <p:cNvPr name="Freeform 35" id="35"/>
          <p:cNvSpPr/>
          <p:nvPr/>
        </p:nvSpPr>
        <p:spPr>
          <a:xfrm flipH="false" flipV="false" rot="0">
            <a:off x="9751741" y="3244372"/>
            <a:ext cx="1695608" cy="1692525"/>
          </a:xfrm>
          <a:custGeom>
            <a:avLst/>
            <a:gdLst/>
            <a:ahLst/>
            <a:cxnLst/>
            <a:rect r="r" b="b" t="t" l="l"/>
            <a:pathLst>
              <a:path h="1692525" w="1695608">
                <a:moveTo>
                  <a:pt x="0" y="0"/>
                </a:moveTo>
                <a:lnTo>
                  <a:pt x="1695609" y="0"/>
                </a:lnTo>
                <a:lnTo>
                  <a:pt x="1695609" y="1692526"/>
                </a:lnTo>
                <a:lnTo>
                  <a:pt x="0" y="1692526"/>
                </a:lnTo>
                <a:lnTo>
                  <a:pt x="0" y="0"/>
                </a:lnTo>
                <a:close/>
              </a:path>
            </a:pathLst>
          </a:custGeom>
          <a:blipFill>
            <a:blip r:embed="rId3"/>
            <a:stretch>
              <a:fillRect l="0" t="0" r="0" b="0"/>
            </a:stretch>
          </a:blipFill>
        </p:spPr>
      </p:sp>
      <p:grpSp>
        <p:nvGrpSpPr>
          <p:cNvPr name="Group 36" id="36"/>
          <p:cNvGrpSpPr/>
          <p:nvPr/>
        </p:nvGrpSpPr>
        <p:grpSpPr>
          <a:xfrm rot="0">
            <a:off x="9732850" y="3225947"/>
            <a:ext cx="1524000" cy="1524000"/>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38" id="38"/>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grpSp>
        <p:nvGrpSpPr>
          <p:cNvPr name="Group 39" id="39"/>
          <p:cNvGrpSpPr/>
          <p:nvPr/>
        </p:nvGrpSpPr>
        <p:grpSpPr>
          <a:xfrm rot="0">
            <a:off x="11847400" y="3319422"/>
            <a:ext cx="2761649" cy="5761973"/>
            <a:chOff x="0" y="0"/>
            <a:chExt cx="727348" cy="1517557"/>
          </a:xfrm>
        </p:grpSpPr>
        <p:sp>
          <p:nvSpPr>
            <p:cNvPr name="Freeform 40" id="40"/>
            <p:cNvSpPr/>
            <p:nvPr/>
          </p:nvSpPr>
          <p:spPr>
            <a:xfrm flipH="false" flipV="false" rot="0">
              <a:off x="0" y="0"/>
              <a:ext cx="727348" cy="1517557"/>
            </a:xfrm>
            <a:custGeom>
              <a:avLst/>
              <a:gdLst/>
              <a:ahLst/>
              <a:cxnLst/>
              <a:rect r="r" b="b" t="t" l="l"/>
              <a:pathLst>
                <a:path h="1517557" w="727348">
                  <a:moveTo>
                    <a:pt x="0" y="0"/>
                  </a:moveTo>
                  <a:lnTo>
                    <a:pt x="727348" y="0"/>
                  </a:lnTo>
                  <a:lnTo>
                    <a:pt x="727348" y="1517557"/>
                  </a:lnTo>
                  <a:lnTo>
                    <a:pt x="0" y="1517557"/>
                  </a:lnTo>
                  <a:close/>
                </a:path>
              </a:pathLst>
            </a:custGeom>
            <a:solidFill>
              <a:srgbClr val="0071B6"/>
            </a:solidFill>
          </p:spPr>
        </p:sp>
        <p:sp>
          <p:nvSpPr>
            <p:cNvPr name="TextBox 41" id="41"/>
            <p:cNvSpPr txBox="true"/>
            <p:nvPr/>
          </p:nvSpPr>
          <p:spPr>
            <a:xfrm>
              <a:off x="0" y="-28575"/>
              <a:ext cx="727348" cy="1546132"/>
            </a:xfrm>
            <a:prstGeom prst="rect">
              <a:avLst/>
            </a:prstGeom>
          </p:spPr>
          <p:txBody>
            <a:bodyPr anchor="ctr" rtlCol="false" tIns="50800" lIns="50800" bIns="50800" rIns="50800"/>
            <a:lstStyle/>
            <a:p>
              <a:pPr algn="ctr">
                <a:lnSpc>
                  <a:spcPts val="2519"/>
                </a:lnSpc>
              </a:pPr>
            </a:p>
          </p:txBody>
        </p:sp>
      </p:grpSp>
      <p:sp>
        <p:nvSpPr>
          <p:cNvPr name="Freeform 42" id="42"/>
          <p:cNvSpPr/>
          <p:nvPr/>
        </p:nvSpPr>
        <p:spPr>
          <a:xfrm flipH="false" flipV="false" rot="0">
            <a:off x="12456841" y="2585060"/>
            <a:ext cx="1695608" cy="1692525"/>
          </a:xfrm>
          <a:custGeom>
            <a:avLst/>
            <a:gdLst/>
            <a:ahLst/>
            <a:cxnLst/>
            <a:rect r="r" b="b" t="t" l="l"/>
            <a:pathLst>
              <a:path h="1692525" w="1695608">
                <a:moveTo>
                  <a:pt x="0" y="0"/>
                </a:moveTo>
                <a:lnTo>
                  <a:pt x="1695609" y="0"/>
                </a:lnTo>
                <a:lnTo>
                  <a:pt x="1695609" y="1692526"/>
                </a:lnTo>
                <a:lnTo>
                  <a:pt x="0" y="1692526"/>
                </a:lnTo>
                <a:lnTo>
                  <a:pt x="0" y="0"/>
                </a:lnTo>
                <a:close/>
              </a:path>
            </a:pathLst>
          </a:custGeom>
          <a:blipFill>
            <a:blip r:embed="rId3"/>
            <a:stretch>
              <a:fillRect l="0" t="0" r="0" b="0"/>
            </a:stretch>
          </a:blipFill>
        </p:spPr>
      </p:sp>
      <p:grpSp>
        <p:nvGrpSpPr>
          <p:cNvPr name="Group 43" id="43"/>
          <p:cNvGrpSpPr/>
          <p:nvPr/>
        </p:nvGrpSpPr>
        <p:grpSpPr>
          <a:xfrm rot="0">
            <a:off x="12437950" y="2557422"/>
            <a:ext cx="1524000" cy="1524000"/>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45" id="45"/>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grpSp>
        <p:nvGrpSpPr>
          <p:cNvPr name="Group 46" id="46"/>
          <p:cNvGrpSpPr/>
          <p:nvPr/>
        </p:nvGrpSpPr>
        <p:grpSpPr>
          <a:xfrm rot="0">
            <a:off x="14609049" y="2650898"/>
            <a:ext cx="2648551" cy="6430497"/>
            <a:chOff x="0" y="0"/>
            <a:chExt cx="697561" cy="1693629"/>
          </a:xfrm>
        </p:grpSpPr>
        <p:sp>
          <p:nvSpPr>
            <p:cNvPr name="Freeform 47" id="47"/>
            <p:cNvSpPr/>
            <p:nvPr/>
          </p:nvSpPr>
          <p:spPr>
            <a:xfrm flipH="false" flipV="false" rot="0">
              <a:off x="0" y="0"/>
              <a:ext cx="697561" cy="1693629"/>
            </a:xfrm>
            <a:custGeom>
              <a:avLst/>
              <a:gdLst/>
              <a:ahLst/>
              <a:cxnLst/>
              <a:rect r="r" b="b" t="t" l="l"/>
              <a:pathLst>
                <a:path h="1693629" w="697561">
                  <a:moveTo>
                    <a:pt x="0" y="0"/>
                  </a:moveTo>
                  <a:lnTo>
                    <a:pt x="697561" y="0"/>
                  </a:lnTo>
                  <a:lnTo>
                    <a:pt x="697561" y="1693629"/>
                  </a:lnTo>
                  <a:lnTo>
                    <a:pt x="0" y="1693629"/>
                  </a:lnTo>
                  <a:close/>
                </a:path>
              </a:pathLst>
            </a:custGeom>
            <a:solidFill>
              <a:srgbClr val="FFAB00"/>
            </a:solidFill>
          </p:spPr>
        </p:sp>
        <p:sp>
          <p:nvSpPr>
            <p:cNvPr name="TextBox 48" id="48"/>
            <p:cNvSpPr txBox="true"/>
            <p:nvPr/>
          </p:nvSpPr>
          <p:spPr>
            <a:xfrm>
              <a:off x="0" y="-28575"/>
              <a:ext cx="697561" cy="1722204"/>
            </a:xfrm>
            <a:prstGeom prst="rect">
              <a:avLst/>
            </a:prstGeom>
          </p:spPr>
          <p:txBody>
            <a:bodyPr anchor="ctr" rtlCol="false" tIns="50800" lIns="50800" bIns="50800" rIns="50800"/>
            <a:lstStyle/>
            <a:p>
              <a:pPr algn="ctr">
                <a:lnSpc>
                  <a:spcPts val="2519"/>
                </a:lnSpc>
              </a:pPr>
            </a:p>
          </p:txBody>
        </p:sp>
      </p:grpSp>
      <p:sp>
        <p:nvSpPr>
          <p:cNvPr name="Freeform 49" id="49"/>
          <p:cNvSpPr/>
          <p:nvPr/>
        </p:nvSpPr>
        <p:spPr>
          <a:xfrm flipH="false" flipV="false" rot="0">
            <a:off x="15218490" y="1931697"/>
            <a:ext cx="1695608" cy="1692525"/>
          </a:xfrm>
          <a:custGeom>
            <a:avLst/>
            <a:gdLst/>
            <a:ahLst/>
            <a:cxnLst/>
            <a:rect r="r" b="b" t="t" l="l"/>
            <a:pathLst>
              <a:path h="1692525" w="1695608">
                <a:moveTo>
                  <a:pt x="0" y="0"/>
                </a:moveTo>
                <a:lnTo>
                  <a:pt x="1695609" y="0"/>
                </a:lnTo>
                <a:lnTo>
                  <a:pt x="1695609" y="1692525"/>
                </a:lnTo>
                <a:lnTo>
                  <a:pt x="0" y="1692525"/>
                </a:lnTo>
                <a:lnTo>
                  <a:pt x="0" y="0"/>
                </a:lnTo>
                <a:close/>
              </a:path>
            </a:pathLst>
          </a:custGeom>
          <a:blipFill>
            <a:blip r:embed="rId3"/>
            <a:stretch>
              <a:fillRect l="0" t="0" r="0" b="0"/>
            </a:stretch>
          </a:blipFill>
        </p:spPr>
      </p:sp>
      <p:grpSp>
        <p:nvGrpSpPr>
          <p:cNvPr name="Group 50" id="50"/>
          <p:cNvGrpSpPr/>
          <p:nvPr/>
        </p:nvGrpSpPr>
        <p:grpSpPr>
          <a:xfrm rot="0">
            <a:off x="15199599" y="1894846"/>
            <a:ext cx="1524000" cy="1524000"/>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FFFF"/>
              </a:solidFill>
              <a:prstDash val="solid"/>
              <a:miter/>
            </a:ln>
          </p:spPr>
        </p:sp>
        <p:sp>
          <p:nvSpPr>
            <p:cNvPr name="TextBox 52" id="52"/>
            <p:cNvSpPr txBox="true"/>
            <p:nvPr/>
          </p:nvSpPr>
          <p:spPr>
            <a:xfrm>
              <a:off x="76200" y="47625"/>
              <a:ext cx="660400" cy="688975"/>
            </a:xfrm>
            <a:prstGeom prst="rect">
              <a:avLst/>
            </a:prstGeom>
          </p:spPr>
          <p:txBody>
            <a:bodyPr anchor="ctr" rtlCol="false" tIns="50800" lIns="50800" bIns="50800" rIns="50800"/>
            <a:lstStyle/>
            <a:p>
              <a:pPr algn="ctr">
                <a:lnSpc>
                  <a:spcPts val="2519"/>
                </a:lnSpc>
              </a:pPr>
            </a:p>
          </p:txBody>
        </p:sp>
      </p:grpSp>
      <p:sp>
        <p:nvSpPr>
          <p:cNvPr name="AutoShape 53" id="53"/>
          <p:cNvSpPr/>
          <p:nvPr/>
        </p:nvSpPr>
        <p:spPr>
          <a:xfrm flipV="true">
            <a:off x="2379550" y="4562996"/>
            <a:ext cx="2705100" cy="670299"/>
          </a:xfrm>
          <a:prstGeom prst="line">
            <a:avLst/>
          </a:prstGeom>
          <a:ln cap="flat" w="38100">
            <a:solidFill>
              <a:srgbClr val="004FFF"/>
            </a:solidFill>
            <a:prstDash val="sysDash"/>
            <a:headEnd type="oval" len="lg" w="lg"/>
            <a:tailEnd type="oval" len="lg" w="lg"/>
          </a:ln>
        </p:spPr>
      </p:sp>
      <p:sp>
        <p:nvSpPr>
          <p:cNvPr name="AutoShape 54" id="54"/>
          <p:cNvSpPr/>
          <p:nvPr/>
        </p:nvSpPr>
        <p:spPr>
          <a:xfrm flipV="true">
            <a:off x="5126725" y="3878756"/>
            <a:ext cx="2705100" cy="670299"/>
          </a:xfrm>
          <a:prstGeom prst="line">
            <a:avLst/>
          </a:prstGeom>
          <a:ln cap="flat" w="38100">
            <a:solidFill>
              <a:srgbClr val="004FFF"/>
            </a:solidFill>
            <a:prstDash val="sysDash"/>
            <a:headEnd type="none" len="sm" w="sm"/>
            <a:tailEnd type="oval" len="lg" w="lg"/>
          </a:ln>
        </p:spPr>
      </p:sp>
      <p:sp>
        <p:nvSpPr>
          <p:cNvPr name="AutoShape 55" id="55"/>
          <p:cNvSpPr/>
          <p:nvPr/>
        </p:nvSpPr>
        <p:spPr>
          <a:xfrm flipV="true">
            <a:off x="7873900" y="3194516"/>
            <a:ext cx="2705100" cy="670299"/>
          </a:xfrm>
          <a:prstGeom prst="line">
            <a:avLst/>
          </a:prstGeom>
          <a:ln cap="flat" w="38100">
            <a:solidFill>
              <a:srgbClr val="004FFF"/>
            </a:solidFill>
            <a:prstDash val="sysDash"/>
            <a:headEnd type="none" len="sm" w="sm"/>
            <a:tailEnd type="oval" len="lg" w="lg"/>
          </a:ln>
        </p:spPr>
      </p:sp>
      <p:sp>
        <p:nvSpPr>
          <p:cNvPr name="AutoShape 56" id="56"/>
          <p:cNvSpPr/>
          <p:nvPr/>
        </p:nvSpPr>
        <p:spPr>
          <a:xfrm flipV="true">
            <a:off x="10621075" y="2557422"/>
            <a:ext cx="2578875" cy="623153"/>
          </a:xfrm>
          <a:prstGeom prst="line">
            <a:avLst/>
          </a:prstGeom>
          <a:ln cap="flat" w="38100">
            <a:solidFill>
              <a:srgbClr val="004FFF"/>
            </a:solidFill>
            <a:prstDash val="sysDash"/>
            <a:headEnd type="none" len="sm" w="sm"/>
            <a:tailEnd type="oval" len="lg" w="lg"/>
          </a:ln>
        </p:spPr>
      </p:sp>
      <p:sp>
        <p:nvSpPr>
          <p:cNvPr name="AutoShape 57" id="57"/>
          <p:cNvSpPr/>
          <p:nvPr/>
        </p:nvSpPr>
        <p:spPr>
          <a:xfrm flipV="true">
            <a:off x="13199950" y="1894846"/>
            <a:ext cx="2761649" cy="662576"/>
          </a:xfrm>
          <a:prstGeom prst="line">
            <a:avLst/>
          </a:prstGeom>
          <a:ln cap="flat" w="38100">
            <a:solidFill>
              <a:srgbClr val="004FFF"/>
            </a:solidFill>
            <a:prstDash val="sysDash"/>
            <a:headEnd type="none" len="sm" w="sm"/>
            <a:tailEnd type="oval" len="lg" w="lg"/>
          </a:ln>
        </p:spPr>
      </p:sp>
      <p:sp>
        <p:nvSpPr>
          <p:cNvPr name="Freeform 58" id="58"/>
          <p:cNvSpPr/>
          <p:nvPr/>
        </p:nvSpPr>
        <p:spPr>
          <a:xfrm flipH="false" flipV="false" rot="0">
            <a:off x="4779850" y="4977915"/>
            <a:ext cx="609600" cy="694161"/>
          </a:xfrm>
          <a:custGeom>
            <a:avLst/>
            <a:gdLst/>
            <a:ahLst/>
            <a:cxnLst/>
            <a:rect r="r" b="b" t="t" l="l"/>
            <a:pathLst>
              <a:path h="694161" w="609600">
                <a:moveTo>
                  <a:pt x="0" y="0"/>
                </a:moveTo>
                <a:lnTo>
                  <a:pt x="609600" y="0"/>
                </a:lnTo>
                <a:lnTo>
                  <a:pt x="609600" y="694162"/>
                </a:lnTo>
                <a:lnTo>
                  <a:pt x="0" y="6941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9" id="59"/>
          <p:cNvSpPr/>
          <p:nvPr/>
        </p:nvSpPr>
        <p:spPr>
          <a:xfrm flipH="false" flipV="false" rot="0">
            <a:off x="7484950" y="4412631"/>
            <a:ext cx="609600" cy="487680"/>
          </a:xfrm>
          <a:custGeom>
            <a:avLst/>
            <a:gdLst/>
            <a:ahLst/>
            <a:cxnLst/>
            <a:rect r="r" b="b" t="t" l="l"/>
            <a:pathLst>
              <a:path h="487680" w="609600">
                <a:moveTo>
                  <a:pt x="0" y="0"/>
                </a:moveTo>
                <a:lnTo>
                  <a:pt x="609600" y="0"/>
                </a:lnTo>
                <a:lnTo>
                  <a:pt x="609600" y="487680"/>
                </a:lnTo>
                <a:lnTo>
                  <a:pt x="0" y="48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0" id="60"/>
          <p:cNvSpPr/>
          <p:nvPr/>
        </p:nvSpPr>
        <p:spPr>
          <a:xfrm flipH="false" flipV="false" rot="0">
            <a:off x="10190050" y="3683147"/>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1" id="61"/>
          <p:cNvSpPr/>
          <p:nvPr/>
        </p:nvSpPr>
        <p:spPr>
          <a:xfrm flipH="false" flipV="false" rot="0">
            <a:off x="12895150" y="3014622"/>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62" id="62"/>
          <p:cNvSpPr/>
          <p:nvPr/>
        </p:nvSpPr>
        <p:spPr>
          <a:xfrm flipH="false" flipV="false" rot="0">
            <a:off x="15656799" y="2237746"/>
            <a:ext cx="609600" cy="838200"/>
          </a:xfrm>
          <a:custGeom>
            <a:avLst/>
            <a:gdLst/>
            <a:ahLst/>
            <a:cxnLst/>
            <a:rect r="r" b="b" t="t" l="l"/>
            <a:pathLst>
              <a:path h="838200" w="609600">
                <a:moveTo>
                  <a:pt x="0" y="0"/>
                </a:moveTo>
                <a:lnTo>
                  <a:pt x="609600" y="0"/>
                </a:lnTo>
                <a:lnTo>
                  <a:pt x="609600" y="838200"/>
                </a:lnTo>
                <a:lnTo>
                  <a:pt x="0" y="8382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63" id="63"/>
          <p:cNvGrpSpPr/>
          <p:nvPr/>
        </p:nvGrpSpPr>
        <p:grpSpPr>
          <a:xfrm rot="0">
            <a:off x="1027000" y="6976370"/>
            <a:ext cx="2703400" cy="1500644"/>
            <a:chOff x="0" y="0"/>
            <a:chExt cx="3604533" cy="2000859"/>
          </a:xfrm>
        </p:grpSpPr>
        <p:sp>
          <p:nvSpPr>
            <p:cNvPr name="TextBox 64" id="64"/>
            <p:cNvSpPr txBox="true"/>
            <p:nvPr/>
          </p:nvSpPr>
          <p:spPr>
            <a:xfrm rot="0">
              <a:off x="0" y="9525"/>
              <a:ext cx="3604533" cy="346075"/>
            </a:xfrm>
            <a:prstGeom prst="rect">
              <a:avLst/>
            </a:prstGeom>
          </p:spPr>
          <p:txBody>
            <a:bodyPr anchor="t" rtlCol="false" tIns="0" lIns="0" bIns="0" rIns="0">
              <a:spAutoFit/>
            </a:bodyPr>
            <a:lstStyle/>
            <a:p>
              <a:pPr algn="ctr">
                <a:lnSpc>
                  <a:spcPts val="2159"/>
                </a:lnSpc>
              </a:pPr>
              <a:r>
                <a:rPr lang="en-US" b="true" sz="1799">
                  <a:solidFill>
                    <a:srgbClr val="FFFFFF"/>
                  </a:solidFill>
                  <a:latin typeface="Open Sans Bold"/>
                  <a:ea typeface="Open Sans Bold"/>
                  <a:cs typeface="Open Sans Bold"/>
                  <a:sym typeface="Open Sans Bold"/>
                </a:rPr>
                <a:t>NỀN TẢNG HỆ THỐNG</a:t>
              </a:r>
            </a:p>
          </p:txBody>
        </p:sp>
        <p:sp>
          <p:nvSpPr>
            <p:cNvPr name="TextBox 65" id="65"/>
            <p:cNvSpPr txBox="true"/>
            <p:nvPr/>
          </p:nvSpPr>
          <p:spPr>
            <a:xfrm rot="0">
              <a:off x="319955" y="663972"/>
              <a:ext cx="2964623" cy="1336887"/>
            </a:xfrm>
            <a:prstGeom prst="rect">
              <a:avLst/>
            </a:prstGeom>
          </p:spPr>
          <p:txBody>
            <a:bodyPr anchor="t" rtlCol="false" tIns="0" lIns="0" bIns="0" rIns="0">
              <a:spAutoFit/>
            </a:bodyPr>
            <a:lstStyle/>
            <a:p>
              <a:pPr algn="ctr">
                <a:lnSpc>
                  <a:spcPts val="2799"/>
                </a:lnSpc>
              </a:pPr>
              <a:r>
                <a:rPr lang="en-US" sz="1599">
                  <a:solidFill>
                    <a:srgbClr val="FFFFFF"/>
                  </a:solidFill>
                  <a:latin typeface="Open Sans"/>
                  <a:ea typeface="Open Sans"/>
                  <a:cs typeface="Open Sans"/>
                  <a:sym typeface="Open Sans"/>
                </a:rPr>
                <a:t>Xây dựng thành công trên nền tảng WordPress ổn định</a:t>
              </a:r>
            </a:p>
          </p:txBody>
        </p:sp>
      </p:grpSp>
      <p:grpSp>
        <p:nvGrpSpPr>
          <p:cNvPr name="Group 66" id="66"/>
          <p:cNvGrpSpPr/>
          <p:nvPr/>
        </p:nvGrpSpPr>
        <p:grpSpPr>
          <a:xfrm rot="0">
            <a:off x="3730400" y="6460615"/>
            <a:ext cx="2706800" cy="1630577"/>
            <a:chOff x="0" y="0"/>
            <a:chExt cx="3609067" cy="2174102"/>
          </a:xfrm>
        </p:grpSpPr>
        <p:sp>
          <p:nvSpPr>
            <p:cNvPr name="TextBox 67" id="67"/>
            <p:cNvSpPr txBox="true"/>
            <p:nvPr/>
          </p:nvSpPr>
          <p:spPr>
            <a:xfrm rot="0">
              <a:off x="0" y="9525"/>
              <a:ext cx="3609067" cy="346075"/>
            </a:xfrm>
            <a:prstGeom prst="rect">
              <a:avLst/>
            </a:prstGeom>
          </p:spPr>
          <p:txBody>
            <a:bodyPr anchor="t" rtlCol="false" tIns="0" lIns="0" bIns="0" rIns="0">
              <a:spAutoFit/>
            </a:bodyPr>
            <a:lstStyle/>
            <a:p>
              <a:pPr algn="ctr">
                <a:lnSpc>
                  <a:spcPts val="2159"/>
                </a:lnSpc>
              </a:pPr>
              <a:r>
                <a:rPr lang="en-US" b="true" sz="1799">
                  <a:solidFill>
                    <a:srgbClr val="FFFFFF"/>
                  </a:solidFill>
                  <a:latin typeface="Open Sans Bold"/>
                  <a:ea typeface="Open Sans Bold"/>
                  <a:cs typeface="Open Sans Bold"/>
                  <a:sym typeface="Open Sans Bold"/>
                </a:rPr>
                <a:t>DỮ LIỆU PHONG THỦY</a:t>
              </a:r>
            </a:p>
          </p:txBody>
        </p:sp>
        <p:sp>
          <p:nvSpPr>
            <p:cNvPr name="TextBox 68" id="68"/>
            <p:cNvSpPr txBox="true"/>
            <p:nvPr/>
          </p:nvSpPr>
          <p:spPr>
            <a:xfrm rot="0">
              <a:off x="380417" y="837215"/>
              <a:ext cx="2911636" cy="1336887"/>
            </a:xfrm>
            <a:prstGeom prst="rect">
              <a:avLst/>
            </a:prstGeom>
          </p:spPr>
          <p:txBody>
            <a:bodyPr anchor="t" rtlCol="false" tIns="0" lIns="0" bIns="0" rIns="0">
              <a:spAutoFit/>
            </a:bodyPr>
            <a:lstStyle/>
            <a:p>
              <a:pPr algn="ctr">
                <a:lnSpc>
                  <a:spcPts val="2799"/>
                </a:lnSpc>
              </a:pPr>
              <a:r>
                <a:rPr lang="en-US" sz="1599">
                  <a:solidFill>
                    <a:srgbClr val="FFFFFF"/>
                  </a:solidFill>
                  <a:latin typeface="Open Sans"/>
                  <a:ea typeface="Open Sans"/>
                  <a:cs typeface="Open Sans"/>
                  <a:sym typeface="Open Sans"/>
                </a:rPr>
                <a:t>Hệ thống hóa và số hóa dữ liệu phong thủy An Trạch</a:t>
              </a:r>
            </a:p>
          </p:txBody>
        </p:sp>
      </p:grpSp>
      <p:grpSp>
        <p:nvGrpSpPr>
          <p:cNvPr name="Group 69" id="69"/>
          <p:cNvGrpSpPr/>
          <p:nvPr/>
        </p:nvGrpSpPr>
        <p:grpSpPr>
          <a:xfrm rot="0">
            <a:off x="6520236" y="5792090"/>
            <a:ext cx="2618282" cy="1630577"/>
            <a:chOff x="0" y="0"/>
            <a:chExt cx="3491042" cy="2174102"/>
          </a:xfrm>
        </p:grpSpPr>
        <p:sp>
          <p:nvSpPr>
            <p:cNvPr name="TextBox 70" id="70"/>
            <p:cNvSpPr txBox="true"/>
            <p:nvPr/>
          </p:nvSpPr>
          <p:spPr>
            <a:xfrm rot="0">
              <a:off x="0" y="9525"/>
              <a:ext cx="3491042" cy="346075"/>
            </a:xfrm>
            <a:prstGeom prst="rect">
              <a:avLst/>
            </a:prstGeom>
          </p:spPr>
          <p:txBody>
            <a:bodyPr anchor="t" rtlCol="false" tIns="0" lIns="0" bIns="0" rIns="0">
              <a:spAutoFit/>
            </a:bodyPr>
            <a:lstStyle/>
            <a:p>
              <a:pPr algn="ctr">
                <a:lnSpc>
                  <a:spcPts val="2159"/>
                </a:lnSpc>
              </a:pPr>
              <a:r>
                <a:rPr lang="en-US" b="true" sz="1799">
                  <a:solidFill>
                    <a:srgbClr val="FFFFFF"/>
                  </a:solidFill>
                  <a:latin typeface="Open Sans Bold"/>
                  <a:ea typeface="Open Sans Bold"/>
                  <a:cs typeface="Open Sans Bold"/>
                  <a:sym typeface="Open Sans Bold"/>
                </a:rPr>
                <a:t>CHỨC NĂNG TRA CỨU</a:t>
              </a:r>
            </a:p>
          </p:txBody>
        </p:sp>
        <p:sp>
          <p:nvSpPr>
            <p:cNvPr name="TextBox 71" id="71"/>
            <p:cNvSpPr txBox="true"/>
            <p:nvPr/>
          </p:nvSpPr>
          <p:spPr>
            <a:xfrm rot="0">
              <a:off x="422685" y="837215"/>
              <a:ext cx="2540000" cy="1336887"/>
            </a:xfrm>
            <a:prstGeom prst="rect">
              <a:avLst/>
            </a:prstGeom>
          </p:spPr>
          <p:txBody>
            <a:bodyPr anchor="t" rtlCol="false" tIns="0" lIns="0" bIns="0" rIns="0">
              <a:spAutoFit/>
            </a:bodyPr>
            <a:lstStyle/>
            <a:p>
              <a:pPr algn="ctr">
                <a:lnSpc>
                  <a:spcPts val="2799"/>
                </a:lnSpc>
              </a:pPr>
              <a:r>
                <a:rPr lang="en-US" sz="1599">
                  <a:solidFill>
                    <a:srgbClr val="FFFFFF"/>
                  </a:solidFill>
                  <a:latin typeface="Open Sans"/>
                  <a:ea typeface="Open Sans"/>
                  <a:cs typeface="Open Sans"/>
                  <a:sym typeface="Open Sans"/>
                </a:rPr>
                <a:t>Hiện thực hóa các chức năng tra cứu phong thủy tự động</a:t>
              </a:r>
            </a:p>
          </p:txBody>
        </p:sp>
      </p:grpSp>
      <p:grpSp>
        <p:nvGrpSpPr>
          <p:cNvPr name="Group 72" id="72"/>
          <p:cNvGrpSpPr/>
          <p:nvPr/>
        </p:nvGrpSpPr>
        <p:grpSpPr>
          <a:xfrm rot="0">
            <a:off x="9257037" y="5123566"/>
            <a:ext cx="2507327" cy="1655515"/>
            <a:chOff x="0" y="0"/>
            <a:chExt cx="3343102" cy="2207353"/>
          </a:xfrm>
        </p:grpSpPr>
        <p:sp>
          <p:nvSpPr>
            <p:cNvPr name="TextBox 73" id="73"/>
            <p:cNvSpPr txBox="true"/>
            <p:nvPr/>
          </p:nvSpPr>
          <p:spPr>
            <a:xfrm rot="0">
              <a:off x="0" y="0"/>
              <a:ext cx="3343102" cy="342900"/>
            </a:xfrm>
            <a:prstGeom prst="rect">
              <a:avLst/>
            </a:prstGeom>
          </p:spPr>
          <p:txBody>
            <a:bodyPr anchor="t" rtlCol="false" tIns="0" lIns="0" bIns="0" rIns="0">
              <a:spAutoFit/>
            </a:bodyPr>
            <a:lstStyle/>
            <a:p>
              <a:pPr algn="ctr">
                <a:lnSpc>
                  <a:spcPts val="2039"/>
                </a:lnSpc>
              </a:pPr>
              <a:r>
                <a:rPr lang="en-US" b="true" sz="1699">
                  <a:solidFill>
                    <a:srgbClr val="FFFFFF"/>
                  </a:solidFill>
                  <a:latin typeface="Open Sans Bold"/>
                  <a:ea typeface="Open Sans Bold"/>
                  <a:cs typeface="Open Sans Bold"/>
                  <a:sym typeface="Open Sans Bold"/>
                </a:rPr>
                <a:t>THƯƠNG MẠI ĐIỆN TỬ</a:t>
              </a:r>
            </a:p>
          </p:txBody>
        </p:sp>
        <p:sp>
          <p:nvSpPr>
            <p:cNvPr name="TextBox 74" id="74"/>
            <p:cNvSpPr txBox="true"/>
            <p:nvPr/>
          </p:nvSpPr>
          <p:spPr>
            <a:xfrm rot="0">
              <a:off x="348716" y="870466"/>
              <a:ext cx="2645671" cy="1336887"/>
            </a:xfrm>
            <a:prstGeom prst="rect">
              <a:avLst/>
            </a:prstGeom>
          </p:spPr>
          <p:txBody>
            <a:bodyPr anchor="t" rtlCol="false" tIns="0" lIns="0" bIns="0" rIns="0">
              <a:spAutoFit/>
            </a:bodyPr>
            <a:lstStyle/>
            <a:p>
              <a:pPr algn="ctr">
                <a:lnSpc>
                  <a:spcPts val="2799"/>
                </a:lnSpc>
              </a:pPr>
              <a:r>
                <a:rPr lang="en-US" sz="1599">
                  <a:solidFill>
                    <a:srgbClr val="FFFFFF"/>
                  </a:solidFill>
                  <a:latin typeface="Open Sans"/>
                  <a:ea typeface="Open Sans"/>
                  <a:cs typeface="Open Sans"/>
                  <a:sym typeface="Open Sans"/>
                </a:rPr>
                <a:t>Tích hợp thương mại điện tử pháp phẩm Kim Cang Thừa</a:t>
              </a:r>
            </a:p>
          </p:txBody>
        </p:sp>
      </p:grpSp>
      <p:grpSp>
        <p:nvGrpSpPr>
          <p:cNvPr name="Group 75" id="75"/>
          <p:cNvGrpSpPr/>
          <p:nvPr/>
        </p:nvGrpSpPr>
        <p:grpSpPr>
          <a:xfrm rot="0">
            <a:off x="11906659" y="4432229"/>
            <a:ext cx="2665834" cy="1745221"/>
            <a:chOff x="0" y="0"/>
            <a:chExt cx="3554445" cy="2326961"/>
          </a:xfrm>
        </p:grpSpPr>
        <p:sp>
          <p:nvSpPr>
            <p:cNvPr name="TextBox 76" id="76"/>
            <p:cNvSpPr txBox="true"/>
            <p:nvPr/>
          </p:nvSpPr>
          <p:spPr>
            <a:xfrm rot="0">
              <a:off x="0" y="0"/>
              <a:ext cx="3554445" cy="304800"/>
            </a:xfrm>
            <a:prstGeom prst="rect">
              <a:avLst/>
            </a:prstGeom>
          </p:spPr>
          <p:txBody>
            <a:bodyPr anchor="t" rtlCol="false" tIns="0" lIns="0" bIns="0" rIns="0">
              <a:spAutoFit/>
            </a:bodyPr>
            <a:lstStyle/>
            <a:p>
              <a:pPr algn="ctr">
                <a:lnSpc>
                  <a:spcPts val="1800"/>
                </a:lnSpc>
              </a:pPr>
              <a:r>
                <a:rPr lang="en-US" b="true" sz="1500">
                  <a:solidFill>
                    <a:srgbClr val="FFFFFF"/>
                  </a:solidFill>
                  <a:latin typeface="Open Sans Bold"/>
                  <a:ea typeface="Open Sans Bold"/>
                  <a:cs typeface="Open Sans Bold"/>
                  <a:sym typeface="Open Sans Bold"/>
                </a:rPr>
                <a:t>TRẢI NGHIỆM NGƯỜI DÙNG</a:t>
              </a:r>
            </a:p>
          </p:txBody>
        </p:sp>
        <p:sp>
          <p:nvSpPr>
            <p:cNvPr name="TextBox 77" id="77"/>
            <p:cNvSpPr txBox="true"/>
            <p:nvPr/>
          </p:nvSpPr>
          <p:spPr>
            <a:xfrm rot="0">
              <a:off x="327582" y="990074"/>
              <a:ext cx="2835880" cy="1336887"/>
            </a:xfrm>
            <a:prstGeom prst="rect">
              <a:avLst/>
            </a:prstGeom>
          </p:spPr>
          <p:txBody>
            <a:bodyPr anchor="t" rtlCol="false" tIns="0" lIns="0" bIns="0" rIns="0">
              <a:spAutoFit/>
            </a:bodyPr>
            <a:lstStyle/>
            <a:p>
              <a:pPr algn="ctr">
                <a:lnSpc>
                  <a:spcPts val="2799"/>
                </a:lnSpc>
              </a:pPr>
              <a:r>
                <a:rPr lang="en-US" sz="1599">
                  <a:solidFill>
                    <a:srgbClr val="FFFFFF"/>
                  </a:solidFill>
                  <a:latin typeface="Open Sans"/>
                  <a:ea typeface="Open Sans"/>
                  <a:cs typeface="Open Sans"/>
                  <a:sym typeface="Open Sans"/>
                </a:rPr>
                <a:t>Hoàn thiện giao diện và nâng cao trải nghiệm người dùng</a:t>
              </a:r>
            </a:p>
          </p:txBody>
        </p:sp>
      </p:grpSp>
      <p:grpSp>
        <p:nvGrpSpPr>
          <p:cNvPr name="Group 78" id="78"/>
          <p:cNvGrpSpPr/>
          <p:nvPr/>
        </p:nvGrpSpPr>
        <p:grpSpPr>
          <a:xfrm rot="0">
            <a:off x="14809893" y="3786517"/>
            <a:ext cx="2222014" cy="2316577"/>
            <a:chOff x="0" y="0"/>
            <a:chExt cx="2962685" cy="3088769"/>
          </a:xfrm>
        </p:grpSpPr>
        <p:sp>
          <p:nvSpPr>
            <p:cNvPr name="TextBox 79" id="79"/>
            <p:cNvSpPr txBox="true"/>
            <p:nvPr/>
          </p:nvSpPr>
          <p:spPr>
            <a:xfrm rot="0">
              <a:off x="0" y="9525"/>
              <a:ext cx="2962685" cy="346075"/>
            </a:xfrm>
            <a:prstGeom prst="rect">
              <a:avLst/>
            </a:prstGeom>
          </p:spPr>
          <p:txBody>
            <a:bodyPr anchor="t" rtlCol="false" tIns="0" lIns="0" bIns="0" rIns="0">
              <a:spAutoFit/>
            </a:bodyPr>
            <a:lstStyle/>
            <a:p>
              <a:pPr algn="ctr">
                <a:lnSpc>
                  <a:spcPts val="2159"/>
                </a:lnSpc>
              </a:pPr>
              <a:r>
                <a:rPr lang="en-US" b="true" sz="1799">
                  <a:solidFill>
                    <a:srgbClr val="333333"/>
                  </a:solidFill>
                  <a:latin typeface="Open Sans Bold"/>
                  <a:ea typeface="Open Sans Bold"/>
                  <a:cs typeface="Open Sans Bold"/>
                  <a:sym typeface="Open Sans Bold"/>
                </a:rPr>
                <a:t>GIÁ TRỊ &amp; KHẢ THI</a:t>
              </a:r>
            </a:p>
          </p:txBody>
        </p:sp>
        <p:sp>
          <p:nvSpPr>
            <p:cNvPr name="TextBox 80" id="80"/>
            <p:cNvSpPr txBox="true"/>
            <p:nvPr/>
          </p:nvSpPr>
          <p:spPr>
            <a:xfrm rot="0">
              <a:off x="95104" y="812082"/>
              <a:ext cx="2772477" cy="2276687"/>
            </a:xfrm>
            <a:prstGeom prst="rect">
              <a:avLst/>
            </a:prstGeom>
          </p:spPr>
          <p:txBody>
            <a:bodyPr anchor="t" rtlCol="false" tIns="0" lIns="0" bIns="0" rIns="0">
              <a:spAutoFit/>
            </a:bodyPr>
            <a:lstStyle/>
            <a:p>
              <a:pPr algn="ctr">
                <a:lnSpc>
                  <a:spcPts val="2799"/>
                </a:lnSpc>
              </a:pPr>
              <a:r>
                <a:rPr lang="en-US" sz="1599">
                  <a:solidFill>
                    <a:srgbClr val="333333"/>
                  </a:solidFill>
                  <a:latin typeface="Open Sans"/>
                  <a:ea typeface="Open Sans"/>
                  <a:cs typeface="Open Sans"/>
                  <a:sym typeface="Open Sans"/>
                </a:rPr>
                <a:t>Khẳng định tính khả thi của mô hình tích hợp phong thủy – thương mại điện tử vào cùng 1 hệ thống</a:t>
              </a:r>
            </a:p>
          </p:txBody>
        </p:sp>
      </p:grpSp>
      <p:sp>
        <p:nvSpPr>
          <p:cNvPr name="Freeform 81" id="81"/>
          <p:cNvSpPr/>
          <p:nvPr/>
        </p:nvSpPr>
        <p:spPr>
          <a:xfrm flipH="false" flipV="false" rot="0">
            <a:off x="1979198" y="5609412"/>
            <a:ext cx="799004" cy="771765"/>
          </a:xfrm>
          <a:custGeom>
            <a:avLst/>
            <a:gdLst/>
            <a:ahLst/>
            <a:cxnLst/>
            <a:rect r="r" b="b" t="t" l="l"/>
            <a:pathLst>
              <a:path h="771765" w="799004">
                <a:moveTo>
                  <a:pt x="0" y="0"/>
                </a:moveTo>
                <a:lnTo>
                  <a:pt x="799004" y="0"/>
                </a:lnTo>
                <a:lnTo>
                  <a:pt x="799004" y="771766"/>
                </a:lnTo>
                <a:lnTo>
                  <a:pt x="0" y="771766"/>
                </a:lnTo>
                <a:lnTo>
                  <a:pt x="0" y="0"/>
                </a:lnTo>
                <a:close/>
              </a:path>
            </a:pathLst>
          </a:custGeom>
          <a:blipFill>
            <a:blip r:embed="rId14"/>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706174" y="659521"/>
            <a:ext cx="114300" cy="885825"/>
            <a:chOff x="0" y="0"/>
            <a:chExt cx="152400" cy="1181100"/>
          </a:xfrm>
        </p:grpSpPr>
        <p:sp>
          <p:nvSpPr>
            <p:cNvPr name="Freeform 3" id="3"/>
            <p:cNvSpPr/>
            <p:nvPr/>
          </p:nvSpPr>
          <p:spPr>
            <a:xfrm flipH="false" flipV="false" rot="0">
              <a:off x="0" y="0"/>
              <a:ext cx="152400" cy="1181100"/>
            </a:xfrm>
            <a:custGeom>
              <a:avLst/>
              <a:gdLst/>
              <a:ahLst/>
              <a:cxnLst/>
              <a:rect r="r" b="b" t="t" l="l"/>
              <a:pathLst>
                <a:path h="1181100" w="152400">
                  <a:moveTo>
                    <a:pt x="152400" y="76200"/>
                  </a:moveTo>
                  <a:lnTo>
                    <a:pt x="152400" y="1104900"/>
                  </a:lnTo>
                  <a:cubicBezTo>
                    <a:pt x="152400" y="1146937"/>
                    <a:pt x="118237" y="1181100"/>
                    <a:pt x="76200" y="1181100"/>
                  </a:cubicBezTo>
                  <a:cubicBezTo>
                    <a:pt x="34163" y="1181100"/>
                    <a:pt x="0" y="1146937"/>
                    <a:pt x="0" y="1104900"/>
                  </a:cubicBezTo>
                  <a:lnTo>
                    <a:pt x="0" y="76200"/>
                  </a:lnTo>
                  <a:cubicBezTo>
                    <a:pt x="0" y="34163"/>
                    <a:pt x="34163" y="0"/>
                    <a:pt x="76200" y="0"/>
                  </a:cubicBezTo>
                  <a:cubicBezTo>
                    <a:pt x="118237" y="0"/>
                    <a:pt x="152400" y="34163"/>
                    <a:pt x="152400" y="76200"/>
                  </a:cubicBezTo>
                  <a:close/>
                </a:path>
              </a:pathLst>
            </a:custGeom>
            <a:solidFill>
              <a:srgbClr val="0345E4">
                <a:alpha val="21961"/>
              </a:srgbClr>
            </a:solidFill>
            <a:ln w="12700">
              <a:solidFill>
                <a:srgbClr val="000000"/>
              </a:solidFill>
            </a:ln>
          </p:spPr>
        </p:sp>
      </p:grpSp>
      <p:grpSp>
        <p:nvGrpSpPr>
          <p:cNvPr name="Group 4" id="4"/>
          <p:cNvGrpSpPr/>
          <p:nvPr/>
        </p:nvGrpSpPr>
        <p:grpSpPr>
          <a:xfrm rot="0">
            <a:off x="696649" y="9248775"/>
            <a:ext cx="16891302" cy="19050"/>
            <a:chOff x="0" y="0"/>
            <a:chExt cx="22521736" cy="25400"/>
          </a:xfrm>
        </p:grpSpPr>
        <p:sp>
          <p:nvSpPr>
            <p:cNvPr name="Freeform 5" id="5"/>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Freeform 6" id="6" descr="tvu"/>
          <p:cNvSpPr/>
          <p:nvPr/>
        </p:nvSpPr>
        <p:spPr>
          <a:xfrm flipH="false" flipV="false" rot="0">
            <a:off x="16980246" y="489623"/>
            <a:ext cx="1011489" cy="998572"/>
          </a:xfrm>
          <a:custGeom>
            <a:avLst/>
            <a:gdLst/>
            <a:ahLst/>
            <a:cxnLst/>
            <a:rect r="r" b="b" t="t" l="l"/>
            <a:pathLst>
              <a:path h="998572" w="1011489">
                <a:moveTo>
                  <a:pt x="0" y="0"/>
                </a:moveTo>
                <a:lnTo>
                  <a:pt x="1011489" y="0"/>
                </a:lnTo>
                <a:lnTo>
                  <a:pt x="1011489" y="998573"/>
                </a:lnTo>
                <a:lnTo>
                  <a:pt x="0" y="998573"/>
                </a:lnTo>
                <a:lnTo>
                  <a:pt x="0" y="0"/>
                </a:lnTo>
                <a:close/>
              </a:path>
            </a:pathLst>
          </a:custGeom>
          <a:blipFill>
            <a:blip r:embed="rId2"/>
            <a:stretch>
              <a:fillRect l="-34915" t="-35319" r="-34256" b="-36041"/>
            </a:stretch>
          </a:blipFill>
        </p:spPr>
      </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Freeform 8" id="8"/>
          <p:cNvSpPr/>
          <p:nvPr/>
        </p:nvSpPr>
        <p:spPr>
          <a:xfrm flipH="false" flipV="false" rot="0">
            <a:off x="732456" y="8868517"/>
            <a:ext cx="7595797" cy="501120"/>
          </a:xfrm>
          <a:custGeom>
            <a:avLst/>
            <a:gdLst/>
            <a:ahLst/>
            <a:cxnLst/>
            <a:rect r="r" b="b" t="t" l="l"/>
            <a:pathLst>
              <a:path h="501120" w="7595797">
                <a:moveTo>
                  <a:pt x="0" y="0"/>
                </a:moveTo>
                <a:lnTo>
                  <a:pt x="7595796" y="0"/>
                </a:lnTo>
                <a:lnTo>
                  <a:pt x="7595796" y="501121"/>
                </a:lnTo>
                <a:lnTo>
                  <a:pt x="0" y="501121"/>
                </a:lnTo>
                <a:lnTo>
                  <a:pt x="0" y="0"/>
                </a:lnTo>
                <a:close/>
              </a:path>
            </a:pathLst>
          </a:custGeom>
          <a:blipFill>
            <a:blip r:embed="rId3">
              <a:alphaModFix amt="54000"/>
            </a:blip>
            <a:stretch>
              <a:fillRect l="0" t="-73623" r="0" b="0"/>
            </a:stretch>
          </a:blipFill>
        </p:spPr>
      </p:sp>
      <p:sp>
        <p:nvSpPr>
          <p:cNvPr name="Freeform 9" id="9"/>
          <p:cNvSpPr/>
          <p:nvPr/>
        </p:nvSpPr>
        <p:spPr>
          <a:xfrm flipH="false" flipV="false" rot="0">
            <a:off x="0" y="2484350"/>
            <a:ext cx="7685164" cy="6577577"/>
          </a:xfrm>
          <a:custGeom>
            <a:avLst/>
            <a:gdLst/>
            <a:ahLst/>
            <a:cxnLst/>
            <a:rect r="r" b="b" t="t" l="l"/>
            <a:pathLst>
              <a:path h="6577577" w="7685164">
                <a:moveTo>
                  <a:pt x="0" y="0"/>
                </a:moveTo>
                <a:lnTo>
                  <a:pt x="7685164" y="0"/>
                </a:lnTo>
                <a:lnTo>
                  <a:pt x="7685164" y="6577578"/>
                </a:lnTo>
                <a:lnTo>
                  <a:pt x="0" y="6577578"/>
                </a:lnTo>
                <a:lnTo>
                  <a:pt x="0" y="0"/>
                </a:lnTo>
                <a:close/>
              </a:path>
            </a:pathLst>
          </a:custGeom>
          <a:blipFill>
            <a:blip r:embed="rId4">
              <a:extLst>
                <a:ext uri="{96DAC541-7B7A-43D3-8B79-37D633B846F1}">
                  <asvg:svgBlip xmlns:asvg="http://schemas.microsoft.com/office/drawing/2016/SVG/main" r:embed="rId5"/>
                </a:ext>
              </a:extLst>
            </a:blip>
            <a:stretch>
              <a:fillRect l="-19741" t="0" r="-20054" b="-41360"/>
            </a:stretch>
          </a:blipFill>
        </p:spPr>
      </p:sp>
      <p:grpSp>
        <p:nvGrpSpPr>
          <p:cNvPr name="Group 10" id="10"/>
          <p:cNvGrpSpPr/>
          <p:nvPr/>
        </p:nvGrpSpPr>
        <p:grpSpPr>
          <a:xfrm rot="0">
            <a:off x="4484617" y="2496534"/>
            <a:ext cx="4253476" cy="853778"/>
            <a:chOff x="0" y="0"/>
            <a:chExt cx="4049325" cy="812800"/>
          </a:xfrm>
        </p:grpSpPr>
        <p:sp>
          <p:nvSpPr>
            <p:cNvPr name="Freeform 11" id="11"/>
            <p:cNvSpPr/>
            <p:nvPr/>
          </p:nvSpPr>
          <p:spPr>
            <a:xfrm flipH="false" flipV="false" rot="0">
              <a:off x="0" y="0"/>
              <a:ext cx="4049325" cy="812800"/>
            </a:xfrm>
            <a:custGeom>
              <a:avLst/>
              <a:gdLst/>
              <a:ahLst/>
              <a:cxnLst/>
              <a:rect r="r" b="b" t="t" l="l"/>
              <a:pathLst>
                <a:path h="812800" w="4049325">
                  <a:moveTo>
                    <a:pt x="4049325" y="0"/>
                  </a:moveTo>
                  <a:lnTo>
                    <a:pt x="0" y="0"/>
                  </a:lnTo>
                  <a:lnTo>
                    <a:pt x="0" y="624840"/>
                  </a:lnTo>
                  <a:lnTo>
                    <a:pt x="157480" y="624840"/>
                  </a:lnTo>
                  <a:lnTo>
                    <a:pt x="157480" y="812800"/>
                  </a:lnTo>
                  <a:lnTo>
                    <a:pt x="463550" y="624840"/>
                  </a:lnTo>
                  <a:lnTo>
                    <a:pt x="4049325" y="624840"/>
                  </a:lnTo>
                  <a:lnTo>
                    <a:pt x="4049325" y="0"/>
                  </a:lnTo>
                  <a:close/>
                </a:path>
              </a:pathLst>
            </a:custGeom>
            <a:solidFill>
              <a:srgbClr val="FF0000"/>
            </a:solidFill>
          </p:spPr>
        </p:sp>
        <p:sp>
          <p:nvSpPr>
            <p:cNvPr name="TextBox 12" id="12"/>
            <p:cNvSpPr txBox="true"/>
            <p:nvPr/>
          </p:nvSpPr>
          <p:spPr>
            <a:xfrm>
              <a:off x="0" y="-47625"/>
              <a:ext cx="4049325" cy="669925"/>
            </a:xfrm>
            <a:prstGeom prst="rect">
              <a:avLst/>
            </a:prstGeom>
          </p:spPr>
          <p:txBody>
            <a:bodyPr anchor="ctr" rtlCol="false" tIns="50800" lIns="50800" bIns="50800" rIns="50800"/>
            <a:lstStyle/>
            <a:p>
              <a:pPr algn="ctr" marL="0" indent="0" lvl="0">
                <a:lnSpc>
                  <a:spcPts val="2520"/>
                </a:lnSpc>
                <a:spcBef>
                  <a:spcPct val="0"/>
                </a:spcBef>
              </a:pPr>
              <a:r>
                <a:rPr lang="en-US" b="true" sz="1800">
                  <a:solidFill>
                    <a:srgbClr val="FFFFFF"/>
                  </a:solidFill>
                  <a:latin typeface="TT Hoves Bold"/>
                  <a:ea typeface="TT Hoves Bold"/>
                  <a:cs typeface="TT Hoves Bold"/>
                  <a:sym typeface="TT Hoves Bold"/>
                </a:rPr>
                <a:t>Ứng dụng trí tuệ nhân tạo</a:t>
              </a:r>
            </a:p>
          </p:txBody>
        </p:sp>
      </p:grpSp>
      <p:grpSp>
        <p:nvGrpSpPr>
          <p:cNvPr name="Group 13" id="13"/>
          <p:cNvGrpSpPr/>
          <p:nvPr/>
        </p:nvGrpSpPr>
        <p:grpSpPr>
          <a:xfrm rot="0">
            <a:off x="5315857" y="3879110"/>
            <a:ext cx="4458092" cy="853778"/>
            <a:chOff x="0" y="0"/>
            <a:chExt cx="4244120" cy="812800"/>
          </a:xfrm>
        </p:grpSpPr>
        <p:sp>
          <p:nvSpPr>
            <p:cNvPr name="Freeform 14" id="14"/>
            <p:cNvSpPr/>
            <p:nvPr/>
          </p:nvSpPr>
          <p:spPr>
            <a:xfrm flipH="false" flipV="false" rot="0">
              <a:off x="0" y="0"/>
              <a:ext cx="4244120" cy="812800"/>
            </a:xfrm>
            <a:custGeom>
              <a:avLst/>
              <a:gdLst/>
              <a:ahLst/>
              <a:cxnLst/>
              <a:rect r="r" b="b" t="t" l="l"/>
              <a:pathLst>
                <a:path h="812800" w="4244120">
                  <a:moveTo>
                    <a:pt x="4244120" y="0"/>
                  </a:moveTo>
                  <a:lnTo>
                    <a:pt x="0" y="0"/>
                  </a:lnTo>
                  <a:lnTo>
                    <a:pt x="0" y="624840"/>
                  </a:lnTo>
                  <a:lnTo>
                    <a:pt x="157480" y="624840"/>
                  </a:lnTo>
                  <a:lnTo>
                    <a:pt x="157480" y="812800"/>
                  </a:lnTo>
                  <a:lnTo>
                    <a:pt x="463550" y="624840"/>
                  </a:lnTo>
                  <a:lnTo>
                    <a:pt x="4244120" y="624840"/>
                  </a:lnTo>
                  <a:lnTo>
                    <a:pt x="4244120" y="0"/>
                  </a:lnTo>
                  <a:close/>
                </a:path>
              </a:pathLst>
            </a:custGeom>
            <a:solidFill>
              <a:srgbClr val="FFC400"/>
            </a:solidFill>
          </p:spPr>
        </p:sp>
        <p:sp>
          <p:nvSpPr>
            <p:cNvPr name="TextBox 15" id="15"/>
            <p:cNvSpPr txBox="true"/>
            <p:nvPr/>
          </p:nvSpPr>
          <p:spPr>
            <a:xfrm>
              <a:off x="0" y="-47625"/>
              <a:ext cx="4244120" cy="669925"/>
            </a:xfrm>
            <a:prstGeom prst="rect">
              <a:avLst/>
            </a:prstGeom>
          </p:spPr>
          <p:txBody>
            <a:bodyPr anchor="ctr" rtlCol="false" tIns="50800" lIns="50800" bIns="50800" rIns="50800"/>
            <a:lstStyle/>
            <a:p>
              <a:pPr algn="ctr" marL="0" indent="0" lvl="0">
                <a:lnSpc>
                  <a:spcPts val="2520"/>
                </a:lnSpc>
                <a:spcBef>
                  <a:spcPct val="0"/>
                </a:spcBef>
              </a:pPr>
              <a:r>
                <a:rPr lang="en-US" b="true" sz="1800">
                  <a:solidFill>
                    <a:srgbClr val="000000"/>
                  </a:solidFill>
                  <a:latin typeface="TT Hoves Bold"/>
                  <a:ea typeface="TT Hoves Bold"/>
                  <a:cs typeface="TT Hoves Bold"/>
                  <a:sym typeface="TT Hoves Bold"/>
                </a:rPr>
                <a:t>Nâng cấp hệ thống thương mại điện tử</a:t>
              </a:r>
            </a:p>
          </p:txBody>
        </p:sp>
      </p:grpSp>
      <p:grpSp>
        <p:nvGrpSpPr>
          <p:cNvPr name="Group 16" id="16"/>
          <p:cNvGrpSpPr/>
          <p:nvPr/>
        </p:nvGrpSpPr>
        <p:grpSpPr>
          <a:xfrm rot="0">
            <a:off x="6116555" y="5255548"/>
            <a:ext cx="4728258" cy="853778"/>
            <a:chOff x="0" y="0"/>
            <a:chExt cx="4501320" cy="812800"/>
          </a:xfrm>
        </p:grpSpPr>
        <p:sp>
          <p:nvSpPr>
            <p:cNvPr name="Freeform 17" id="17"/>
            <p:cNvSpPr/>
            <p:nvPr/>
          </p:nvSpPr>
          <p:spPr>
            <a:xfrm flipH="false" flipV="false" rot="0">
              <a:off x="0" y="0"/>
              <a:ext cx="4501319" cy="812800"/>
            </a:xfrm>
            <a:custGeom>
              <a:avLst/>
              <a:gdLst/>
              <a:ahLst/>
              <a:cxnLst/>
              <a:rect r="r" b="b" t="t" l="l"/>
              <a:pathLst>
                <a:path h="812800" w="4501319">
                  <a:moveTo>
                    <a:pt x="4501319" y="0"/>
                  </a:moveTo>
                  <a:lnTo>
                    <a:pt x="0" y="0"/>
                  </a:lnTo>
                  <a:lnTo>
                    <a:pt x="0" y="624840"/>
                  </a:lnTo>
                  <a:lnTo>
                    <a:pt x="157480" y="624840"/>
                  </a:lnTo>
                  <a:lnTo>
                    <a:pt x="157480" y="812800"/>
                  </a:lnTo>
                  <a:lnTo>
                    <a:pt x="463550" y="624840"/>
                  </a:lnTo>
                  <a:lnTo>
                    <a:pt x="4501319" y="624840"/>
                  </a:lnTo>
                  <a:lnTo>
                    <a:pt x="4501319" y="0"/>
                  </a:lnTo>
                  <a:close/>
                </a:path>
              </a:pathLst>
            </a:custGeom>
            <a:solidFill>
              <a:srgbClr val="00D3D3"/>
            </a:solidFill>
          </p:spPr>
        </p:sp>
        <p:sp>
          <p:nvSpPr>
            <p:cNvPr name="TextBox 18" id="18"/>
            <p:cNvSpPr txBox="true"/>
            <p:nvPr/>
          </p:nvSpPr>
          <p:spPr>
            <a:xfrm>
              <a:off x="0" y="-47625"/>
              <a:ext cx="4501320" cy="669925"/>
            </a:xfrm>
            <a:prstGeom prst="rect">
              <a:avLst/>
            </a:prstGeom>
          </p:spPr>
          <p:txBody>
            <a:bodyPr anchor="ctr" rtlCol="false" tIns="50800" lIns="50800" bIns="50800" rIns="50800"/>
            <a:lstStyle/>
            <a:p>
              <a:pPr algn="ctr" marL="0" indent="0" lvl="0">
                <a:lnSpc>
                  <a:spcPts val="2520"/>
                </a:lnSpc>
                <a:spcBef>
                  <a:spcPct val="0"/>
                </a:spcBef>
              </a:pPr>
              <a:r>
                <a:rPr lang="en-US" b="true" sz="1800">
                  <a:solidFill>
                    <a:srgbClr val="000000"/>
                  </a:solidFill>
                  <a:latin typeface="TT Hoves Bold"/>
                  <a:ea typeface="TT Hoves Bold"/>
                  <a:cs typeface="TT Hoves Bold"/>
                  <a:sym typeface="TT Hoves Bold"/>
                </a:rPr>
                <a:t>Phát triển báo cáo tư vấn chuyên sâu</a:t>
              </a:r>
            </a:p>
          </p:txBody>
        </p:sp>
      </p:grpSp>
      <p:grpSp>
        <p:nvGrpSpPr>
          <p:cNvPr name="Group 19" id="19"/>
          <p:cNvGrpSpPr/>
          <p:nvPr/>
        </p:nvGrpSpPr>
        <p:grpSpPr>
          <a:xfrm rot="0">
            <a:off x="6883047" y="6629262"/>
            <a:ext cx="4332606" cy="855637"/>
            <a:chOff x="0" y="0"/>
            <a:chExt cx="4124658" cy="814570"/>
          </a:xfrm>
        </p:grpSpPr>
        <p:sp>
          <p:nvSpPr>
            <p:cNvPr name="Freeform 20" id="20"/>
            <p:cNvSpPr/>
            <p:nvPr/>
          </p:nvSpPr>
          <p:spPr>
            <a:xfrm flipH="false" flipV="false" rot="0">
              <a:off x="0" y="0"/>
              <a:ext cx="4124658" cy="814570"/>
            </a:xfrm>
            <a:custGeom>
              <a:avLst/>
              <a:gdLst/>
              <a:ahLst/>
              <a:cxnLst/>
              <a:rect r="r" b="b" t="t" l="l"/>
              <a:pathLst>
                <a:path h="814570" w="4124658">
                  <a:moveTo>
                    <a:pt x="4124658" y="0"/>
                  </a:moveTo>
                  <a:lnTo>
                    <a:pt x="0" y="0"/>
                  </a:lnTo>
                  <a:lnTo>
                    <a:pt x="0" y="626610"/>
                  </a:lnTo>
                  <a:lnTo>
                    <a:pt x="157480" y="626610"/>
                  </a:lnTo>
                  <a:lnTo>
                    <a:pt x="157480" y="814570"/>
                  </a:lnTo>
                  <a:lnTo>
                    <a:pt x="463550" y="626610"/>
                  </a:lnTo>
                  <a:lnTo>
                    <a:pt x="4124658" y="626610"/>
                  </a:lnTo>
                  <a:lnTo>
                    <a:pt x="4124658" y="0"/>
                  </a:lnTo>
                  <a:close/>
                </a:path>
              </a:pathLst>
            </a:custGeom>
            <a:solidFill>
              <a:srgbClr val="00BBD2"/>
            </a:solidFill>
          </p:spPr>
        </p:sp>
        <p:sp>
          <p:nvSpPr>
            <p:cNvPr name="TextBox 21" id="21"/>
            <p:cNvSpPr txBox="true"/>
            <p:nvPr/>
          </p:nvSpPr>
          <p:spPr>
            <a:xfrm>
              <a:off x="0" y="-47625"/>
              <a:ext cx="4124658" cy="671695"/>
            </a:xfrm>
            <a:prstGeom prst="rect">
              <a:avLst/>
            </a:prstGeom>
          </p:spPr>
          <p:txBody>
            <a:bodyPr anchor="ctr" rtlCol="false" tIns="50800" lIns="50800" bIns="50800" rIns="50800"/>
            <a:lstStyle/>
            <a:p>
              <a:pPr algn="ctr" marL="0" indent="0" lvl="0">
                <a:lnSpc>
                  <a:spcPts val="2520"/>
                </a:lnSpc>
                <a:spcBef>
                  <a:spcPct val="0"/>
                </a:spcBef>
              </a:pPr>
              <a:r>
                <a:rPr lang="en-US" b="true" sz="1800">
                  <a:solidFill>
                    <a:srgbClr val="000000"/>
                  </a:solidFill>
                  <a:latin typeface="TT Hoves Bold"/>
                  <a:ea typeface="TT Hoves Bold"/>
                  <a:cs typeface="TT Hoves Bold"/>
                  <a:sym typeface="TT Hoves Bold"/>
                </a:rPr>
                <a:t>Phát triển tư vấn phong thủy tổng hợp</a:t>
              </a:r>
            </a:p>
          </p:txBody>
        </p:sp>
      </p:grpSp>
      <p:grpSp>
        <p:nvGrpSpPr>
          <p:cNvPr name="Group 22" id="22"/>
          <p:cNvGrpSpPr/>
          <p:nvPr/>
        </p:nvGrpSpPr>
        <p:grpSpPr>
          <a:xfrm rot="0">
            <a:off x="7652111" y="7900950"/>
            <a:ext cx="4190172" cy="855637"/>
            <a:chOff x="0" y="0"/>
            <a:chExt cx="3989059" cy="814570"/>
          </a:xfrm>
        </p:grpSpPr>
        <p:sp>
          <p:nvSpPr>
            <p:cNvPr name="Freeform 23" id="23"/>
            <p:cNvSpPr/>
            <p:nvPr/>
          </p:nvSpPr>
          <p:spPr>
            <a:xfrm flipH="false" flipV="false" rot="0">
              <a:off x="0" y="0"/>
              <a:ext cx="3989059" cy="814570"/>
            </a:xfrm>
            <a:custGeom>
              <a:avLst/>
              <a:gdLst/>
              <a:ahLst/>
              <a:cxnLst/>
              <a:rect r="r" b="b" t="t" l="l"/>
              <a:pathLst>
                <a:path h="814570" w="3989059">
                  <a:moveTo>
                    <a:pt x="3989059" y="0"/>
                  </a:moveTo>
                  <a:lnTo>
                    <a:pt x="0" y="0"/>
                  </a:lnTo>
                  <a:lnTo>
                    <a:pt x="0" y="626610"/>
                  </a:lnTo>
                  <a:lnTo>
                    <a:pt x="157480" y="626610"/>
                  </a:lnTo>
                  <a:lnTo>
                    <a:pt x="157480" y="814570"/>
                  </a:lnTo>
                  <a:lnTo>
                    <a:pt x="463550" y="626610"/>
                  </a:lnTo>
                  <a:lnTo>
                    <a:pt x="3989059" y="626610"/>
                  </a:lnTo>
                  <a:lnTo>
                    <a:pt x="3989059" y="0"/>
                  </a:lnTo>
                  <a:close/>
                </a:path>
              </a:pathLst>
            </a:custGeom>
            <a:solidFill>
              <a:srgbClr val="ACFA70"/>
            </a:solidFill>
          </p:spPr>
        </p:sp>
        <p:sp>
          <p:nvSpPr>
            <p:cNvPr name="TextBox 24" id="24"/>
            <p:cNvSpPr txBox="true"/>
            <p:nvPr/>
          </p:nvSpPr>
          <p:spPr>
            <a:xfrm>
              <a:off x="0" y="-47625"/>
              <a:ext cx="3989059" cy="671695"/>
            </a:xfrm>
            <a:prstGeom prst="rect">
              <a:avLst/>
            </a:prstGeom>
          </p:spPr>
          <p:txBody>
            <a:bodyPr anchor="ctr" rtlCol="false" tIns="50800" lIns="50800" bIns="50800" rIns="50800"/>
            <a:lstStyle/>
            <a:p>
              <a:pPr algn="ctr" marL="0" indent="0" lvl="0">
                <a:lnSpc>
                  <a:spcPts val="2520"/>
                </a:lnSpc>
                <a:spcBef>
                  <a:spcPct val="0"/>
                </a:spcBef>
              </a:pPr>
              <a:r>
                <a:rPr lang="en-US" b="true" sz="1800">
                  <a:solidFill>
                    <a:srgbClr val="000000"/>
                  </a:solidFill>
                  <a:latin typeface="TT Hoves Bold"/>
                  <a:ea typeface="TT Hoves Bold"/>
                  <a:cs typeface="TT Hoves Bold"/>
                  <a:sym typeface="TT Hoves Bold"/>
                </a:rPr>
                <a:t>Mở rộng phạm vi dữ liệu phong thủy</a:t>
              </a:r>
            </a:p>
          </p:txBody>
        </p:sp>
      </p:grpSp>
      <p:sp>
        <p:nvSpPr>
          <p:cNvPr name="Freeform 25" id="25"/>
          <p:cNvSpPr/>
          <p:nvPr/>
        </p:nvSpPr>
        <p:spPr>
          <a:xfrm flipH="false" flipV="false" rot="0">
            <a:off x="3441580" y="8184820"/>
            <a:ext cx="802004" cy="664934"/>
          </a:xfrm>
          <a:custGeom>
            <a:avLst/>
            <a:gdLst/>
            <a:ahLst/>
            <a:cxnLst/>
            <a:rect r="r" b="b" t="t" l="l"/>
            <a:pathLst>
              <a:path h="664934" w="802004">
                <a:moveTo>
                  <a:pt x="0" y="0"/>
                </a:moveTo>
                <a:lnTo>
                  <a:pt x="802004" y="0"/>
                </a:lnTo>
                <a:lnTo>
                  <a:pt x="802004" y="664934"/>
                </a:lnTo>
                <a:lnTo>
                  <a:pt x="0" y="66493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3620937" y="3057991"/>
            <a:ext cx="443289" cy="443289"/>
          </a:xfrm>
          <a:custGeom>
            <a:avLst/>
            <a:gdLst/>
            <a:ahLst/>
            <a:cxnLst/>
            <a:rect r="r" b="b" t="t" l="l"/>
            <a:pathLst>
              <a:path h="443289" w="443289">
                <a:moveTo>
                  <a:pt x="0" y="0"/>
                </a:moveTo>
                <a:lnTo>
                  <a:pt x="443290" y="0"/>
                </a:lnTo>
                <a:lnTo>
                  <a:pt x="443290" y="443290"/>
                </a:lnTo>
                <a:lnTo>
                  <a:pt x="0" y="4432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3620887" y="4233378"/>
            <a:ext cx="443390" cy="498701"/>
          </a:xfrm>
          <a:custGeom>
            <a:avLst/>
            <a:gdLst/>
            <a:ahLst/>
            <a:cxnLst/>
            <a:rect r="r" b="b" t="t" l="l"/>
            <a:pathLst>
              <a:path h="498701" w="443390">
                <a:moveTo>
                  <a:pt x="0" y="0"/>
                </a:moveTo>
                <a:lnTo>
                  <a:pt x="443390" y="0"/>
                </a:lnTo>
                <a:lnTo>
                  <a:pt x="443390" y="498700"/>
                </a:lnTo>
                <a:lnTo>
                  <a:pt x="0" y="4987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28" id="28"/>
          <p:cNvSpPr/>
          <p:nvPr/>
        </p:nvSpPr>
        <p:spPr>
          <a:xfrm flipH="false" flipV="false" rot="0">
            <a:off x="3557758" y="5562172"/>
            <a:ext cx="569648" cy="554112"/>
          </a:xfrm>
          <a:custGeom>
            <a:avLst/>
            <a:gdLst/>
            <a:ahLst/>
            <a:cxnLst/>
            <a:rect r="r" b="b" t="t" l="l"/>
            <a:pathLst>
              <a:path h="554112" w="569648">
                <a:moveTo>
                  <a:pt x="0" y="0"/>
                </a:moveTo>
                <a:lnTo>
                  <a:pt x="569648" y="0"/>
                </a:lnTo>
                <a:lnTo>
                  <a:pt x="569648" y="554112"/>
                </a:lnTo>
                <a:lnTo>
                  <a:pt x="0" y="55411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Freeform 29" id="29"/>
          <p:cNvSpPr/>
          <p:nvPr/>
        </p:nvSpPr>
        <p:spPr>
          <a:xfrm flipH="false" flipV="false" rot="0">
            <a:off x="3541699" y="6869558"/>
            <a:ext cx="601765" cy="609523"/>
          </a:xfrm>
          <a:custGeom>
            <a:avLst/>
            <a:gdLst/>
            <a:ahLst/>
            <a:cxnLst/>
            <a:rect r="r" b="b" t="t" l="l"/>
            <a:pathLst>
              <a:path h="609523" w="601765">
                <a:moveTo>
                  <a:pt x="0" y="0"/>
                </a:moveTo>
                <a:lnTo>
                  <a:pt x="601766" y="0"/>
                </a:lnTo>
                <a:lnTo>
                  <a:pt x="601766" y="609523"/>
                </a:lnTo>
                <a:lnTo>
                  <a:pt x="0" y="60952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AutoShape 30" id="30"/>
          <p:cNvSpPr/>
          <p:nvPr/>
        </p:nvSpPr>
        <p:spPr>
          <a:xfrm>
            <a:off x="12183617" y="8725684"/>
            <a:ext cx="5662585" cy="0"/>
          </a:xfrm>
          <a:prstGeom prst="line">
            <a:avLst/>
          </a:prstGeom>
          <a:ln cap="flat" w="57150">
            <a:solidFill>
              <a:srgbClr val="00D3D3"/>
            </a:solidFill>
            <a:prstDash val="sysDash"/>
            <a:headEnd type="none" len="sm" w="sm"/>
            <a:tailEnd type="none" len="sm" w="sm"/>
          </a:ln>
        </p:spPr>
      </p:sp>
      <p:grpSp>
        <p:nvGrpSpPr>
          <p:cNvPr name="Group 31" id="31"/>
          <p:cNvGrpSpPr/>
          <p:nvPr/>
        </p:nvGrpSpPr>
        <p:grpSpPr>
          <a:xfrm rot="0">
            <a:off x="12183617" y="8389440"/>
            <a:ext cx="672488" cy="67248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33" id="33"/>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AutoShape 34" id="34"/>
          <p:cNvSpPr/>
          <p:nvPr/>
        </p:nvSpPr>
        <p:spPr>
          <a:xfrm flipH="true">
            <a:off x="14181759" y="6338783"/>
            <a:ext cx="3048" cy="2050657"/>
          </a:xfrm>
          <a:prstGeom prst="line">
            <a:avLst/>
          </a:prstGeom>
          <a:ln cap="rnd" w="28575">
            <a:solidFill>
              <a:srgbClr val="08B962"/>
            </a:solidFill>
            <a:prstDash val="sysDot"/>
            <a:headEnd type="none" len="sm" w="sm"/>
            <a:tailEnd type="none" len="sm" w="sm"/>
          </a:ln>
        </p:spPr>
      </p:sp>
      <p:sp>
        <p:nvSpPr>
          <p:cNvPr name="AutoShape 35" id="35"/>
          <p:cNvSpPr/>
          <p:nvPr/>
        </p:nvSpPr>
        <p:spPr>
          <a:xfrm>
            <a:off x="15845858" y="4898091"/>
            <a:ext cx="3895" cy="3491348"/>
          </a:xfrm>
          <a:prstGeom prst="line">
            <a:avLst/>
          </a:prstGeom>
          <a:ln cap="rnd" w="28575">
            <a:solidFill>
              <a:srgbClr val="8C52FF"/>
            </a:solidFill>
            <a:prstDash val="sysDot"/>
            <a:headEnd type="none" len="sm" w="sm"/>
            <a:tailEnd type="none" len="sm" w="sm"/>
          </a:ln>
        </p:spPr>
      </p:sp>
      <p:sp>
        <p:nvSpPr>
          <p:cNvPr name="AutoShape 36" id="36"/>
          <p:cNvSpPr/>
          <p:nvPr/>
        </p:nvSpPr>
        <p:spPr>
          <a:xfrm>
            <a:off x="12519860" y="7779475"/>
            <a:ext cx="0" cy="609965"/>
          </a:xfrm>
          <a:prstGeom prst="line">
            <a:avLst/>
          </a:prstGeom>
          <a:ln cap="rnd" w="28575">
            <a:solidFill>
              <a:srgbClr val="FF0000"/>
            </a:solidFill>
            <a:prstDash val="sysDot"/>
            <a:headEnd type="none" len="sm" w="sm"/>
            <a:tailEnd type="none" len="sm" w="sm"/>
          </a:ln>
        </p:spPr>
      </p:sp>
      <p:grpSp>
        <p:nvGrpSpPr>
          <p:cNvPr name="Group 37" id="37"/>
          <p:cNvGrpSpPr/>
          <p:nvPr/>
        </p:nvGrpSpPr>
        <p:grpSpPr>
          <a:xfrm rot="0">
            <a:off x="11799515" y="6338783"/>
            <a:ext cx="1440692" cy="1440692"/>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0000"/>
            </a:solidFill>
          </p:spPr>
        </p:sp>
        <p:sp>
          <p:nvSpPr>
            <p:cNvPr name="TextBox 39" id="39"/>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40" id="40"/>
          <p:cNvGrpSpPr/>
          <p:nvPr/>
        </p:nvGrpSpPr>
        <p:grpSpPr>
          <a:xfrm rot="0">
            <a:off x="13464461" y="4898091"/>
            <a:ext cx="1440692" cy="144069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8B962"/>
            </a:solidFill>
          </p:spPr>
        </p:sp>
        <p:sp>
          <p:nvSpPr>
            <p:cNvPr name="TextBox 42" id="42"/>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43" id="43"/>
          <p:cNvGrpSpPr/>
          <p:nvPr/>
        </p:nvGrpSpPr>
        <p:grpSpPr>
          <a:xfrm rot="0">
            <a:off x="15125512" y="3457400"/>
            <a:ext cx="1440692" cy="144069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sp>
        <p:sp>
          <p:nvSpPr>
            <p:cNvPr name="TextBox 45" id="45"/>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AutoShape 46" id="46"/>
          <p:cNvSpPr/>
          <p:nvPr/>
        </p:nvSpPr>
        <p:spPr>
          <a:xfrm flipH="true">
            <a:off x="17509957" y="3457400"/>
            <a:ext cx="0" cy="4932040"/>
          </a:xfrm>
          <a:prstGeom prst="line">
            <a:avLst/>
          </a:prstGeom>
          <a:ln cap="rnd" w="28575">
            <a:solidFill>
              <a:srgbClr val="FBC318"/>
            </a:solidFill>
            <a:prstDash val="sysDot"/>
            <a:headEnd type="none" len="sm" w="sm"/>
            <a:tailEnd type="none" len="sm" w="sm"/>
          </a:ln>
        </p:spPr>
      </p:sp>
      <p:grpSp>
        <p:nvGrpSpPr>
          <p:cNvPr name="Group 47" id="47"/>
          <p:cNvGrpSpPr/>
          <p:nvPr/>
        </p:nvGrpSpPr>
        <p:grpSpPr>
          <a:xfrm rot="0">
            <a:off x="16789612" y="2016708"/>
            <a:ext cx="1440692" cy="1440692"/>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DA707"/>
            </a:solidFill>
          </p:spPr>
        </p:sp>
        <p:sp>
          <p:nvSpPr>
            <p:cNvPr name="TextBox 49" id="49"/>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0" id="50"/>
          <p:cNvGrpSpPr/>
          <p:nvPr/>
        </p:nvGrpSpPr>
        <p:grpSpPr>
          <a:xfrm rot="0">
            <a:off x="13845515" y="8389440"/>
            <a:ext cx="672488" cy="672488"/>
            <a:chOff x="0" y="0"/>
            <a:chExt cx="812800" cy="812800"/>
          </a:xfrm>
        </p:grpSpPr>
        <p:sp>
          <p:nvSpPr>
            <p:cNvPr name="Freeform 51" id="5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2" id="52"/>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3" id="53"/>
          <p:cNvGrpSpPr/>
          <p:nvPr/>
        </p:nvGrpSpPr>
        <p:grpSpPr>
          <a:xfrm rot="0">
            <a:off x="15513509" y="8389440"/>
            <a:ext cx="672488" cy="672488"/>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5" id="55"/>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grpSp>
        <p:nvGrpSpPr>
          <p:cNvPr name="Group 56" id="56"/>
          <p:cNvGrpSpPr/>
          <p:nvPr/>
        </p:nvGrpSpPr>
        <p:grpSpPr>
          <a:xfrm rot="0">
            <a:off x="17173714" y="8389440"/>
            <a:ext cx="672488" cy="672488"/>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345E4"/>
            </a:solidFill>
          </p:spPr>
        </p:sp>
        <p:sp>
          <p:nvSpPr>
            <p:cNvPr name="TextBox 58" id="58"/>
            <p:cNvSpPr txBox="true"/>
            <p:nvPr/>
          </p:nvSpPr>
          <p:spPr>
            <a:xfrm>
              <a:off x="76200" y="85725"/>
              <a:ext cx="660400" cy="650875"/>
            </a:xfrm>
            <a:prstGeom prst="rect">
              <a:avLst/>
            </a:prstGeom>
          </p:spPr>
          <p:txBody>
            <a:bodyPr anchor="ctr" rtlCol="false" tIns="65220" lIns="65220" bIns="65220" rIns="65220"/>
            <a:lstStyle/>
            <a:p>
              <a:pPr algn="ctr">
                <a:lnSpc>
                  <a:spcPts val="3697"/>
                </a:lnSpc>
              </a:pPr>
            </a:p>
          </p:txBody>
        </p:sp>
      </p:grpSp>
      <p:sp>
        <p:nvSpPr>
          <p:cNvPr name="Freeform 59" id="59"/>
          <p:cNvSpPr/>
          <p:nvPr/>
        </p:nvSpPr>
        <p:spPr>
          <a:xfrm flipH="false" flipV="false" rot="0">
            <a:off x="12330708" y="8502682"/>
            <a:ext cx="378304" cy="420338"/>
          </a:xfrm>
          <a:custGeom>
            <a:avLst/>
            <a:gdLst/>
            <a:ahLst/>
            <a:cxnLst/>
            <a:rect r="r" b="b" t="t" l="l"/>
            <a:pathLst>
              <a:path h="420338" w="378304">
                <a:moveTo>
                  <a:pt x="0" y="0"/>
                </a:moveTo>
                <a:lnTo>
                  <a:pt x="378305" y="0"/>
                </a:lnTo>
                <a:lnTo>
                  <a:pt x="378305" y="420338"/>
                </a:lnTo>
                <a:lnTo>
                  <a:pt x="0" y="42033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0" id="60"/>
          <p:cNvSpPr/>
          <p:nvPr/>
        </p:nvSpPr>
        <p:spPr>
          <a:xfrm flipH="false" flipV="false" rot="0">
            <a:off x="13958305" y="8454395"/>
            <a:ext cx="453004" cy="516913"/>
          </a:xfrm>
          <a:custGeom>
            <a:avLst/>
            <a:gdLst/>
            <a:ahLst/>
            <a:cxnLst/>
            <a:rect r="r" b="b" t="t" l="l"/>
            <a:pathLst>
              <a:path h="516913" w="453004">
                <a:moveTo>
                  <a:pt x="0" y="0"/>
                </a:moveTo>
                <a:lnTo>
                  <a:pt x="453004" y="0"/>
                </a:lnTo>
                <a:lnTo>
                  <a:pt x="453004" y="516912"/>
                </a:lnTo>
                <a:lnTo>
                  <a:pt x="0" y="51691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1" id="61"/>
          <p:cNvSpPr/>
          <p:nvPr/>
        </p:nvSpPr>
        <p:spPr>
          <a:xfrm flipH="false" flipV="false" rot="0">
            <a:off x="15602188" y="8477488"/>
            <a:ext cx="487340" cy="470726"/>
          </a:xfrm>
          <a:custGeom>
            <a:avLst/>
            <a:gdLst/>
            <a:ahLst/>
            <a:cxnLst/>
            <a:rect r="r" b="b" t="t" l="l"/>
            <a:pathLst>
              <a:path h="470726" w="487340">
                <a:moveTo>
                  <a:pt x="0" y="0"/>
                </a:moveTo>
                <a:lnTo>
                  <a:pt x="487340" y="0"/>
                </a:lnTo>
                <a:lnTo>
                  <a:pt x="487340" y="470726"/>
                </a:lnTo>
                <a:lnTo>
                  <a:pt x="0" y="470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2" id="62"/>
          <p:cNvSpPr/>
          <p:nvPr/>
        </p:nvSpPr>
        <p:spPr>
          <a:xfrm flipH="false" flipV="false" rot="0">
            <a:off x="17246175" y="8443743"/>
            <a:ext cx="527564" cy="527564"/>
          </a:xfrm>
          <a:custGeom>
            <a:avLst/>
            <a:gdLst/>
            <a:ahLst/>
            <a:cxnLst/>
            <a:rect r="r" b="b" t="t" l="l"/>
            <a:pathLst>
              <a:path h="527564" w="527564">
                <a:moveTo>
                  <a:pt x="0" y="0"/>
                </a:moveTo>
                <a:lnTo>
                  <a:pt x="527565" y="0"/>
                </a:lnTo>
                <a:lnTo>
                  <a:pt x="527565" y="527564"/>
                </a:lnTo>
                <a:lnTo>
                  <a:pt x="0" y="52756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TextBox 63" id="63"/>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23</a:t>
            </a:r>
          </a:p>
        </p:txBody>
      </p:sp>
      <p:sp>
        <p:nvSpPr>
          <p:cNvPr name="TextBox 64" id="64"/>
          <p:cNvSpPr txBox="true"/>
          <p:nvPr/>
        </p:nvSpPr>
        <p:spPr>
          <a:xfrm rot="0">
            <a:off x="1028700" y="615069"/>
            <a:ext cx="13716404" cy="873127"/>
          </a:xfrm>
          <a:prstGeom prst="rect">
            <a:avLst/>
          </a:prstGeom>
        </p:spPr>
        <p:txBody>
          <a:bodyPr anchor="t" rtlCol="false" tIns="0" lIns="0" bIns="0" rIns="0">
            <a:spAutoFit/>
          </a:bodyPr>
          <a:lstStyle/>
          <a:p>
            <a:pPr algn="l">
              <a:lnSpc>
                <a:spcPts val="7149"/>
              </a:lnSpc>
            </a:pPr>
            <a:r>
              <a:rPr lang="en-US" b="true" sz="4999" spc="399">
                <a:solidFill>
                  <a:srgbClr val="000000"/>
                </a:solidFill>
                <a:latin typeface="Garet Bold"/>
                <a:ea typeface="Garet Bold"/>
                <a:cs typeface="Garet Bold"/>
                <a:sym typeface="Garet Bold"/>
              </a:rPr>
              <a:t>5. KẾT LUẬN VÀ HƯỚNG PHÁT TRIỂN</a:t>
            </a:r>
          </a:p>
        </p:txBody>
      </p:sp>
      <p:sp>
        <p:nvSpPr>
          <p:cNvPr name="TextBox 65" id="65"/>
          <p:cNvSpPr txBox="true"/>
          <p:nvPr/>
        </p:nvSpPr>
        <p:spPr>
          <a:xfrm rot="0">
            <a:off x="1129728" y="1634791"/>
            <a:ext cx="12979626" cy="687634"/>
          </a:xfrm>
          <a:prstGeom prst="rect">
            <a:avLst/>
          </a:prstGeom>
        </p:spPr>
        <p:txBody>
          <a:bodyPr anchor="t" rtlCol="false" tIns="0" lIns="0" bIns="0" rIns="0">
            <a:spAutoFit/>
          </a:bodyPr>
          <a:lstStyle/>
          <a:p>
            <a:pPr algn="l">
              <a:lnSpc>
                <a:spcPts val="5673"/>
              </a:lnSpc>
            </a:pPr>
            <a:r>
              <a:rPr lang="en-US" sz="4052" b="true">
                <a:solidFill>
                  <a:srgbClr val="0345E4"/>
                </a:solidFill>
                <a:latin typeface="Garet Bold"/>
                <a:ea typeface="Garet Bold"/>
                <a:cs typeface="Garet Bold"/>
                <a:sym typeface="Garet Bold"/>
              </a:rPr>
              <a:t>5.2 – Hướng phát triển</a:t>
            </a:r>
          </a:p>
        </p:txBody>
      </p:sp>
      <p:sp>
        <p:nvSpPr>
          <p:cNvPr name="TextBox 66" id="66"/>
          <p:cNvSpPr txBox="true"/>
          <p:nvPr/>
        </p:nvSpPr>
        <p:spPr>
          <a:xfrm rot="0">
            <a:off x="11906692" y="6667220"/>
            <a:ext cx="1297716" cy="718297"/>
          </a:xfrm>
          <a:prstGeom prst="rect">
            <a:avLst/>
          </a:prstGeom>
        </p:spPr>
        <p:txBody>
          <a:bodyPr anchor="t" rtlCol="false" tIns="0" lIns="0" bIns="0" rIns="0">
            <a:spAutoFit/>
          </a:bodyPr>
          <a:lstStyle/>
          <a:p>
            <a:pPr algn="ctr">
              <a:lnSpc>
                <a:spcPts val="1987"/>
              </a:lnSpc>
            </a:pPr>
            <a:r>
              <a:rPr lang="en-US" b="true" sz="1219" spc="219">
                <a:solidFill>
                  <a:srgbClr val="FFFFFF"/>
                </a:solidFill>
                <a:latin typeface="Open Sans Bold"/>
                <a:ea typeface="Open Sans Bold"/>
                <a:cs typeface="Open Sans Bold"/>
                <a:sym typeface="Open Sans Bold"/>
              </a:rPr>
              <a:t>Tư vấn đa yếu tố chính xác hơn</a:t>
            </a:r>
          </a:p>
        </p:txBody>
      </p:sp>
      <p:sp>
        <p:nvSpPr>
          <p:cNvPr name="TextBox 67" id="67"/>
          <p:cNvSpPr txBox="true"/>
          <p:nvPr/>
        </p:nvSpPr>
        <p:spPr>
          <a:xfrm rot="0">
            <a:off x="13633510" y="5093973"/>
            <a:ext cx="1096497" cy="967224"/>
          </a:xfrm>
          <a:prstGeom prst="rect">
            <a:avLst/>
          </a:prstGeom>
        </p:spPr>
        <p:txBody>
          <a:bodyPr anchor="t" rtlCol="false" tIns="0" lIns="0" bIns="0" rIns="0">
            <a:spAutoFit/>
          </a:bodyPr>
          <a:lstStyle/>
          <a:p>
            <a:pPr algn="ctr">
              <a:lnSpc>
                <a:spcPts val="1987"/>
              </a:lnSpc>
            </a:pPr>
            <a:r>
              <a:rPr lang="en-US" b="true" sz="1219" spc="219">
                <a:solidFill>
                  <a:srgbClr val="FFFFFF"/>
                </a:solidFill>
                <a:latin typeface="Open Sans Bold"/>
                <a:ea typeface="Open Sans Bold"/>
                <a:cs typeface="Open Sans Bold"/>
                <a:sym typeface="Open Sans Bold"/>
              </a:rPr>
              <a:t>Báo cáo chuyên sâu có giá trị lâu dài</a:t>
            </a:r>
          </a:p>
        </p:txBody>
      </p:sp>
      <p:sp>
        <p:nvSpPr>
          <p:cNvPr name="TextBox 68" id="68"/>
          <p:cNvSpPr txBox="true"/>
          <p:nvPr/>
        </p:nvSpPr>
        <p:spPr>
          <a:xfrm rot="0">
            <a:off x="15287273" y="3605907"/>
            <a:ext cx="1117170" cy="1216151"/>
          </a:xfrm>
          <a:prstGeom prst="rect">
            <a:avLst/>
          </a:prstGeom>
        </p:spPr>
        <p:txBody>
          <a:bodyPr anchor="t" rtlCol="false" tIns="0" lIns="0" bIns="0" rIns="0">
            <a:spAutoFit/>
          </a:bodyPr>
          <a:lstStyle/>
          <a:p>
            <a:pPr algn="ctr">
              <a:lnSpc>
                <a:spcPts val="1987"/>
              </a:lnSpc>
            </a:pPr>
            <a:r>
              <a:rPr lang="en-US" b="true" sz="1219" spc="219">
                <a:solidFill>
                  <a:srgbClr val="FFFFFF"/>
                </a:solidFill>
                <a:latin typeface="Open Sans Bold"/>
                <a:ea typeface="Open Sans Bold"/>
                <a:cs typeface="Open Sans Bold"/>
                <a:sym typeface="Open Sans Bold"/>
              </a:rPr>
              <a:t>Quy trình tư vấn, đề xuất, mua sắm liền mạch</a:t>
            </a:r>
          </a:p>
        </p:txBody>
      </p:sp>
      <p:sp>
        <p:nvSpPr>
          <p:cNvPr name="TextBox 69" id="69"/>
          <p:cNvSpPr txBox="true"/>
          <p:nvPr/>
        </p:nvSpPr>
        <p:spPr>
          <a:xfrm rot="0">
            <a:off x="16920617" y="2285079"/>
            <a:ext cx="1178682" cy="967224"/>
          </a:xfrm>
          <a:prstGeom prst="rect">
            <a:avLst/>
          </a:prstGeom>
        </p:spPr>
        <p:txBody>
          <a:bodyPr anchor="t" rtlCol="false" tIns="0" lIns="0" bIns="0" rIns="0">
            <a:spAutoFit/>
          </a:bodyPr>
          <a:lstStyle/>
          <a:p>
            <a:pPr algn="ctr">
              <a:lnSpc>
                <a:spcPts val="1987"/>
              </a:lnSpc>
            </a:pPr>
            <a:r>
              <a:rPr lang="en-US" b="true" sz="1219" spc="219">
                <a:solidFill>
                  <a:srgbClr val="FFFFFF"/>
                </a:solidFill>
                <a:latin typeface="Open Sans Bold"/>
                <a:ea typeface="Open Sans Bold"/>
                <a:cs typeface="Open Sans Bold"/>
                <a:sym typeface="Open Sans Bold"/>
              </a:rPr>
              <a:t>Tự động hóa các quá trình tư vấn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62065">
            <a:off x="-2708658" y="4484182"/>
            <a:ext cx="14270748" cy="5838033"/>
          </a:xfrm>
          <a:custGeom>
            <a:avLst/>
            <a:gdLst/>
            <a:ahLst/>
            <a:cxnLst/>
            <a:rect r="r" b="b" t="t" l="l"/>
            <a:pathLst>
              <a:path h="5838033" w="14270748">
                <a:moveTo>
                  <a:pt x="0" y="0"/>
                </a:moveTo>
                <a:lnTo>
                  <a:pt x="14270748" y="0"/>
                </a:lnTo>
                <a:lnTo>
                  <a:pt x="14270748" y="5838033"/>
                </a:lnTo>
                <a:lnTo>
                  <a:pt x="0" y="58380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649" y="9248775"/>
            <a:ext cx="16891302" cy="19050"/>
            <a:chOff x="0" y="0"/>
            <a:chExt cx="22521736" cy="25400"/>
          </a:xfrm>
        </p:grpSpPr>
        <p:sp>
          <p:nvSpPr>
            <p:cNvPr name="Freeform 4" id="4"/>
            <p:cNvSpPr/>
            <p:nvPr/>
          </p:nvSpPr>
          <p:spPr>
            <a:xfrm flipH="false" flipV="false" rot="0">
              <a:off x="0" y="0"/>
              <a:ext cx="22521799" cy="25400"/>
            </a:xfrm>
            <a:custGeom>
              <a:avLst/>
              <a:gdLst/>
              <a:ahLst/>
              <a:cxnLst/>
              <a:rect r="r" b="b" t="t" l="l"/>
              <a:pathLst>
                <a:path h="25400" w="22521799">
                  <a:moveTo>
                    <a:pt x="12700" y="0"/>
                  </a:moveTo>
                  <a:lnTo>
                    <a:pt x="22509099" y="0"/>
                  </a:lnTo>
                  <a:cubicBezTo>
                    <a:pt x="22516085" y="0"/>
                    <a:pt x="22521799" y="5715"/>
                    <a:pt x="22521799" y="12700"/>
                  </a:cubicBezTo>
                  <a:cubicBezTo>
                    <a:pt x="22521799" y="19685"/>
                    <a:pt x="22516085" y="25400"/>
                    <a:pt x="22509099" y="2540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grpSp>
        <p:nvGrpSpPr>
          <p:cNvPr name="Group 5" id="5"/>
          <p:cNvGrpSpPr/>
          <p:nvPr/>
        </p:nvGrpSpPr>
        <p:grpSpPr>
          <a:xfrm rot="0">
            <a:off x="1019185" y="1014412"/>
            <a:ext cx="14681892" cy="23812"/>
            <a:chOff x="0" y="0"/>
            <a:chExt cx="19575856" cy="31750"/>
          </a:xfrm>
        </p:grpSpPr>
        <p:sp>
          <p:nvSpPr>
            <p:cNvPr name="Freeform 6" id="6"/>
            <p:cNvSpPr/>
            <p:nvPr/>
          </p:nvSpPr>
          <p:spPr>
            <a:xfrm flipH="false" flipV="false" rot="0">
              <a:off x="0" y="0"/>
              <a:ext cx="19575907" cy="31750"/>
            </a:xfrm>
            <a:custGeom>
              <a:avLst/>
              <a:gdLst/>
              <a:ahLst/>
              <a:cxnLst/>
              <a:rect r="r" b="b" t="t" l="l"/>
              <a:pathLst>
                <a:path h="31750" w="19575907">
                  <a:moveTo>
                    <a:pt x="12700" y="0"/>
                  </a:moveTo>
                  <a:lnTo>
                    <a:pt x="19563207" y="6350"/>
                  </a:lnTo>
                  <a:cubicBezTo>
                    <a:pt x="19570193" y="6350"/>
                    <a:pt x="19575907" y="12065"/>
                    <a:pt x="19575907" y="19050"/>
                  </a:cubicBezTo>
                  <a:cubicBezTo>
                    <a:pt x="19575907" y="26035"/>
                    <a:pt x="19570193" y="31750"/>
                    <a:pt x="19563207" y="31750"/>
                  </a:cubicBezTo>
                  <a:lnTo>
                    <a:pt x="12700" y="25400"/>
                  </a:lnTo>
                  <a:cubicBezTo>
                    <a:pt x="5715" y="25400"/>
                    <a:pt x="0" y="19685"/>
                    <a:pt x="0" y="12700"/>
                  </a:cubicBezTo>
                  <a:cubicBezTo>
                    <a:pt x="0" y="5715"/>
                    <a:pt x="5715" y="0"/>
                    <a:pt x="12700" y="0"/>
                  </a:cubicBezTo>
                  <a:close/>
                </a:path>
              </a:pathLst>
            </a:custGeom>
            <a:solidFill>
              <a:srgbClr val="0345E4"/>
            </a:solidFill>
            <a:ln w="12700">
              <a:solidFill>
                <a:srgbClr val="000000"/>
              </a:solidFill>
            </a:ln>
          </p:spPr>
        </p:sp>
      </p:grpSp>
      <p:sp>
        <p:nvSpPr>
          <p:cNvPr name="TextBox 7" id="7"/>
          <p:cNvSpPr txBox="true"/>
          <p:nvPr/>
        </p:nvSpPr>
        <p:spPr>
          <a:xfrm rot="0">
            <a:off x="763324" y="9360113"/>
            <a:ext cx="15292090" cy="314325"/>
          </a:xfrm>
          <a:prstGeom prst="rect">
            <a:avLst/>
          </a:prstGeom>
        </p:spPr>
        <p:txBody>
          <a:bodyPr anchor="t" rtlCol="false" tIns="0" lIns="0" bIns="0" rIns="0">
            <a:spAutoFit/>
          </a:bodyPr>
          <a:lstStyle/>
          <a:p>
            <a:pPr algn="l">
              <a:lnSpc>
                <a:spcPts val="2400"/>
              </a:lnSpc>
            </a:pPr>
            <a:r>
              <a:rPr lang="en-US" b="true" sz="2000" spc="55">
                <a:solidFill>
                  <a:srgbClr val="0345E4"/>
                </a:solidFill>
                <a:latin typeface="Arimo Bold"/>
                <a:ea typeface="Arimo Bold"/>
                <a:cs typeface="Arimo Bold"/>
                <a:sym typeface="Arimo Bold"/>
              </a:rPr>
              <a:t>WEBSITE HỖ TRỢ</a:t>
            </a:r>
            <a:r>
              <a:rPr lang="en-US" b="true" sz="2000" spc="55">
                <a:solidFill>
                  <a:srgbClr val="0345E4"/>
                </a:solidFill>
                <a:latin typeface="Arimo Bold"/>
                <a:ea typeface="Arimo Bold"/>
                <a:cs typeface="Arimo Bold"/>
                <a:sym typeface="Arimo Bold"/>
              </a:rPr>
              <a:t> TƯ VẤN PHONG THỦY KIẾN TRÚC AN TRẠCH KẾT HỢP KINH DOANH PHÁP PHẨM KIM CANG THỪA </a:t>
            </a:r>
          </a:p>
        </p:txBody>
      </p:sp>
      <p:sp>
        <p:nvSpPr>
          <p:cNvPr name="TextBox 8" id="8"/>
          <p:cNvSpPr txBox="true"/>
          <p:nvPr/>
        </p:nvSpPr>
        <p:spPr>
          <a:xfrm rot="0">
            <a:off x="17259300" y="9360113"/>
            <a:ext cx="444847" cy="457200"/>
          </a:xfrm>
          <a:prstGeom prst="rect">
            <a:avLst/>
          </a:prstGeom>
        </p:spPr>
        <p:txBody>
          <a:bodyPr anchor="t" rtlCol="false" tIns="0" lIns="0" bIns="0" rIns="0">
            <a:spAutoFit/>
          </a:bodyPr>
          <a:lstStyle/>
          <a:p>
            <a:pPr algn="l">
              <a:lnSpc>
                <a:spcPts val="3599"/>
              </a:lnSpc>
            </a:pPr>
            <a:r>
              <a:rPr lang="en-US" b="true" sz="2999" spc="83">
                <a:solidFill>
                  <a:srgbClr val="0345E4"/>
                </a:solidFill>
                <a:latin typeface="Arimo Bold"/>
                <a:ea typeface="Arimo Bold"/>
                <a:cs typeface="Arimo Bold"/>
                <a:sym typeface="Arimo Bold"/>
              </a:rPr>
              <a:t>24</a:t>
            </a:r>
          </a:p>
        </p:txBody>
      </p:sp>
      <p:sp>
        <p:nvSpPr>
          <p:cNvPr name="TextBox 9" id="9"/>
          <p:cNvSpPr txBox="true"/>
          <p:nvPr/>
        </p:nvSpPr>
        <p:spPr>
          <a:xfrm rot="0">
            <a:off x="3988398" y="3960666"/>
            <a:ext cx="10311204" cy="1556385"/>
          </a:xfrm>
          <a:prstGeom prst="rect">
            <a:avLst/>
          </a:prstGeom>
        </p:spPr>
        <p:txBody>
          <a:bodyPr anchor="t" rtlCol="false" tIns="0" lIns="0" bIns="0" rIns="0">
            <a:spAutoFit/>
          </a:bodyPr>
          <a:lstStyle/>
          <a:p>
            <a:pPr algn="ctr">
              <a:lnSpc>
                <a:spcPts val="12869"/>
              </a:lnSpc>
            </a:pPr>
            <a:r>
              <a:rPr lang="en-US" b="true" sz="9000" spc="719">
                <a:solidFill>
                  <a:srgbClr val="0345E4"/>
                </a:solidFill>
                <a:latin typeface="Garet Bold"/>
                <a:ea typeface="Garet Bold"/>
                <a:cs typeface="Garet Bold"/>
                <a:sym typeface="Garet Bold"/>
              </a:rPr>
              <a:t>5. DEMO ĐỒ ÁN </a:t>
            </a:r>
          </a:p>
        </p:txBody>
      </p:sp>
      <p:sp>
        <p:nvSpPr>
          <p:cNvPr name="Freeform 10" id="10"/>
          <p:cNvSpPr/>
          <p:nvPr/>
        </p:nvSpPr>
        <p:spPr>
          <a:xfrm flipH="false" flipV="false" rot="0">
            <a:off x="7029861" y="-1737274"/>
            <a:ext cx="11919735" cy="4876255"/>
          </a:xfrm>
          <a:custGeom>
            <a:avLst/>
            <a:gdLst/>
            <a:ahLst/>
            <a:cxnLst/>
            <a:rect r="r" b="b" t="t" l="l"/>
            <a:pathLst>
              <a:path h="4876255" w="11919735">
                <a:moveTo>
                  <a:pt x="0" y="0"/>
                </a:moveTo>
                <a:lnTo>
                  <a:pt x="11919734" y="0"/>
                </a:lnTo>
                <a:lnTo>
                  <a:pt x="11919734" y="4876255"/>
                </a:lnTo>
                <a:lnTo>
                  <a:pt x="0" y="487625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0"/>
            <a:ext cx="13016050" cy="5658706"/>
          </a:xfrm>
          <a:custGeom>
            <a:avLst/>
            <a:gdLst/>
            <a:ahLst/>
            <a:cxnLst/>
            <a:rect r="r" b="b" t="t" l="l"/>
            <a:pathLst>
              <a:path h="5658706" w="13016050">
                <a:moveTo>
                  <a:pt x="0" y="0"/>
                </a:moveTo>
                <a:lnTo>
                  <a:pt x="13016050" y="0"/>
                </a:lnTo>
                <a:lnTo>
                  <a:pt x="13016050" y="5658706"/>
                </a:lnTo>
                <a:lnTo>
                  <a:pt x="0" y="5658706"/>
                </a:lnTo>
                <a:lnTo>
                  <a:pt x="0" y="0"/>
                </a:lnTo>
                <a:close/>
              </a:path>
            </a:pathLst>
          </a:custGeom>
          <a:blipFill>
            <a:blip r:embed="rId2"/>
            <a:stretch>
              <a:fillRect l="0" t="-12488" r="0" b="-12488"/>
            </a:stretch>
          </a:blipFill>
        </p:spPr>
      </p:sp>
      <p:sp>
        <p:nvSpPr>
          <p:cNvPr name="Freeform 3" id="3"/>
          <p:cNvSpPr/>
          <p:nvPr/>
        </p:nvSpPr>
        <p:spPr>
          <a:xfrm flipH="false" flipV="false" rot="0">
            <a:off x="6163814" y="4062647"/>
            <a:ext cx="12090923" cy="6625880"/>
          </a:xfrm>
          <a:custGeom>
            <a:avLst/>
            <a:gdLst/>
            <a:ahLst/>
            <a:cxnLst/>
            <a:rect r="r" b="b" t="t" l="l"/>
            <a:pathLst>
              <a:path h="6625880" w="12090923">
                <a:moveTo>
                  <a:pt x="0" y="0"/>
                </a:moveTo>
                <a:lnTo>
                  <a:pt x="12090923" y="0"/>
                </a:lnTo>
                <a:lnTo>
                  <a:pt x="12090923" y="6625880"/>
                </a:lnTo>
                <a:lnTo>
                  <a:pt x="0" y="6625880"/>
                </a:lnTo>
                <a:lnTo>
                  <a:pt x="0" y="0"/>
                </a:lnTo>
                <a:close/>
              </a:path>
            </a:pathLst>
          </a:custGeom>
          <a:blipFill>
            <a:blip r:embed="rId2"/>
            <a:stretch>
              <a:fillRect l="-1730" t="-431" r="0" b="-431"/>
            </a:stretch>
          </a:blipFill>
        </p:spPr>
      </p:sp>
      <p:sp>
        <p:nvSpPr>
          <p:cNvPr name="TextBox 4" id="4"/>
          <p:cNvSpPr txBox="true"/>
          <p:nvPr/>
        </p:nvSpPr>
        <p:spPr>
          <a:xfrm rot="0">
            <a:off x="1028700" y="3843572"/>
            <a:ext cx="16225590" cy="2380781"/>
          </a:xfrm>
          <a:prstGeom prst="rect">
            <a:avLst/>
          </a:prstGeom>
        </p:spPr>
        <p:txBody>
          <a:bodyPr anchor="t" rtlCol="false" tIns="0" lIns="0" bIns="0" rIns="0">
            <a:spAutoFit/>
          </a:bodyPr>
          <a:lstStyle/>
          <a:p>
            <a:pPr algn="ctr">
              <a:lnSpc>
                <a:spcPts val="9682"/>
              </a:lnSpc>
            </a:pPr>
            <a:r>
              <a:rPr lang="en-US" b="true" sz="6128" spc="949">
                <a:solidFill>
                  <a:srgbClr val="004AAD"/>
                </a:solidFill>
                <a:latin typeface="Open Sans Bold"/>
                <a:ea typeface="Open Sans Bold"/>
                <a:cs typeface="Open Sans Bold"/>
                <a:sym typeface="Open Sans Bold"/>
              </a:rPr>
              <a:t>XIN CHÂN THÀNH CẢM ƠN </a:t>
            </a:r>
          </a:p>
          <a:p>
            <a:pPr algn="ctr">
              <a:lnSpc>
                <a:spcPts val="9682"/>
              </a:lnSpc>
            </a:pPr>
            <a:r>
              <a:rPr lang="en-US" b="true" sz="6128" spc="1152">
                <a:solidFill>
                  <a:srgbClr val="004AAD"/>
                </a:solidFill>
                <a:latin typeface="Open Sans Bold"/>
                <a:ea typeface="Open Sans Bold"/>
                <a:cs typeface="Open Sans Bold"/>
                <a:sym typeface="Open Sans Bold"/>
              </a:rPr>
              <a:t>THẦY VÀ CÁC BẠN </a:t>
            </a:r>
            <a:r>
              <a:rPr lang="en-US" b="true" sz="6128" spc="1152">
                <a:solidFill>
                  <a:srgbClr val="004AAD"/>
                </a:solidFill>
                <a:latin typeface="Open Sans Bold"/>
                <a:ea typeface="Open Sans Bold"/>
                <a:cs typeface="Open Sans Bold"/>
                <a:sym typeface="Open Sans Bold"/>
              </a:rPr>
              <a:t>ĐÃ THEO DÕI</a:t>
            </a:r>
          </a:p>
        </p:txBody>
      </p:sp>
      <p:sp>
        <p:nvSpPr>
          <p:cNvPr name="Freeform 5" id="5"/>
          <p:cNvSpPr/>
          <p:nvPr/>
        </p:nvSpPr>
        <p:spPr>
          <a:xfrm flipH="false" flipV="false" rot="0">
            <a:off x="239313" y="8432549"/>
            <a:ext cx="486457" cy="486457"/>
          </a:xfrm>
          <a:custGeom>
            <a:avLst/>
            <a:gdLst/>
            <a:ahLst/>
            <a:cxnLst/>
            <a:rect r="r" b="b" t="t" l="l"/>
            <a:pathLst>
              <a:path h="486457" w="486457">
                <a:moveTo>
                  <a:pt x="0" y="0"/>
                </a:moveTo>
                <a:lnTo>
                  <a:pt x="486458" y="0"/>
                </a:lnTo>
                <a:lnTo>
                  <a:pt x="486458" y="486457"/>
                </a:lnTo>
                <a:lnTo>
                  <a:pt x="0" y="48645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3282482" y="8432549"/>
            <a:ext cx="486457" cy="486457"/>
          </a:xfrm>
          <a:custGeom>
            <a:avLst/>
            <a:gdLst/>
            <a:ahLst/>
            <a:cxnLst/>
            <a:rect r="r" b="b" t="t" l="l"/>
            <a:pathLst>
              <a:path h="486457" w="486457">
                <a:moveTo>
                  <a:pt x="0" y="0"/>
                </a:moveTo>
                <a:lnTo>
                  <a:pt x="486457" y="0"/>
                </a:lnTo>
                <a:lnTo>
                  <a:pt x="486457" y="486457"/>
                </a:lnTo>
                <a:lnTo>
                  <a:pt x="0" y="486457"/>
                </a:lnTo>
                <a:lnTo>
                  <a:pt x="0" y="0"/>
                </a:lnTo>
                <a:close/>
              </a:path>
            </a:pathLst>
          </a:custGeom>
          <a:blipFill>
            <a:blip r:embed="rId5"/>
            <a:stretch>
              <a:fillRect l="0" t="0" r="0" b="0"/>
            </a:stretch>
          </a:blipFill>
        </p:spPr>
      </p:sp>
      <p:sp>
        <p:nvSpPr>
          <p:cNvPr name="TextBox 7" id="7"/>
          <p:cNvSpPr txBox="true"/>
          <p:nvPr/>
        </p:nvSpPr>
        <p:spPr>
          <a:xfrm rot="0">
            <a:off x="855619" y="8551696"/>
            <a:ext cx="2298186" cy="305618"/>
          </a:xfrm>
          <a:prstGeom prst="rect">
            <a:avLst/>
          </a:prstGeom>
        </p:spPr>
        <p:txBody>
          <a:bodyPr anchor="t" rtlCol="false" tIns="0" lIns="0" bIns="0" rIns="0">
            <a:spAutoFit/>
          </a:bodyPr>
          <a:lstStyle/>
          <a:p>
            <a:pPr algn="l">
              <a:lnSpc>
                <a:spcPts val="2293"/>
              </a:lnSpc>
            </a:pPr>
            <a:r>
              <a:rPr lang="en-US" sz="2103">
                <a:solidFill>
                  <a:srgbClr val="004AAD"/>
                </a:solidFill>
                <a:latin typeface="Neue Machina"/>
                <a:ea typeface="Neue Machina"/>
                <a:cs typeface="Neue Machina"/>
                <a:sym typeface="Neue Machina"/>
              </a:rPr>
              <a:t>0365 530 100</a:t>
            </a:r>
          </a:p>
        </p:txBody>
      </p:sp>
      <p:sp>
        <p:nvSpPr>
          <p:cNvPr name="TextBox 8" id="8"/>
          <p:cNvSpPr txBox="true"/>
          <p:nvPr/>
        </p:nvSpPr>
        <p:spPr>
          <a:xfrm rot="0">
            <a:off x="3897617" y="8551696"/>
            <a:ext cx="4570095" cy="305618"/>
          </a:xfrm>
          <a:prstGeom prst="rect">
            <a:avLst/>
          </a:prstGeom>
        </p:spPr>
        <p:txBody>
          <a:bodyPr anchor="t" rtlCol="false" tIns="0" lIns="0" bIns="0" rIns="0">
            <a:spAutoFit/>
          </a:bodyPr>
          <a:lstStyle/>
          <a:p>
            <a:pPr algn="l">
              <a:lnSpc>
                <a:spcPts val="2293"/>
              </a:lnSpc>
            </a:pPr>
            <a:r>
              <a:rPr lang="en-US" sz="2103">
                <a:solidFill>
                  <a:srgbClr val="004AAD"/>
                </a:solidFill>
                <a:latin typeface="Neue Machina"/>
                <a:ea typeface="Neue Machina"/>
                <a:cs typeface="Neue Machina"/>
                <a:sym typeface="Neue Machina"/>
              </a:rPr>
              <a:t>trantrungphuc98021@gmail.com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DAG9O2ZQiJw</dc:identifier>
  <dcterms:modified xsi:type="dcterms:W3CDTF">2011-08-01T06:04:30Z</dcterms:modified>
  <cp:revision>1</cp:revision>
  <dc:title>CN_TP</dc:title>
</cp:coreProperties>
</file>